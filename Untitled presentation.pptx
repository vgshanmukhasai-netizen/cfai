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Inter Light"/>
      <p:regular r:id="rId27"/>
      <p:bold r:id="rId28"/>
      <p:italic r:id="rId29"/>
      <p:boldItalic r:id="rId30"/>
    </p:embeddedFont>
    <p:embeddedFont>
      <p:font typeface="Inter"/>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InterLight-bold.fntdata"/><Relationship Id="rId27" Type="http://schemas.openxmlformats.org/officeDocument/2006/relationships/font" Target="fonts/InterLight-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InterLight-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bold.fntdata"/><Relationship Id="rId30" Type="http://schemas.openxmlformats.org/officeDocument/2006/relationships/font" Target="fonts/InterLight-boldItalic.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Inter-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eb742b67d4_2_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 name="Google Shape;61;g3eb742b67d4_2_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2" name="Google Shape;62;g3eb742b67d4_2_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b742b67d4_2_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 name="Google Shape;74;g3eb742b67d4_2_2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5" name="Google Shape;75;g3eb742b67d4_2_2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b742b67d4_2_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g3eb742b67d4_2_4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3" name="Google Shape;103;g3eb742b67d4_2_4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b742b67d4_2_6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g3eb742b67d4_2_6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8" name="Google Shape;118;g3eb742b67d4_2_6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b742b67d4_2_8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g3eb742b67d4_2_8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4" name="Google Shape;144;g3eb742b67d4_2_8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b742b67d4_2_1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g3eb742b67d4_2_10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0" name="Google Shape;160;g3eb742b67d4_2_10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b742b67d4_2_1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g3eb742b67d4_2_11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6" name="Google Shape;176;g3eb742b67d4_2_11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eb742b67d4_2_1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g3eb742b67d4_2_13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6" name="Google Shape;196;g3eb742b67d4_2_13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b742b67d4_2_1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g3eb742b67d4_2_14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8" name="Google Shape;208;g3eb742b67d4_2_14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eb742b67d4_2_17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g3eb742b67d4_2_176: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6" name="Google Shape;236;g3eb742b67d4_2_176: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b742b67d4_2_19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g3eb742b67d4_2_19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4" name="Google Shape;254;g3eb742b67d4_2_19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eb742b67d4_2_2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g3eb742b67d4_2_22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64" name="Google Shape;264;g3eb742b67d4_2_22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eb742b67d4_2_2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g3eb742b67d4_2_24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92" name="Google Shape;292;g3eb742b67d4_2_24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eb742b67d4_2_30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 name="Google Shape;350;g3eb742b67d4_2_305: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51" name="Google Shape;351;g3eb742b67d4_2_305: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eb742b67d4_2_3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g3eb742b67d4_2_34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90" name="Google Shape;390;g3eb742b67d4_2_34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eb742b67d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eb742b67d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eb742b67d4_2_36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5" name="Google Shape;415;g3eb742b67d4_2_36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16" name="Google Shape;416;g3eb742b67d4_2_36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eb742b67d4_2_3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g3eb742b67d4_2_375: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29" name="Google Shape;429;g3eb742b67d4_2_375: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eb742b67d4_2_3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g3eb742b67d4_2_394: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49" name="Google Shape;449;g3eb742b67d4_2_394: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eb742b67d4_2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g3eb742b67d4_2_440: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51" name="Shape 51"/>
        <p:cNvGrpSpPr/>
        <p:nvPr/>
      </p:nvGrpSpPr>
      <p:grpSpPr>
        <a:xfrm>
          <a:off x="0" y="0"/>
          <a:ext cx="0" cy="0"/>
          <a:chOff x="0" y="0"/>
          <a:chExt cx="0" cy="0"/>
        </a:xfrm>
      </p:grpSpPr>
      <p:sp>
        <p:nvSpPr>
          <p:cNvPr id="52" name="Google Shape;52;p14"/>
          <p:cNvSpPr/>
          <p:nvPr/>
        </p:nvSpPr>
        <p:spPr>
          <a:xfrm>
            <a:off x="0" y="0"/>
            <a:ext cx="9144000" cy="51435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4"/>
          <p:cNvSpPr/>
          <p:nvPr/>
        </p:nvSpPr>
        <p:spPr>
          <a:xfrm>
            <a:off x="0" y="0"/>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 name="Google Shape;54;p14">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55" name="Shape 55"/>
        <p:cNvGrpSpPr/>
        <p:nvPr/>
      </p:nvGrpSpPr>
      <p:grpSpPr>
        <a:xfrm>
          <a:off x="0" y="0"/>
          <a:ext cx="0" cy="0"/>
          <a:chOff x="0" y="0"/>
          <a:chExt cx="0" cy="0"/>
        </a:xfrm>
      </p:grpSpPr>
      <p:sp>
        <p:nvSpPr>
          <p:cNvPr id="56" name="Google Shape;56;p15"/>
          <p:cNvSpPr/>
          <p:nvPr/>
        </p:nvSpPr>
        <p:spPr>
          <a:xfrm>
            <a:off x="0" y="0"/>
            <a:ext cx="9144000" cy="5143500"/>
          </a:xfrm>
          <a:prstGeom prst="rect">
            <a:avLst/>
          </a:prstGeom>
          <a:solidFill>
            <a:srgbClr val="F6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 name="Google Shape;57;p15"/>
          <p:cNvSpPr/>
          <p:nvPr/>
        </p:nvSpPr>
        <p:spPr>
          <a:xfrm>
            <a:off x="0" y="0"/>
            <a:ext cx="9144000" cy="51435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8" name="Google Shape;58;p15">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preencoded.png" id="64" name="Google Shape;64;p16"/>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65" name="Google Shape;65;p16"/>
          <p:cNvSpPr/>
          <p:nvPr/>
        </p:nvSpPr>
        <p:spPr>
          <a:xfrm>
            <a:off x="3925119" y="1047973"/>
            <a:ext cx="4722763" cy="88597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750"/>
              <a:buFont typeface="Inter"/>
              <a:buNone/>
            </a:pPr>
            <a:r>
              <a:rPr b="1" i="0" lang="en" sz="2750" u="none" cap="none" strike="noStrike">
                <a:solidFill>
                  <a:srgbClr val="000000"/>
                </a:solidFill>
                <a:latin typeface="Inter"/>
                <a:ea typeface="Inter"/>
                <a:cs typeface="Inter"/>
                <a:sym typeface="Inter"/>
              </a:rPr>
              <a:t>Heuristic Urban Traffic Flow Optimization</a:t>
            </a:r>
            <a:endParaRPr b="0" i="0" sz="2750" u="none" cap="none" strike="noStrike">
              <a:solidFill>
                <a:schemeClr val="dk1"/>
              </a:solidFill>
              <a:latin typeface="Calibri"/>
              <a:ea typeface="Calibri"/>
              <a:cs typeface="Calibri"/>
              <a:sym typeface="Calibri"/>
            </a:endParaRPr>
          </a:p>
        </p:txBody>
      </p:sp>
      <p:sp>
        <p:nvSpPr>
          <p:cNvPr id="66" name="Google Shape;66;p16"/>
          <p:cNvSpPr/>
          <p:nvPr/>
        </p:nvSpPr>
        <p:spPr>
          <a:xfrm>
            <a:off x="3925119" y="2146548"/>
            <a:ext cx="5179963"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1100"/>
              <a:buFont typeface="Inter"/>
              <a:buNone/>
            </a:pPr>
            <a:r>
              <a:rPr b="0" i="1" lang="en" sz="1100" u="none" cap="none" strike="noStrike">
                <a:solidFill>
                  <a:srgbClr val="272525"/>
                </a:solidFill>
                <a:latin typeface="Inter"/>
                <a:ea typeface="Inter"/>
                <a:cs typeface="Inter"/>
                <a:sym typeface="Inter"/>
              </a:rPr>
              <a:t>A Rule-Based Approach for Dynamic Traffic Signal Control</a:t>
            </a:r>
            <a:endParaRPr b="0" i="0" sz="1100" u="none" cap="none" strike="noStrike">
              <a:solidFill>
                <a:schemeClr val="dk1"/>
              </a:solidFill>
              <a:latin typeface="Calibri"/>
              <a:ea typeface="Calibri"/>
              <a:cs typeface="Calibri"/>
              <a:sym typeface="Calibri"/>
            </a:endParaRPr>
          </a:p>
        </p:txBody>
      </p:sp>
      <p:sp>
        <p:nvSpPr>
          <p:cNvPr id="67" name="Google Shape;67;p16"/>
          <p:cNvSpPr/>
          <p:nvPr/>
        </p:nvSpPr>
        <p:spPr>
          <a:xfrm>
            <a:off x="3925119" y="2568253"/>
            <a:ext cx="4722763" cy="10567"/>
          </a:xfrm>
          <a:prstGeom prst="rect">
            <a:avLst/>
          </a:prstGeom>
          <a:solidFill>
            <a:srgbClr val="272525">
              <a:alpha val="5019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16"/>
          <p:cNvSpPr/>
          <p:nvPr/>
        </p:nvSpPr>
        <p:spPr>
          <a:xfrm>
            <a:off x="3925119" y="2901255"/>
            <a:ext cx="2546019" cy="967458"/>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272525"/>
              </a:buClr>
              <a:buSzPts val="1100"/>
              <a:buFont typeface="Inter"/>
              <a:buNone/>
            </a:pPr>
            <a:r>
              <a:rPr b="1" lang="en" sz="1100">
                <a:solidFill>
                  <a:srgbClr val="272525"/>
                </a:solidFill>
                <a:latin typeface="Inter"/>
                <a:ea typeface="Inter"/>
                <a:cs typeface="Inter"/>
                <a:sym typeface="Inter"/>
              </a:rPr>
              <a:t>Presented By:</a:t>
            </a:r>
            <a:r>
              <a:rPr lang="en" sz="1100">
                <a:solidFill>
                  <a:srgbClr val="272525"/>
                </a:solidFill>
                <a:latin typeface="Inter"/>
                <a:ea typeface="Inter"/>
                <a:cs typeface="Inter"/>
                <a:sym typeface="Inter"/>
              </a:rPr>
              <a:t> </a:t>
            </a:r>
            <a:endParaRPr/>
          </a:p>
          <a:p>
            <a:pPr indent="0" lvl="0" marL="0" marR="0" rtl="0" algn="ctr">
              <a:lnSpc>
                <a:spcPct val="133000"/>
              </a:lnSpc>
              <a:spcBef>
                <a:spcPts val="0"/>
              </a:spcBef>
              <a:spcAft>
                <a:spcPts val="0"/>
              </a:spcAft>
              <a:buClr>
                <a:srgbClr val="272525"/>
              </a:buClr>
              <a:buSzPts val="1100"/>
              <a:buFont typeface="Inter"/>
              <a:buNone/>
            </a:pPr>
            <a:r>
              <a:rPr lang="en" sz="1100">
                <a:solidFill>
                  <a:srgbClr val="272525"/>
                </a:solidFill>
                <a:latin typeface="Inter"/>
                <a:ea typeface="Inter"/>
                <a:cs typeface="Inter"/>
                <a:sym typeface="Inter"/>
              </a:rPr>
              <a:t>V.G Shanmukhasai (2520030341)</a:t>
            </a:r>
            <a:endParaRPr/>
          </a:p>
          <a:p>
            <a:pPr indent="0" lvl="0" marL="0" marR="0" rtl="0" algn="ctr">
              <a:lnSpc>
                <a:spcPct val="133000"/>
              </a:lnSpc>
              <a:spcBef>
                <a:spcPts val="0"/>
              </a:spcBef>
              <a:spcAft>
                <a:spcPts val="0"/>
              </a:spcAft>
              <a:buClr>
                <a:srgbClr val="272525"/>
              </a:buClr>
              <a:buSzPts val="1100"/>
              <a:buFont typeface="Inter"/>
              <a:buNone/>
            </a:pPr>
            <a:r>
              <a:rPr lang="en" sz="1100">
                <a:solidFill>
                  <a:srgbClr val="272525"/>
                </a:solidFill>
                <a:latin typeface="Inter"/>
                <a:ea typeface="Inter"/>
                <a:cs typeface="Inter"/>
                <a:sym typeface="Inter"/>
              </a:rPr>
              <a:t>U.Pranav Varma (2520030351)</a:t>
            </a:r>
            <a:endParaRPr sz="1100">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chemeClr val="dk1"/>
              </a:buClr>
              <a:buSzPts val="1300"/>
              <a:buFont typeface="Calibri"/>
              <a:buNone/>
            </a:pPr>
            <a:r>
              <a:rPr b="1" lang="en" sz="1300">
                <a:solidFill>
                  <a:schemeClr val="dk1"/>
                </a:solidFill>
                <a:latin typeface="Calibri"/>
                <a:ea typeface="Calibri"/>
                <a:cs typeface="Calibri"/>
                <a:sym typeface="Calibri"/>
              </a:rPr>
              <a:t>Dept: </a:t>
            </a:r>
            <a:r>
              <a:rPr lang="en" sz="1300">
                <a:solidFill>
                  <a:schemeClr val="dk1"/>
                </a:solidFill>
                <a:latin typeface="Calibri"/>
                <a:ea typeface="Calibri"/>
                <a:cs typeface="Calibri"/>
                <a:sym typeface="Calibri"/>
              </a:rPr>
              <a:t>CSE</a:t>
            </a:r>
            <a:endParaRPr/>
          </a:p>
        </p:txBody>
      </p:sp>
      <p:sp>
        <p:nvSpPr>
          <p:cNvPr id="69" name="Google Shape;69;p16"/>
          <p:cNvSpPr/>
          <p:nvPr/>
        </p:nvSpPr>
        <p:spPr>
          <a:xfrm>
            <a:off x="6471138" y="2996465"/>
            <a:ext cx="2188443"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1100"/>
              <a:buFont typeface="Inter"/>
              <a:buNone/>
            </a:pPr>
            <a:r>
              <a:rPr b="1" lang="en" sz="1100">
                <a:solidFill>
                  <a:srgbClr val="272525"/>
                </a:solidFill>
                <a:latin typeface="Inter"/>
                <a:ea typeface="Inter"/>
                <a:cs typeface="Inter"/>
                <a:sym typeface="Inter"/>
              </a:rPr>
              <a:t>Guide: Dr. G. Sudhakar</a:t>
            </a:r>
            <a:endParaRPr sz="1100">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272525"/>
              </a:buClr>
              <a:buSzPts val="1100"/>
              <a:buFont typeface="Inter"/>
              <a:buNone/>
            </a:pPr>
            <a:r>
              <a:rPr lang="en" sz="1100">
                <a:solidFill>
                  <a:srgbClr val="272525"/>
                </a:solidFill>
                <a:latin typeface="Inter"/>
                <a:ea typeface="Inter"/>
                <a:cs typeface="Inter"/>
                <a:sym typeface="Inter"/>
              </a:rPr>
              <a:t>Dept. of Computer Science &amp; Engineering</a:t>
            </a:r>
            <a:endParaRPr sz="1100">
              <a:solidFill>
                <a:schemeClr val="dk1"/>
              </a:solidFill>
              <a:latin typeface="Calibri"/>
              <a:ea typeface="Calibri"/>
              <a:cs typeface="Calibri"/>
              <a:sym typeface="Calibri"/>
            </a:endParaRPr>
          </a:p>
        </p:txBody>
      </p:sp>
      <p:sp>
        <p:nvSpPr>
          <p:cNvPr id="70" name="Google Shape;70;p16"/>
          <p:cNvSpPr/>
          <p:nvPr/>
        </p:nvSpPr>
        <p:spPr>
          <a:xfrm>
            <a:off x="3499571" y="4017194"/>
            <a:ext cx="4951363" cy="226814"/>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272525"/>
              </a:buClr>
              <a:buSzPts val="1100"/>
              <a:buFont typeface="Inter"/>
              <a:buNone/>
            </a:pPr>
            <a:r>
              <a:rPr b="1" lang="en" sz="1100">
                <a:solidFill>
                  <a:srgbClr val="272525"/>
                </a:solidFill>
                <a:latin typeface="Inter"/>
                <a:ea typeface="Inter"/>
                <a:cs typeface="Inter"/>
                <a:sym typeface="Inter"/>
              </a:rPr>
              <a:t>KL University  </a:t>
            </a:r>
            <a:r>
              <a:rPr lang="en" sz="1100">
                <a:solidFill>
                  <a:srgbClr val="272525"/>
                </a:solidFill>
                <a:latin typeface="Inter"/>
                <a:ea typeface="Inter"/>
                <a:cs typeface="Inter"/>
                <a:sym typeface="Inter"/>
              </a:rPr>
              <a:t>|  Academic Year: 2025–2026</a:t>
            </a:r>
            <a:endParaRPr sz="1100">
              <a:solidFill>
                <a:schemeClr val="dk1"/>
              </a:solidFill>
              <a:latin typeface="Calibri"/>
              <a:ea typeface="Calibri"/>
              <a:cs typeface="Calibri"/>
              <a:sym typeface="Calibri"/>
            </a:endParaRPr>
          </a:p>
        </p:txBody>
      </p:sp>
      <p:pic>
        <p:nvPicPr>
          <p:cNvPr id="71" name="Google Shape;71;p16"/>
          <p:cNvPicPr preferRelativeResize="0"/>
          <p:nvPr/>
        </p:nvPicPr>
        <p:blipFill rotWithShape="1">
          <a:blip r:embed="rId4">
            <a:alphaModFix/>
          </a:blip>
          <a:srcRect b="0" l="0" r="0" t="0"/>
          <a:stretch/>
        </p:blipFill>
        <p:spPr>
          <a:xfrm>
            <a:off x="5866130" y="4505468"/>
            <a:ext cx="3238952" cy="5715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p:nvPr/>
        </p:nvSpPr>
        <p:spPr>
          <a:xfrm>
            <a:off x="496119" y="523056"/>
            <a:ext cx="4089797"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750"/>
              <a:buFont typeface="Inter"/>
              <a:buNone/>
            </a:pPr>
            <a:r>
              <a:rPr b="1" lang="en" sz="2750">
                <a:solidFill>
                  <a:srgbClr val="000000"/>
                </a:solidFill>
                <a:latin typeface="Inter"/>
                <a:ea typeface="Inter"/>
                <a:cs typeface="Inter"/>
                <a:sym typeface="Inter"/>
              </a:rPr>
              <a:t>Presentation Agenda</a:t>
            </a:r>
            <a:endParaRPr sz="2750">
              <a:solidFill>
                <a:schemeClr val="dk1"/>
              </a:solidFill>
              <a:latin typeface="Calibri"/>
              <a:ea typeface="Calibri"/>
              <a:cs typeface="Calibri"/>
              <a:sym typeface="Calibri"/>
            </a:endParaRPr>
          </a:p>
        </p:txBody>
      </p:sp>
      <p:sp>
        <p:nvSpPr>
          <p:cNvPr id="78" name="Google Shape;78;p17"/>
          <p:cNvSpPr/>
          <p:nvPr/>
        </p:nvSpPr>
        <p:spPr>
          <a:xfrm>
            <a:off x="496119" y="1249561"/>
            <a:ext cx="8151763"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1100"/>
              <a:buFont typeface="Inter"/>
              <a:buNone/>
            </a:pPr>
            <a:r>
              <a:rPr lang="en" sz="1100">
                <a:solidFill>
                  <a:srgbClr val="272525"/>
                </a:solidFill>
                <a:latin typeface="Inter"/>
                <a:ea typeface="Inter"/>
                <a:cs typeface="Inter"/>
                <a:sym typeface="Inter"/>
              </a:rPr>
              <a:t>This presentation covers the full lifecycle of the project — from problem motivation to hardware, software, and a detailed study of existing traffic systems.</a:t>
            </a:r>
            <a:endParaRPr sz="1100">
              <a:solidFill>
                <a:schemeClr val="dk1"/>
              </a:solidFill>
              <a:latin typeface="Calibri"/>
              <a:ea typeface="Calibri"/>
              <a:cs typeface="Calibri"/>
              <a:sym typeface="Calibri"/>
            </a:endParaRPr>
          </a:p>
        </p:txBody>
      </p:sp>
      <p:sp>
        <p:nvSpPr>
          <p:cNvPr id="79" name="Google Shape;79;p17"/>
          <p:cNvSpPr/>
          <p:nvPr/>
        </p:nvSpPr>
        <p:spPr>
          <a:xfrm>
            <a:off x="496119" y="1862658"/>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2525"/>
              </a:buClr>
              <a:buSzPts val="1100"/>
              <a:buFont typeface="Inter Light"/>
              <a:buNone/>
            </a:pPr>
            <a:r>
              <a:rPr lang="en" sz="1100">
                <a:solidFill>
                  <a:srgbClr val="272525"/>
                </a:solidFill>
                <a:latin typeface="Inter Light"/>
                <a:ea typeface="Inter Light"/>
                <a:cs typeface="Inter Light"/>
                <a:sym typeface="Inter Light"/>
              </a:rPr>
              <a:t>01</a:t>
            </a:r>
            <a:endParaRPr sz="1100">
              <a:solidFill>
                <a:schemeClr val="dk1"/>
              </a:solidFill>
              <a:latin typeface="Calibri"/>
              <a:ea typeface="Calibri"/>
              <a:cs typeface="Calibri"/>
              <a:sym typeface="Calibri"/>
            </a:endParaRPr>
          </a:p>
        </p:txBody>
      </p:sp>
      <p:sp>
        <p:nvSpPr>
          <p:cNvPr id="80" name="Google Shape;80;p17"/>
          <p:cNvSpPr/>
          <p:nvPr/>
        </p:nvSpPr>
        <p:spPr>
          <a:xfrm>
            <a:off x="496119" y="2084561"/>
            <a:ext cx="2622724" cy="1905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7"/>
          <p:cNvSpPr/>
          <p:nvPr/>
        </p:nvSpPr>
        <p:spPr>
          <a:xfrm>
            <a:off x="496119" y="2193503"/>
            <a:ext cx="177202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350"/>
              <a:buFont typeface="Inter"/>
              <a:buNone/>
            </a:pPr>
            <a:r>
              <a:rPr b="1" lang="en" sz="1350">
                <a:solidFill>
                  <a:srgbClr val="272525"/>
                </a:solidFill>
                <a:latin typeface="Inter"/>
                <a:ea typeface="Inter"/>
                <a:cs typeface="Inter"/>
                <a:sym typeface="Inter"/>
              </a:rPr>
              <a:t>Title &amp; Team Details</a:t>
            </a:r>
            <a:endParaRPr sz="1350">
              <a:solidFill>
                <a:schemeClr val="dk1"/>
              </a:solidFill>
              <a:latin typeface="Calibri"/>
              <a:ea typeface="Calibri"/>
              <a:cs typeface="Calibri"/>
              <a:sym typeface="Calibri"/>
            </a:endParaRPr>
          </a:p>
        </p:txBody>
      </p:sp>
      <p:sp>
        <p:nvSpPr>
          <p:cNvPr id="82" name="Google Shape;82;p17"/>
          <p:cNvSpPr/>
          <p:nvPr/>
        </p:nvSpPr>
        <p:spPr>
          <a:xfrm>
            <a:off x="496119" y="2500015"/>
            <a:ext cx="2622724"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1100"/>
              <a:buFont typeface="Inter"/>
              <a:buNone/>
            </a:pPr>
            <a:r>
              <a:rPr lang="en" sz="1100">
                <a:solidFill>
                  <a:srgbClr val="272525"/>
                </a:solidFill>
                <a:latin typeface="Inter"/>
                <a:ea typeface="Inter"/>
                <a:cs typeface="Inter"/>
                <a:sym typeface="Inter"/>
              </a:rPr>
              <a:t>Project overview, team composition, and institutional details</a:t>
            </a:r>
            <a:endParaRPr sz="1100">
              <a:solidFill>
                <a:schemeClr val="dk1"/>
              </a:solidFill>
              <a:latin typeface="Calibri"/>
              <a:ea typeface="Calibri"/>
              <a:cs typeface="Calibri"/>
              <a:sym typeface="Calibri"/>
            </a:endParaRPr>
          </a:p>
        </p:txBody>
      </p:sp>
      <p:sp>
        <p:nvSpPr>
          <p:cNvPr id="83" name="Google Shape;83;p17"/>
          <p:cNvSpPr/>
          <p:nvPr/>
        </p:nvSpPr>
        <p:spPr>
          <a:xfrm>
            <a:off x="3260601" y="1862658"/>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2525"/>
              </a:buClr>
              <a:buSzPts val="1100"/>
              <a:buFont typeface="Inter Light"/>
              <a:buNone/>
            </a:pPr>
            <a:r>
              <a:rPr lang="en" sz="1100">
                <a:solidFill>
                  <a:srgbClr val="272525"/>
                </a:solidFill>
                <a:latin typeface="Inter Light"/>
                <a:ea typeface="Inter Light"/>
                <a:cs typeface="Inter Light"/>
                <a:sym typeface="Inter Light"/>
              </a:rPr>
              <a:t>02</a:t>
            </a:r>
            <a:endParaRPr sz="1100">
              <a:solidFill>
                <a:schemeClr val="dk1"/>
              </a:solidFill>
              <a:latin typeface="Calibri"/>
              <a:ea typeface="Calibri"/>
              <a:cs typeface="Calibri"/>
              <a:sym typeface="Calibri"/>
            </a:endParaRPr>
          </a:p>
        </p:txBody>
      </p:sp>
      <p:sp>
        <p:nvSpPr>
          <p:cNvPr id="84" name="Google Shape;84;p17"/>
          <p:cNvSpPr/>
          <p:nvPr/>
        </p:nvSpPr>
        <p:spPr>
          <a:xfrm>
            <a:off x="3260601" y="2084561"/>
            <a:ext cx="2622724" cy="1905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7"/>
          <p:cNvSpPr/>
          <p:nvPr/>
        </p:nvSpPr>
        <p:spPr>
          <a:xfrm>
            <a:off x="3260601" y="2193503"/>
            <a:ext cx="177202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350"/>
              <a:buFont typeface="Inter"/>
              <a:buNone/>
            </a:pPr>
            <a:r>
              <a:rPr b="1" lang="en" sz="1350">
                <a:solidFill>
                  <a:srgbClr val="272525"/>
                </a:solidFill>
                <a:latin typeface="Inter"/>
                <a:ea typeface="Inter"/>
                <a:cs typeface="Inter"/>
                <a:sym typeface="Inter"/>
              </a:rPr>
              <a:t>Abstract &amp; Proposal</a:t>
            </a:r>
            <a:endParaRPr sz="1350">
              <a:solidFill>
                <a:schemeClr val="dk1"/>
              </a:solidFill>
              <a:latin typeface="Calibri"/>
              <a:ea typeface="Calibri"/>
              <a:cs typeface="Calibri"/>
              <a:sym typeface="Calibri"/>
            </a:endParaRPr>
          </a:p>
        </p:txBody>
      </p:sp>
      <p:sp>
        <p:nvSpPr>
          <p:cNvPr id="86" name="Google Shape;86;p17"/>
          <p:cNvSpPr/>
          <p:nvPr/>
        </p:nvSpPr>
        <p:spPr>
          <a:xfrm>
            <a:off x="3260601" y="2500015"/>
            <a:ext cx="2622724"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1100"/>
              <a:buFont typeface="Inter"/>
              <a:buNone/>
            </a:pPr>
            <a:r>
              <a:rPr lang="en" sz="1100">
                <a:solidFill>
                  <a:srgbClr val="272525"/>
                </a:solidFill>
                <a:latin typeface="Inter"/>
                <a:ea typeface="Inter"/>
                <a:cs typeface="Inter"/>
                <a:sym typeface="Inter"/>
              </a:rPr>
              <a:t>Problem background, core challenges, and proposed heuristic approach</a:t>
            </a:r>
            <a:endParaRPr sz="1100">
              <a:solidFill>
                <a:schemeClr val="dk1"/>
              </a:solidFill>
              <a:latin typeface="Calibri"/>
              <a:ea typeface="Calibri"/>
              <a:cs typeface="Calibri"/>
              <a:sym typeface="Calibri"/>
            </a:endParaRPr>
          </a:p>
        </p:txBody>
      </p:sp>
      <p:sp>
        <p:nvSpPr>
          <p:cNvPr id="87" name="Google Shape;87;p17"/>
          <p:cNvSpPr/>
          <p:nvPr/>
        </p:nvSpPr>
        <p:spPr>
          <a:xfrm>
            <a:off x="6025083" y="1862658"/>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2525"/>
              </a:buClr>
              <a:buSzPts val="1100"/>
              <a:buFont typeface="Inter Light"/>
              <a:buNone/>
            </a:pPr>
            <a:r>
              <a:rPr lang="en" sz="1100">
                <a:solidFill>
                  <a:srgbClr val="272525"/>
                </a:solidFill>
                <a:latin typeface="Inter Light"/>
                <a:ea typeface="Inter Light"/>
                <a:cs typeface="Inter Light"/>
                <a:sym typeface="Inter Light"/>
              </a:rPr>
              <a:t>03</a:t>
            </a:r>
            <a:endParaRPr sz="1100">
              <a:solidFill>
                <a:schemeClr val="dk1"/>
              </a:solidFill>
              <a:latin typeface="Calibri"/>
              <a:ea typeface="Calibri"/>
              <a:cs typeface="Calibri"/>
              <a:sym typeface="Calibri"/>
            </a:endParaRPr>
          </a:p>
        </p:txBody>
      </p:sp>
      <p:sp>
        <p:nvSpPr>
          <p:cNvPr id="88" name="Google Shape;88;p17"/>
          <p:cNvSpPr/>
          <p:nvPr/>
        </p:nvSpPr>
        <p:spPr>
          <a:xfrm>
            <a:off x="6025083" y="2084561"/>
            <a:ext cx="2622724" cy="1905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7"/>
          <p:cNvSpPr/>
          <p:nvPr/>
        </p:nvSpPr>
        <p:spPr>
          <a:xfrm>
            <a:off x="6025083" y="2193503"/>
            <a:ext cx="2622724"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350"/>
              <a:buFont typeface="Inter"/>
              <a:buNone/>
            </a:pPr>
            <a:r>
              <a:rPr b="1" lang="en" sz="1350">
                <a:solidFill>
                  <a:srgbClr val="272525"/>
                </a:solidFill>
                <a:latin typeface="Inter"/>
                <a:ea typeface="Inter"/>
                <a:cs typeface="Inter"/>
                <a:sym typeface="Inter"/>
              </a:rPr>
              <a:t>Hardware &amp; Software Requirements</a:t>
            </a:r>
            <a:endParaRPr sz="1350">
              <a:solidFill>
                <a:schemeClr val="dk1"/>
              </a:solidFill>
              <a:latin typeface="Calibri"/>
              <a:ea typeface="Calibri"/>
              <a:cs typeface="Calibri"/>
              <a:sym typeface="Calibri"/>
            </a:endParaRPr>
          </a:p>
        </p:txBody>
      </p:sp>
      <p:sp>
        <p:nvSpPr>
          <p:cNvPr id="90" name="Google Shape;90;p17"/>
          <p:cNvSpPr/>
          <p:nvPr/>
        </p:nvSpPr>
        <p:spPr>
          <a:xfrm>
            <a:off x="6025083" y="2721471"/>
            <a:ext cx="2622724"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1100"/>
              <a:buFont typeface="Inter"/>
              <a:buNone/>
            </a:pPr>
            <a:r>
              <a:rPr lang="en" sz="1100">
                <a:solidFill>
                  <a:srgbClr val="272525"/>
                </a:solidFill>
                <a:latin typeface="Inter"/>
                <a:ea typeface="Inter"/>
                <a:cs typeface="Inter"/>
                <a:sym typeface="Inter"/>
              </a:rPr>
              <a:t>Physical components and development tools used in the project</a:t>
            </a:r>
            <a:endParaRPr sz="1100">
              <a:solidFill>
                <a:schemeClr val="dk1"/>
              </a:solidFill>
              <a:latin typeface="Calibri"/>
              <a:ea typeface="Calibri"/>
              <a:cs typeface="Calibri"/>
              <a:sym typeface="Calibri"/>
            </a:endParaRPr>
          </a:p>
        </p:txBody>
      </p:sp>
      <p:sp>
        <p:nvSpPr>
          <p:cNvPr id="91" name="Google Shape;91;p17"/>
          <p:cNvSpPr/>
          <p:nvPr/>
        </p:nvSpPr>
        <p:spPr>
          <a:xfrm>
            <a:off x="496119" y="3423121"/>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2525"/>
              </a:buClr>
              <a:buSzPts val="1100"/>
              <a:buFont typeface="Inter Light"/>
              <a:buNone/>
            </a:pPr>
            <a:r>
              <a:rPr lang="en" sz="1100">
                <a:solidFill>
                  <a:srgbClr val="272525"/>
                </a:solidFill>
                <a:latin typeface="Inter Light"/>
                <a:ea typeface="Inter Light"/>
                <a:cs typeface="Inter Light"/>
                <a:sym typeface="Inter Light"/>
              </a:rPr>
              <a:t>04</a:t>
            </a:r>
            <a:endParaRPr sz="1100">
              <a:solidFill>
                <a:schemeClr val="dk1"/>
              </a:solidFill>
              <a:latin typeface="Calibri"/>
              <a:ea typeface="Calibri"/>
              <a:cs typeface="Calibri"/>
              <a:sym typeface="Calibri"/>
            </a:endParaRPr>
          </a:p>
        </p:txBody>
      </p:sp>
      <p:sp>
        <p:nvSpPr>
          <p:cNvPr id="92" name="Google Shape;92;p17"/>
          <p:cNvSpPr/>
          <p:nvPr/>
        </p:nvSpPr>
        <p:spPr>
          <a:xfrm>
            <a:off x="496119" y="3645024"/>
            <a:ext cx="4004965" cy="1905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7"/>
          <p:cNvSpPr/>
          <p:nvPr/>
        </p:nvSpPr>
        <p:spPr>
          <a:xfrm>
            <a:off x="496119" y="3753966"/>
            <a:ext cx="177202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350"/>
              <a:buFont typeface="Inter"/>
              <a:buNone/>
            </a:pPr>
            <a:r>
              <a:rPr b="1" lang="en" sz="1350">
                <a:solidFill>
                  <a:srgbClr val="272525"/>
                </a:solidFill>
                <a:latin typeface="Inter"/>
                <a:ea typeface="Inter"/>
                <a:cs typeface="Inter"/>
                <a:sym typeface="Inter"/>
              </a:rPr>
              <a:t>Methodology</a:t>
            </a:r>
            <a:endParaRPr sz="1350">
              <a:solidFill>
                <a:schemeClr val="dk1"/>
              </a:solidFill>
              <a:latin typeface="Calibri"/>
              <a:ea typeface="Calibri"/>
              <a:cs typeface="Calibri"/>
              <a:sym typeface="Calibri"/>
            </a:endParaRPr>
          </a:p>
        </p:txBody>
      </p:sp>
      <p:sp>
        <p:nvSpPr>
          <p:cNvPr id="94" name="Google Shape;94;p17"/>
          <p:cNvSpPr/>
          <p:nvPr/>
        </p:nvSpPr>
        <p:spPr>
          <a:xfrm>
            <a:off x="496119" y="4060478"/>
            <a:ext cx="4004965"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1100"/>
              <a:buFont typeface="Inter"/>
              <a:buNone/>
            </a:pPr>
            <a:r>
              <a:rPr lang="en" sz="1100">
                <a:solidFill>
                  <a:srgbClr val="272525"/>
                </a:solidFill>
                <a:latin typeface="Inter"/>
                <a:ea typeface="Inter"/>
                <a:cs typeface="Inter"/>
                <a:sym typeface="Inter"/>
              </a:rPr>
              <a:t>Study of SCOOT, SCATS, gap analysis, and proposed system design</a:t>
            </a:r>
            <a:endParaRPr sz="1100">
              <a:solidFill>
                <a:schemeClr val="dk1"/>
              </a:solidFill>
              <a:latin typeface="Calibri"/>
              <a:ea typeface="Calibri"/>
              <a:cs typeface="Calibri"/>
              <a:sym typeface="Calibri"/>
            </a:endParaRPr>
          </a:p>
        </p:txBody>
      </p:sp>
      <p:sp>
        <p:nvSpPr>
          <p:cNvPr id="95" name="Google Shape;95;p17"/>
          <p:cNvSpPr/>
          <p:nvPr/>
        </p:nvSpPr>
        <p:spPr>
          <a:xfrm>
            <a:off x="4642842" y="3423121"/>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2525"/>
              </a:buClr>
              <a:buSzPts val="1100"/>
              <a:buFont typeface="Inter Light"/>
              <a:buNone/>
            </a:pPr>
            <a:r>
              <a:rPr lang="en" sz="1100">
                <a:solidFill>
                  <a:srgbClr val="272525"/>
                </a:solidFill>
                <a:latin typeface="Inter Light"/>
                <a:ea typeface="Inter Light"/>
                <a:cs typeface="Inter Light"/>
                <a:sym typeface="Inter Light"/>
              </a:rPr>
              <a:t>05</a:t>
            </a:r>
            <a:endParaRPr sz="1100">
              <a:solidFill>
                <a:schemeClr val="dk1"/>
              </a:solidFill>
              <a:latin typeface="Calibri"/>
              <a:ea typeface="Calibri"/>
              <a:cs typeface="Calibri"/>
              <a:sym typeface="Calibri"/>
            </a:endParaRPr>
          </a:p>
        </p:txBody>
      </p:sp>
      <p:sp>
        <p:nvSpPr>
          <p:cNvPr id="96" name="Google Shape;96;p17"/>
          <p:cNvSpPr/>
          <p:nvPr/>
        </p:nvSpPr>
        <p:spPr>
          <a:xfrm>
            <a:off x="4642842" y="3645024"/>
            <a:ext cx="4004965" cy="1905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7"/>
          <p:cNvSpPr/>
          <p:nvPr/>
        </p:nvSpPr>
        <p:spPr>
          <a:xfrm>
            <a:off x="4642842" y="3753966"/>
            <a:ext cx="177202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350"/>
              <a:buFont typeface="Inter"/>
              <a:buNone/>
            </a:pPr>
            <a:r>
              <a:rPr b="1" lang="en" sz="1350">
                <a:solidFill>
                  <a:srgbClr val="272525"/>
                </a:solidFill>
                <a:latin typeface="Inter"/>
                <a:ea typeface="Inter"/>
                <a:cs typeface="Inter"/>
                <a:sym typeface="Inter"/>
              </a:rPr>
              <a:t>References</a:t>
            </a:r>
            <a:endParaRPr sz="1350">
              <a:solidFill>
                <a:schemeClr val="dk1"/>
              </a:solidFill>
              <a:latin typeface="Calibri"/>
              <a:ea typeface="Calibri"/>
              <a:cs typeface="Calibri"/>
              <a:sym typeface="Calibri"/>
            </a:endParaRPr>
          </a:p>
        </p:txBody>
      </p:sp>
      <p:sp>
        <p:nvSpPr>
          <p:cNvPr id="98" name="Google Shape;98;p17"/>
          <p:cNvSpPr/>
          <p:nvPr/>
        </p:nvSpPr>
        <p:spPr>
          <a:xfrm>
            <a:off x="4642842" y="4060478"/>
            <a:ext cx="4004965"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1100"/>
              <a:buFont typeface="Inter"/>
              <a:buNone/>
            </a:pPr>
            <a:r>
              <a:rPr lang="en" sz="1100">
                <a:solidFill>
                  <a:srgbClr val="272525"/>
                </a:solidFill>
                <a:latin typeface="Inter"/>
                <a:ea typeface="Inter"/>
                <a:cs typeface="Inter"/>
                <a:sym typeface="Inter"/>
              </a:rPr>
              <a:t>Academic citations and supporting literature</a:t>
            </a:r>
            <a:endParaRPr sz="1100">
              <a:solidFill>
                <a:schemeClr val="dk1"/>
              </a:solidFill>
              <a:latin typeface="Calibri"/>
              <a:ea typeface="Calibri"/>
              <a:cs typeface="Calibri"/>
              <a:sym typeface="Calibri"/>
            </a:endParaRPr>
          </a:p>
        </p:txBody>
      </p:sp>
      <p:pic>
        <p:nvPicPr>
          <p:cNvPr id="99" name="Google Shape;99;p17"/>
          <p:cNvPicPr preferRelativeResize="0"/>
          <p:nvPr/>
        </p:nvPicPr>
        <p:blipFill rotWithShape="1">
          <a:blip r:embed="rId3">
            <a:alphaModFix/>
          </a:blip>
          <a:srcRect b="0" l="0" r="0" t="0"/>
          <a:stretch/>
        </p:blipFill>
        <p:spPr>
          <a:xfrm>
            <a:off x="5866943" y="4681135"/>
            <a:ext cx="3277057" cy="42868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descr="preencoded.png" id="105" name="Google Shape;105;p18"/>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106" name="Google Shape;106;p18"/>
          <p:cNvSpPr/>
          <p:nvPr/>
        </p:nvSpPr>
        <p:spPr>
          <a:xfrm>
            <a:off x="3863132" y="388293"/>
            <a:ext cx="4846737" cy="77509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400"/>
              <a:buFont typeface="Inter"/>
              <a:buNone/>
            </a:pPr>
            <a:r>
              <a:rPr b="1" lang="en" sz="2400">
                <a:solidFill>
                  <a:srgbClr val="000000"/>
                </a:solidFill>
                <a:latin typeface="Inter"/>
                <a:ea typeface="Inter"/>
                <a:cs typeface="Inter"/>
                <a:sym typeface="Inter"/>
              </a:rPr>
              <a:t>Abstract — The Problem &amp; Our Approach</a:t>
            </a:r>
            <a:endParaRPr sz="2400">
              <a:solidFill>
                <a:schemeClr val="dk1"/>
              </a:solidFill>
              <a:latin typeface="Calibri"/>
              <a:ea typeface="Calibri"/>
              <a:cs typeface="Calibri"/>
              <a:sym typeface="Calibri"/>
            </a:endParaRPr>
          </a:p>
        </p:txBody>
      </p:sp>
      <p:sp>
        <p:nvSpPr>
          <p:cNvPr id="107" name="Google Shape;107;p18"/>
          <p:cNvSpPr/>
          <p:nvPr/>
        </p:nvSpPr>
        <p:spPr>
          <a:xfrm>
            <a:off x="3863132" y="1434629"/>
            <a:ext cx="20077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Inter"/>
              <a:buNone/>
            </a:pPr>
            <a:r>
              <a:rPr b="1" lang="en" sz="1200">
                <a:solidFill>
                  <a:srgbClr val="000000"/>
                </a:solidFill>
                <a:latin typeface="Inter"/>
                <a:ea typeface="Inter"/>
                <a:cs typeface="Inter"/>
                <a:sym typeface="Inter"/>
              </a:rPr>
              <a:t>Core Challenges</a:t>
            </a:r>
            <a:endParaRPr sz="1200">
              <a:solidFill>
                <a:schemeClr val="dk1"/>
              </a:solidFill>
              <a:latin typeface="Calibri"/>
              <a:ea typeface="Calibri"/>
              <a:cs typeface="Calibri"/>
              <a:sym typeface="Calibri"/>
            </a:endParaRPr>
          </a:p>
        </p:txBody>
      </p:sp>
      <p:sp>
        <p:nvSpPr>
          <p:cNvPr id="108" name="Google Shape;108;p18"/>
          <p:cNvSpPr/>
          <p:nvPr/>
        </p:nvSpPr>
        <p:spPr>
          <a:xfrm>
            <a:off x="3863132" y="1736973"/>
            <a:ext cx="2272085" cy="2980283"/>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272525"/>
              </a:buClr>
              <a:buSzPts val="950"/>
              <a:buFont typeface="Inter"/>
              <a:buChar char="•"/>
            </a:pPr>
            <a:r>
              <a:rPr lang="en" sz="950">
                <a:solidFill>
                  <a:srgbClr val="272525"/>
                </a:solidFill>
                <a:latin typeface="Inter"/>
                <a:ea typeface="Inter"/>
                <a:cs typeface="Inter"/>
                <a:sym typeface="Inter"/>
              </a:rPr>
              <a:t>Fixed-cycle signals cause unnecessary waiting even on empty roads</a:t>
            </a:r>
            <a:endParaRPr sz="950">
              <a:solidFill>
                <a:schemeClr val="dk1"/>
              </a:solidFill>
              <a:latin typeface="Calibri"/>
              <a:ea typeface="Calibri"/>
              <a:cs typeface="Calibri"/>
              <a:sym typeface="Calibri"/>
            </a:endParaRPr>
          </a:p>
          <a:p>
            <a:pPr indent="-342900" lvl="0" marL="342900" marR="0" rtl="0" algn="l">
              <a:lnSpc>
                <a:spcPct val="125000"/>
              </a:lnSpc>
              <a:spcBef>
                <a:spcPts val="0"/>
              </a:spcBef>
              <a:spcAft>
                <a:spcPts val="0"/>
              </a:spcAft>
              <a:buClr>
                <a:srgbClr val="272525"/>
              </a:buClr>
              <a:buSzPts val="950"/>
              <a:buFont typeface="Inter"/>
              <a:buChar char="•"/>
            </a:pPr>
            <a:r>
              <a:rPr lang="en" sz="950">
                <a:solidFill>
                  <a:srgbClr val="272525"/>
                </a:solidFill>
                <a:latin typeface="Inter"/>
                <a:ea typeface="Inter"/>
                <a:cs typeface="Inter"/>
                <a:sym typeface="Inter"/>
              </a:rPr>
              <a:t>No real-time feedback or adaptive intelligence in conventional systems</a:t>
            </a:r>
            <a:endParaRPr sz="950">
              <a:solidFill>
                <a:schemeClr val="dk1"/>
              </a:solidFill>
              <a:latin typeface="Calibri"/>
              <a:ea typeface="Calibri"/>
              <a:cs typeface="Calibri"/>
              <a:sym typeface="Calibri"/>
            </a:endParaRPr>
          </a:p>
          <a:p>
            <a:pPr indent="-342900" lvl="0" marL="342900" marR="0" rtl="0" algn="l">
              <a:lnSpc>
                <a:spcPct val="125000"/>
              </a:lnSpc>
              <a:spcBef>
                <a:spcPts val="0"/>
              </a:spcBef>
              <a:spcAft>
                <a:spcPts val="0"/>
              </a:spcAft>
              <a:buClr>
                <a:srgbClr val="272525"/>
              </a:buClr>
              <a:buSzPts val="950"/>
              <a:buFont typeface="Inter"/>
              <a:buChar char="•"/>
            </a:pPr>
            <a:r>
              <a:rPr lang="en" sz="950">
                <a:solidFill>
                  <a:srgbClr val="272525"/>
                </a:solidFill>
                <a:latin typeface="Inter"/>
                <a:ea typeface="Inter"/>
                <a:cs typeface="Inter"/>
                <a:sym typeface="Inter"/>
              </a:rPr>
              <a:t>ML systems demand large datasets and expensive GPU hardware</a:t>
            </a:r>
            <a:endParaRPr sz="950">
              <a:solidFill>
                <a:schemeClr val="dk1"/>
              </a:solidFill>
              <a:latin typeface="Calibri"/>
              <a:ea typeface="Calibri"/>
              <a:cs typeface="Calibri"/>
              <a:sym typeface="Calibri"/>
            </a:endParaRPr>
          </a:p>
          <a:p>
            <a:pPr indent="-342900" lvl="0" marL="342900" marR="0" rtl="0" algn="l">
              <a:lnSpc>
                <a:spcPct val="125000"/>
              </a:lnSpc>
              <a:spcBef>
                <a:spcPts val="0"/>
              </a:spcBef>
              <a:spcAft>
                <a:spcPts val="0"/>
              </a:spcAft>
              <a:buClr>
                <a:srgbClr val="272525"/>
              </a:buClr>
              <a:buSzPts val="950"/>
              <a:buFont typeface="Inter"/>
              <a:buChar char="•"/>
            </a:pPr>
            <a:r>
              <a:rPr lang="en" sz="950">
                <a:solidFill>
                  <a:srgbClr val="272525"/>
                </a:solidFill>
                <a:latin typeface="Inter"/>
                <a:ea typeface="Inter"/>
                <a:cs typeface="Inter"/>
                <a:sym typeface="Inter"/>
              </a:rPr>
              <a:t>Emergency vehicles face delayed routing due to static signal logic</a:t>
            </a:r>
            <a:endParaRPr sz="950">
              <a:solidFill>
                <a:schemeClr val="dk1"/>
              </a:solidFill>
              <a:latin typeface="Calibri"/>
              <a:ea typeface="Calibri"/>
              <a:cs typeface="Calibri"/>
              <a:sym typeface="Calibri"/>
            </a:endParaRPr>
          </a:p>
          <a:p>
            <a:pPr indent="-342900" lvl="0" marL="342900" marR="0" rtl="0" algn="l">
              <a:lnSpc>
                <a:spcPct val="125000"/>
              </a:lnSpc>
              <a:spcBef>
                <a:spcPts val="0"/>
              </a:spcBef>
              <a:spcAft>
                <a:spcPts val="0"/>
              </a:spcAft>
              <a:buClr>
                <a:srgbClr val="272525"/>
              </a:buClr>
              <a:buSzPts val="950"/>
              <a:buFont typeface="Inter"/>
              <a:buChar char="•"/>
            </a:pPr>
            <a:r>
              <a:rPr lang="en" sz="950">
                <a:solidFill>
                  <a:srgbClr val="272525"/>
                </a:solidFill>
                <a:latin typeface="Inter"/>
                <a:ea typeface="Inter"/>
                <a:cs typeface="Inter"/>
                <a:sym typeface="Inter"/>
              </a:rPr>
              <a:t>Peak-hour bottlenecks remain unresolved by rigid schedules</a:t>
            </a:r>
            <a:endParaRPr sz="950">
              <a:solidFill>
                <a:schemeClr val="dk1"/>
              </a:solidFill>
              <a:latin typeface="Calibri"/>
              <a:ea typeface="Calibri"/>
              <a:cs typeface="Calibri"/>
              <a:sym typeface="Calibri"/>
            </a:endParaRPr>
          </a:p>
          <a:p>
            <a:pPr indent="-342900" lvl="0" marL="342900" marR="0" rtl="0" algn="l">
              <a:lnSpc>
                <a:spcPct val="125000"/>
              </a:lnSpc>
              <a:spcBef>
                <a:spcPts val="0"/>
              </a:spcBef>
              <a:spcAft>
                <a:spcPts val="0"/>
              </a:spcAft>
              <a:buClr>
                <a:srgbClr val="272525"/>
              </a:buClr>
              <a:buSzPts val="950"/>
              <a:buFont typeface="Inter"/>
              <a:buChar char="•"/>
            </a:pPr>
            <a:r>
              <a:rPr lang="en" sz="950">
                <a:solidFill>
                  <a:srgbClr val="272525"/>
                </a:solidFill>
                <a:latin typeface="Inter"/>
                <a:ea typeface="Inter"/>
                <a:cs typeface="Inter"/>
                <a:sym typeface="Inter"/>
              </a:rPr>
              <a:t>Excessive idling raises fuel consumption and emissions</a:t>
            </a:r>
            <a:endParaRPr sz="950">
              <a:solidFill>
                <a:schemeClr val="dk1"/>
              </a:solidFill>
              <a:latin typeface="Calibri"/>
              <a:ea typeface="Calibri"/>
              <a:cs typeface="Calibri"/>
              <a:sym typeface="Calibri"/>
            </a:endParaRPr>
          </a:p>
        </p:txBody>
      </p:sp>
      <p:sp>
        <p:nvSpPr>
          <p:cNvPr id="109" name="Google Shape;109;p18"/>
          <p:cNvSpPr/>
          <p:nvPr/>
        </p:nvSpPr>
        <p:spPr>
          <a:xfrm>
            <a:off x="6442546" y="1434629"/>
            <a:ext cx="20077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Inter"/>
              <a:buNone/>
            </a:pPr>
            <a:r>
              <a:rPr b="1" lang="en" sz="1200">
                <a:solidFill>
                  <a:srgbClr val="000000"/>
                </a:solidFill>
                <a:latin typeface="Inter"/>
                <a:ea typeface="Inter"/>
                <a:cs typeface="Inter"/>
                <a:sym typeface="Inter"/>
              </a:rPr>
              <a:t>Proposed Solution</a:t>
            </a:r>
            <a:endParaRPr sz="1200">
              <a:solidFill>
                <a:schemeClr val="dk1"/>
              </a:solidFill>
              <a:latin typeface="Calibri"/>
              <a:ea typeface="Calibri"/>
              <a:cs typeface="Calibri"/>
              <a:sym typeface="Calibri"/>
            </a:endParaRPr>
          </a:p>
        </p:txBody>
      </p:sp>
      <p:sp>
        <p:nvSpPr>
          <p:cNvPr id="110" name="Google Shape;110;p18"/>
          <p:cNvSpPr/>
          <p:nvPr/>
        </p:nvSpPr>
        <p:spPr>
          <a:xfrm>
            <a:off x="6442546" y="1736973"/>
            <a:ext cx="2272085" cy="186035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This project proposes a </a:t>
            </a:r>
            <a:r>
              <a:rPr b="1" lang="en" sz="950">
                <a:solidFill>
                  <a:srgbClr val="272525"/>
                </a:solidFill>
                <a:latin typeface="Inter"/>
                <a:ea typeface="Inter"/>
                <a:cs typeface="Inter"/>
                <a:sym typeface="Inter"/>
              </a:rPr>
              <a:t>Heuristic Rule-Based Traffic Signal Optimization System</a:t>
            </a:r>
            <a:r>
              <a:rPr lang="en" sz="950">
                <a:solidFill>
                  <a:srgbClr val="272525"/>
                </a:solidFill>
                <a:latin typeface="Inter"/>
                <a:ea typeface="Inter"/>
                <a:cs typeface="Inter"/>
                <a:sym typeface="Inter"/>
              </a:rPr>
              <a:t> — using lightweight conditional logic to dynamically control signals in real time. Live vehicle density from sensors feeds predefined </a:t>
            </a:r>
            <a:r>
              <a:rPr i="1" lang="en" sz="950">
                <a:solidFill>
                  <a:srgbClr val="272525"/>
                </a:solidFill>
                <a:latin typeface="Inter"/>
                <a:ea typeface="Inter"/>
                <a:cs typeface="Inter"/>
                <a:sym typeface="Inter"/>
              </a:rPr>
              <a:t>if-then</a:t>
            </a:r>
            <a:r>
              <a:rPr lang="en" sz="950">
                <a:solidFill>
                  <a:srgbClr val="272525"/>
                </a:solidFill>
                <a:latin typeface="Inter"/>
                <a:ea typeface="Inter"/>
                <a:cs typeface="Inter"/>
                <a:sym typeface="Inter"/>
              </a:rPr>
              <a:t> rules to determine optimal green phase durations. No training data or complex models required.</a:t>
            </a:r>
            <a:endParaRPr sz="950">
              <a:solidFill>
                <a:schemeClr val="dk1"/>
              </a:solidFill>
              <a:latin typeface="Calibri"/>
              <a:ea typeface="Calibri"/>
              <a:cs typeface="Calibri"/>
              <a:sym typeface="Calibri"/>
            </a:endParaRPr>
          </a:p>
        </p:txBody>
      </p:sp>
      <p:sp>
        <p:nvSpPr>
          <p:cNvPr id="111" name="Google Shape;111;p18"/>
          <p:cNvSpPr/>
          <p:nvPr/>
        </p:nvSpPr>
        <p:spPr>
          <a:xfrm>
            <a:off x="6442546" y="3719364"/>
            <a:ext cx="2272085" cy="857176"/>
          </a:xfrm>
          <a:prstGeom prst="roundRect">
            <a:avLst>
              <a:gd fmla="val 6078" name="adj"/>
            </a:avLst>
          </a:prstGeom>
          <a:solidFill>
            <a:srgbClr val="B6FC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 name="Google Shape;112;p18"/>
          <p:cNvPicPr preferRelativeResize="0"/>
          <p:nvPr/>
        </p:nvPicPr>
        <p:blipFill rotWithShape="1">
          <a:blip r:embed="rId4">
            <a:alphaModFix/>
          </a:blip>
          <a:srcRect b="0" l="0" r="0" t="0"/>
          <a:stretch/>
        </p:blipFill>
        <p:spPr>
          <a:xfrm>
            <a:off x="6566520" y="3903911"/>
            <a:ext cx="155004" cy="123974"/>
          </a:xfrm>
          <a:prstGeom prst="rect">
            <a:avLst/>
          </a:prstGeom>
          <a:noFill/>
          <a:ln>
            <a:noFill/>
          </a:ln>
        </p:spPr>
      </p:pic>
      <p:sp>
        <p:nvSpPr>
          <p:cNvPr id="113" name="Google Shape;113;p18"/>
          <p:cNvSpPr/>
          <p:nvPr/>
        </p:nvSpPr>
        <p:spPr>
          <a:xfrm>
            <a:off x="6845498" y="3858816"/>
            <a:ext cx="1745159" cy="55810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807"/>
              <a:buFont typeface="Inter"/>
              <a:buNone/>
            </a:pPr>
            <a:r>
              <a:rPr lang="en" sz="808">
                <a:solidFill>
                  <a:srgbClr val="000000"/>
                </a:solidFill>
                <a:latin typeface="Inter"/>
                <a:ea typeface="Inter"/>
                <a:cs typeface="Inter"/>
                <a:sym typeface="Inter"/>
              </a:rPr>
              <a:t>Target: ↓30% wait time  |  ↓25% congestion  |  ↑40% throughput</a:t>
            </a:r>
            <a:endParaRPr sz="808">
              <a:solidFill>
                <a:schemeClr val="dk1"/>
              </a:solidFill>
              <a:latin typeface="Calibri"/>
              <a:ea typeface="Calibri"/>
              <a:cs typeface="Calibri"/>
              <a:sym typeface="Calibri"/>
            </a:endParaRPr>
          </a:p>
        </p:txBody>
      </p:sp>
      <p:pic>
        <p:nvPicPr>
          <p:cNvPr id="114" name="Google Shape;114;p18"/>
          <p:cNvPicPr preferRelativeResize="0"/>
          <p:nvPr/>
        </p:nvPicPr>
        <p:blipFill rotWithShape="1">
          <a:blip r:embed="rId5">
            <a:alphaModFix/>
          </a:blip>
          <a:srcRect b="0" l="0" r="0" t="0"/>
          <a:stretch/>
        </p:blipFill>
        <p:spPr>
          <a:xfrm>
            <a:off x="5807900" y="4687460"/>
            <a:ext cx="3277057" cy="4286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p:nvPr/>
        </p:nvSpPr>
        <p:spPr>
          <a:xfrm>
            <a:off x="426393" y="342305"/>
            <a:ext cx="4043288" cy="38070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350"/>
              <a:buFont typeface="Inter"/>
              <a:buNone/>
            </a:pPr>
            <a:r>
              <a:rPr b="1" lang="en" sz="2350">
                <a:solidFill>
                  <a:srgbClr val="000000"/>
                </a:solidFill>
                <a:latin typeface="Inter"/>
                <a:ea typeface="Inter"/>
                <a:cs typeface="Inter"/>
                <a:sym typeface="Inter"/>
              </a:rPr>
              <a:t>Hardware Requirements</a:t>
            </a:r>
            <a:endParaRPr sz="2350">
              <a:solidFill>
                <a:schemeClr val="dk1"/>
              </a:solidFill>
              <a:latin typeface="Calibri"/>
              <a:ea typeface="Calibri"/>
              <a:cs typeface="Calibri"/>
              <a:sym typeface="Calibri"/>
            </a:endParaRPr>
          </a:p>
        </p:txBody>
      </p:sp>
      <p:sp>
        <p:nvSpPr>
          <p:cNvPr id="121" name="Google Shape;121;p19"/>
          <p:cNvSpPr/>
          <p:nvPr/>
        </p:nvSpPr>
        <p:spPr>
          <a:xfrm>
            <a:off x="426393" y="932334"/>
            <a:ext cx="8291215" cy="36239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The prototype uses an embedded hardware stack combining a Raspberry Pi controller, Arduino signal driver, multiple sensor types, and a real-time web dashboard module — all designed for low-cost, field-deployable operation.</a:t>
            </a:r>
            <a:endParaRPr sz="950">
              <a:solidFill>
                <a:schemeClr val="dk1"/>
              </a:solidFill>
              <a:latin typeface="Calibri"/>
              <a:ea typeface="Calibri"/>
              <a:cs typeface="Calibri"/>
              <a:sym typeface="Calibri"/>
            </a:endParaRPr>
          </a:p>
        </p:txBody>
      </p:sp>
      <p:sp>
        <p:nvSpPr>
          <p:cNvPr descr="preencoded.png" id="122" name="Google Shape;122;p19"/>
          <p:cNvSpPr/>
          <p:nvPr/>
        </p:nvSpPr>
        <p:spPr>
          <a:xfrm>
            <a:off x="426393" y="1412453"/>
            <a:ext cx="243632" cy="243632"/>
          </a:xfrm>
          <a:prstGeom prst="rect">
            <a:avLst/>
          </a:prstGeom>
          <a:noFill/>
          <a:ln>
            <a:noFill/>
          </a:ln>
        </p:spPr>
      </p:sp>
      <p:sp>
        <p:nvSpPr>
          <p:cNvPr id="123" name="Google Shape;123;p19"/>
          <p:cNvSpPr/>
          <p:nvPr/>
        </p:nvSpPr>
        <p:spPr>
          <a:xfrm>
            <a:off x="426393" y="1786905"/>
            <a:ext cx="1522884" cy="1903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50"/>
              <a:buFont typeface="Inter"/>
              <a:buNone/>
            </a:pPr>
            <a:r>
              <a:rPr b="1" lang="en" sz="1150">
                <a:solidFill>
                  <a:srgbClr val="272525"/>
                </a:solidFill>
                <a:latin typeface="Inter"/>
                <a:ea typeface="Inter"/>
                <a:cs typeface="Inter"/>
                <a:sym typeface="Inter"/>
              </a:rPr>
              <a:t>Raspberry Pi 4B</a:t>
            </a:r>
            <a:endParaRPr sz="1150">
              <a:solidFill>
                <a:schemeClr val="dk1"/>
              </a:solidFill>
              <a:latin typeface="Calibri"/>
              <a:ea typeface="Calibri"/>
              <a:cs typeface="Calibri"/>
              <a:sym typeface="Calibri"/>
            </a:endParaRPr>
          </a:p>
        </p:txBody>
      </p:sp>
      <p:sp>
        <p:nvSpPr>
          <p:cNvPr id="124" name="Google Shape;124;p19"/>
          <p:cNvSpPr/>
          <p:nvPr/>
        </p:nvSpPr>
        <p:spPr>
          <a:xfrm>
            <a:off x="426393" y="2040062"/>
            <a:ext cx="4080197" cy="36239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Main processing unit running Python heuristic control logic with real-time sensor input and signal output handling.</a:t>
            </a:r>
            <a:endParaRPr sz="950">
              <a:solidFill>
                <a:schemeClr val="dk1"/>
              </a:solidFill>
              <a:latin typeface="Calibri"/>
              <a:ea typeface="Calibri"/>
              <a:cs typeface="Calibri"/>
              <a:sym typeface="Calibri"/>
            </a:endParaRPr>
          </a:p>
        </p:txBody>
      </p:sp>
      <p:pic>
        <p:nvPicPr>
          <p:cNvPr descr="preencoded.png" id="125" name="Google Shape;125;p19"/>
          <p:cNvPicPr preferRelativeResize="0"/>
          <p:nvPr/>
        </p:nvPicPr>
        <p:blipFill rotWithShape="1">
          <a:blip r:embed="rId3">
            <a:alphaModFix/>
          </a:blip>
          <a:srcRect b="0" l="0" r="0" t="0"/>
          <a:stretch/>
        </p:blipFill>
        <p:spPr>
          <a:xfrm>
            <a:off x="4637410" y="1412453"/>
            <a:ext cx="243632" cy="243632"/>
          </a:xfrm>
          <a:prstGeom prst="rect">
            <a:avLst/>
          </a:prstGeom>
          <a:noFill/>
          <a:ln>
            <a:noFill/>
          </a:ln>
        </p:spPr>
      </p:pic>
      <p:sp>
        <p:nvSpPr>
          <p:cNvPr id="126" name="Google Shape;126;p19"/>
          <p:cNvSpPr/>
          <p:nvPr/>
        </p:nvSpPr>
        <p:spPr>
          <a:xfrm>
            <a:off x="4637410" y="1786905"/>
            <a:ext cx="1522884" cy="1903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50"/>
              <a:buFont typeface="Inter"/>
              <a:buNone/>
            </a:pPr>
            <a:r>
              <a:rPr b="1" lang="en" sz="1150">
                <a:solidFill>
                  <a:srgbClr val="272525"/>
                </a:solidFill>
                <a:latin typeface="Inter"/>
                <a:ea typeface="Inter"/>
                <a:cs typeface="Inter"/>
                <a:sym typeface="Inter"/>
              </a:rPr>
              <a:t>Arduino Mega 2560</a:t>
            </a:r>
            <a:endParaRPr sz="1150">
              <a:solidFill>
                <a:schemeClr val="dk1"/>
              </a:solidFill>
              <a:latin typeface="Calibri"/>
              <a:ea typeface="Calibri"/>
              <a:cs typeface="Calibri"/>
              <a:sym typeface="Calibri"/>
            </a:endParaRPr>
          </a:p>
        </p:txBody>
      </p:sp>
      <p:sp>
        <p:nvSpPr>
          <p:cNvPr id="127" name="Google Shape;127;p19"/>
          <p:cNvSpPr/>
          <p:nvPr/>
        </p:nvSpPr>
        <p:spPr>
          <a:xfrm>
            <a:off x="4637410" y="2040062"/>
            <a:ext cx="4080197" cy="36239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Embedded controller for signal switching; runs C++ firmware for relay and LED control, communicating via serial/USB.</a:t>
            </a:r>
            <a:endParaRPr sz="950">
              <a:solidFill>
                <a:schemeClr val="dk1"/>
              </a:solidFill>
              <a:latin typeface="Calibri"/>
              <a:ea typeface="Calibri"/>
              <a:cs typeface="Calibri"/>
              <a:sym typeface="Calibri"/>
            </a:endParaRPr>
          </a:p>
        </p:txBody>
      </p:sp>
      <p:sp>
        <p:nvSpPr>
          <p:cNvPr descr="preencoded.png" id="128" name="Google Shape;128;p19"/>
          <p:cNvSpPr/>
          <p:nvPr/>
        </p:nvSpPr>
        <p:spPr>
          <a:xfrm>
            <a:off x="426393" y="2611785"/>
            <a:ext cx="243632" cy="243632"/>
          </a:xfrm>
          <a:prstGeom prst="rect">
            <a:avLst/>
          </a:prstGeom>
          <a:noFill/>
          <a:ln>
            <a:noFill/>
          </a:ln>
        </p:spPr>
      </p:sp>
      <p:sp>
        <p:nvSpPr>
          <p:cNvPr id="129" name="Google Shape;129;p19"/>
          <p:cNvSpPr/>
          <p:nvPr/>
        </p:nvSpPr>
        <p:spPr>
          <a:xfrm>
            <a:off x="426393" y="2986236"/>
            <a:ext cx="1727597" cy="1903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50"/>
              <a:buFont typeface="Inter"/>
              <a:buNone/>
            </a:pPr>
            <a:r>
              <a:rPr b="1" lang="en" sz="1150">
                <a:solidFill>
                  <a:srgbClr val="272525"/>
                </a:solidFill>
                <a:latin typeface="Inter"/>
                <a:ea typeface="Inter"/>
                <a:cs typeface="Inter"/>
                <a:sym typeface="Inter"/>
              </a:rPr>
              <a:t>IR &amp; Ultrasonic Sensors</a:t>
            </a:r>
            <a:endParaRPr sz="1150">
              <a:solidFill>
                <a:schemeClr val="dk1"/>
              </a:solidFill>
              <a:latin typeface="Calibri"/>
              <a:ea typeface="Calibri"/>
              <a:cs typeface="Calibri"/>
              <a:sym typeface="Calibri"/>
            </a:endParaRPr>
          </a:p>
        </p:txBody>
      </p:sp>
      <p:sp>
        <p:nvSpPr>
          <p:cNvPr id="130" name="Google Shape;130;p19"/>
          <p:cNvSpPr/>
          <p:nvPr/>
        </p:nvSpPr>
        <p:spPr>
          <a:xfrm>
            <a:off x="426393" y="3239393"/>
            <a:ext cx="4080197" cy="36239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HC-SR501/TCRT5000 detect vehicle presence; HC-SR04 measures queue length via distance estimation at each approach.</a:t>
            </a:r>
            <a:endParaRPr sz="950">
              <a:solidFill>
                <a:schemeClr val="dk1"/>
              </a:solidFill>
              <a:latin typeface="Calibri"/>
              <a:ea typeface="Calibri"/>
              <a:cs typeface="Calibri"/>
              <a:sym typeface="Calibri"/>
            </a:endParaRPr>
          </a:p>
        </p:txBody>
      </p:sp>
      <p:sp>
        <p:nvSpPr>
          <p:cNvPr descr="preencoded.png" id="131" name="Google Shape;131;p19"/>
          <p:cNvSpPr/>
          <p:nvPr/>
        </p:nvSpPr>
        <p:spPr>
          <a:xfrm>
            <a:off x="4637410" y="2611785"/>
            <a:ext cx="243632" cy="243632"/>
          </a:xfrm>
          <a:prstGeom prst="rect">
            <a:avLst/>
          </a:prstGeom>
          <a:noFill/>
          <a:ln>
            <a:noFill/>
          </a:ln>
        </p:spPr>
      </p:sp>
      <p:sp>
        <p:nvSpPr>
          <p:cNvPr id="132" name="Google Shape;132;p19"/>
          <p:cNvSpPr/>
          <p:nvPr/>
        </p:nvSpPr>
        <p:spPr>
          <a:xfrm>
            <a:off x="4637410" y="2986236"/>
            <a:ext cx="1714723" cy="1903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50"/>
              <a:buFont typeface="Inter"/>
              <a:buNone/>
            </a:pPr>
            <a:r>
              <a:rPr b="1" lang="en" sz="1150">
                <a:solidFill>
                  <a:srgbClr val="272525"/>
                </a:solidFill>
                <a:latin typeface="Inter"/>
                <a:ea typeface="Inter"/>
                <a:cs typeface="Inter"/>
                <a:sym typeface="Inter"/>
              </a:rPr>
              <a:t>ESP8266 Wi-Fi Module</a:t>
            </a:r>
            <a:endParaRPr sz="1150">
              <a:solidFill>
                <a:schemeClr val="dk1"/>
              </a:solidFill>
              <a:latin typeface="Calibri"/>
              <a:ea typeface="Calibri"/>
              <a:cs typeface="Calibri"/>
              <a:sym typeface="Calibri"/>
            </a:endParaRPr>
          </a:p>
        </p:txBody>
      </p:sp>
      <p:sp>
        <p:nvSpPr>
          <p:cNvPr id="133" name="Google Shape;133;p19"/>
          <p:cNvSpPr/>
          <p:nvPr/>
        </p:nvSpPr>
        <p:spPr>
          <a:xfrm>
            <a:off x="4637410" y="3239393"/>
            <a:ext cx="4080197" cy="36239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Transmits live sensor and phase data to a Flask web dashboard, enabling remote monitoring over local Wi-Fi.</a:t>
            </a:r>
            <a:endParaRPr sz="950">
              <a:solidFill>
                <a:schemeClr val="dk1"/>
              </a:solidFill>
              <a:latin typeface="Calibri"/>
              <a:ea typeface="Calibri"/>
              <a:cs typeface="Calibri"/>
              <a:sym typeface="Calibri"/>
            </a:endParaRPr>
          </a:p>
        </p:txBody>
      </p:sp>
      <p:sp>
        <p:nvSpPr>
          <p:cNvPr descr="preencoded.png" id="134" name="Google Shape;134;p19"/>
          <p:cNvSpPr/>
          <p:nvPr/>
        </p:nvSpPr>
        <p:spPr>
          <a:xfrm>
            <a:off x="426393" y="3811116"/>
            <a:ext cx="243632" cy="243632"/>
          </a:xfrm>
          <a:prstGeom prst="rect">
            <a:avLst/>
          </a:prstGeom>
          <a:noFill/>
          <a:ln>
            <a:noFill/>
          </a:ln>
        </p:spPr>
      </p:sp>
      <p:sp>
        <p:nvSpPr>
          <p:cNvPr id="135" name="Google Shape;135;p19"/>
          <p:cNvSpPr/>
          <p:nvPr/>
        </p:nvSpPr>
        <p:spPr>
          <a:xfrm>
            <a:off x="426393" y="4185568"/>
            <a:ext cx="2048470" cy="1903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50"/>
              <a:buFont typeface="Inter"/>
              <a:buNone/>
            </a:pPr>
            <a:r>
              <a:rPr b="1" lang="en" sz="1150">
                <a:solidFill>
                  <a:srgbClr val="272525"/>
                </a:solidFill>
                <a:latin typeface="Inter"/>
                <a:ea typeface="Inter"/>
                <a:cs typeface="Inter"/>
                <a:sym typeface="Inter"/>
              </a:rPr>
              <a:t>LED Signal Modules + Relay</a:t>
            </a:r>
            <a:endParaRPr sz="1150">
              <a:solidFill>
                <a:schemeClr val="dk1"/>
              </a:solidFill>
              <a:latin typeface="Calibri"/>
              <a:ea typeface="Calibri"/>
              <a:cs typeface="Calibri"/>
              <a:sym typeface="Calibri"/>
            </a:endParaRPr>
          </a:p>
        </p:txBody>
      </p:sp>
      <p:sp>
        <p:nvSpPr>
          <p:cNvPr id="136" name="Google Shape;136;p19"/>
          <p:cNvSpPr/>
          <p:nvPr/>
        </p:nvSpPr>
        <p:spPr>
          <a:xfrm>
            <a:off x="426393" y="4438724"/>
            <a:ext cx="4080197" cy="36239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12V R/Y/G LED arrays per lane direction, switched by a 4-channel relay module controlled via Arduino GPIO pins.</a:t>
            </a:r>
            <a:endParaRPr sz="950">
              <a:solidFill>
                <a:schemeClr val="dk1"/>
              </a:solidFill>
              <a:latin typeface="Calibri"/>
              <a:ea typeface="Calibri"/>
              <a:cs typeface="Calibri"/>
              <a:sym typeface="Calibri"/>
            </a:endParaRPr>
          </a:p>
        </p:txBody>
      </p:sp>
      <p:sp>
        <p:nvSpPr>
          <p:cNvPr descr="preencoded.png" id="137" name="Google Shape;137;p19"/>
          <p:cNvSpPr/>
          <p:nvPr/>
        </p:nvSpPr>
        <p:spPr>
          <a:xfrm>
            <a:off x="4637410" y="3811116"/>
            <a:ext cx="243632" cy="243632"/>
          </a:xfrm>
          <a:prstGeom prst="rect">
            <a:avLst/>
          </a:prstGeom>
          <a:noFill/>
          <a:ln>
            <a:noFill/>
          </a:ln>
        </p:spPr>
      </p:sp>
      <p:sp>
        <p:nvSpPr>
          <p:cNvPr id="138" name="Google Shape;138;p19"/>
          <p:cNvSpPr/>
          <p:nvPr/>
        </p:nvSpPr>
        <p:spPr>
          <a:xfrm>
            <a:off x="4637410" y="4185568"/>
            <a:ext cx="1522884" cy="1903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50"/>
              <a:buFont typeface="Inter"/>
              <a:buNone/>
            </a:pPr>
            <a:r>
              <a:rPr b="1" lang="en" sz="1150">
                <a:solidFill>
                  <a:srgbClr val="272525"/>
                </a:solidFill>
                <a:latin typeface="Inter"/>
                <a:ea typeface="Inter"/>
                <a:cs typeface="Inter"/>
                <a:sym typeface="Inter"/>
              </a:rPr>
              <a:t>16×2 LCD with I2C</a:t>
            </a:r>
            <a:endParaRPr sz="1150">
              <a:solidFill>
                <a:schemeClr val="dk1"/>
              </a:solidFill>
              <a:latin typeface="Calibri"/>
              <a:ea typeface="Calibri"/>
              <a:cs typeface="Calibri"/>
              <a:sym typeface="Calibri"/>
            </a:endParaRPr>
          </a:p>
        </p:txBody>
      </p:sp>
      <p:sp>
        <p:nvSpPr>
          <p:cNvPr id="139" name="Google Shape;139;p19"/>
          <p:cNvSpPr/>
          <p:nvPr/>
        </p:nvSpPr>
        <p:spPr>
          <a:xfrm>
            <a:off x="4637410" y="4438724"/>
            <a:ext cx="4080197" cy="36239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Displays active phase, lane ID, and countdown timer — providing real-time status readout at the intersection.</a:t>
            </a:r>
            <a:endParaRPr sz="950">
              <a:solidFill>
                <a:schemeClr val="dk1"/>
              </a:solidFill>
              <a:latin typeface="Calibri"/>
              <a:ea typeface="Calibri"/>
              <a:cs typeface="Calibri"/>
              <a:sym typeface="Calibri"/>
            </a:endParaRPr>
          </a:p>
        </p:txBody>
      </p:sp>
      <p:pic>
        <p:nvPicPr>
          <p:cNvPr id="140" name="Google Shape;140;p19"/>
          <p:cNvPicPr preferRelativeResize="0"/>
          <p:nvPr/>
        </p:nvPicPr>
        <p:blipFill rotWithShape="1">
          <a:blip r:embed="rId4">
            <a:alphaModFix/>
          </a:blip>
          <a:srcRect b="0" l="0" r="0" t="0"/>
          <a:stretch/>
        </p:blipFill>
        <p:spPr>
          <a:xfrm>
            <a:off x="7012745" y="4649582"/>
            <a:ext cx="2131255" cy="4286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0"/>
          <p:cNvSpPr/>
          <p:nvPr/>
        </p:nvSpPr>
        <p:spPr>
          <a:xfrm>
            <a:off x="465162" y="448940"/>
            <a:ext cx="4260354" cy="41530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600"/>
              <a:buFont typeface="Inter"/>
              <a:buNone/>
            </a:pPr>
            <a:r>
              <a:rPr b="1" lang="en" sz="2600">
                <a:solidFill>
                  <a:srgbClr val="000000"/>
                </a:solidFill>
                <a:latin typeface="Inter"/>
                <a:ea typeface="Inter"/>
                <a:cs typeface="Inter"/>
                <a:sym typeface="Inter"/>
              </a:rPr>
              <a:t>Software Requirements</a:t>
            </a:r>
            <a:endParaRPr sz="2600">
              <a:solidFill>
                <a:schemeClr val="dk1"/>
              </a:solidFill>
              <a:latin typeface="Calibri"/>
              <a:ea typeface="Calibri"/>
              <a:cs typeface="Calibri"/>
              <a:sym typeface="Calibri"/>
            </a:endParaRPr>
          </a:p>
        </p:txBody>
      </p:sp>
      <p:sp>
        <p:nvSpPr>
          <p:cNvPr id="147" name="Google Shape;147;p20"/>
          <p:cNvSpPr/>
          <p:nvPr/>
        </p:nvSpPr>
        <p:spPr>
          <a:xfrm>
            <a:off x="465162" y="1113383"/>
            <a:ext cx="8213675" cy="411956"/>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272525"/>
              </a:buClr>
              <a:buSzPts val="1000"/>
              <a:buFont typeface="Inter"/>
              <a:buNone/>
            </a:pPr>
            <a:r>
              <a:rPr lang="en" sz="1000">
                <a:solidFill>
                  <a:srgbClr val="272525"/>
                </a:solidFill>
                <a:latin typeface="Inter"/>
                <a:ea typeface="Inter"/>
                <a:cs typeface="Inter"/>
                <a:sym typeface="Inter"/>
              </a:rPr>
              <a:t>The software stack spans embedded firmware, simulation, data processing, and IoT communication — enabling full end-to-end development from algorithm testing to physical deployment.</a:t>
            </a:r>
            <a:endParaRPr sz="1000">
              <a:solidFill>
                <a:schemeClr val="dk1"/>
              </a:solidFill>
              <a:latin typeface="Calibri"/>
              <a:ea typeface="Calibri"/>
              <a:cs typeface="Calibri"/>
              <a:sym typeface="Calibri"/>
            </a:endParaRPr>
          </a:p>
        </p:txBody>
      </p:sp>
      <p:sp>
        <p:nvSpPr>
          <p:cNvPr id="148" name="Google Shape;148;p20"/>
          <p:cNvSpPr/>
          <p:nvPr/>
        </p:nvSpPr>
        <p:spPr>
          <a:xfrm>
            <a:off x="465162" y="1790030"/>
            <a:ext cx="2547565" cy="20769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300"/>
              <a:buFont typeface="Inter"/>
              <a:buNone/>
            </a:pPr>
            <a:r>
              <a:rPr b="1" lang="en" sz="1300">
                <a:solidFill>
                  <a:srgbClr val="000000"/>
                </a:solidFill>
                <a:latin typeface="Inter"/>
                <a:ea typeface="Inter"/>
                <a:cs typeface="Inter"/>
                <a:sym typeface="Inter"/>
              </a:rPr>
              <a:t>Languages &amp; Frameworks</a:t>
            </a:r>
            <a:endParaRPr sz="1300">
              <a:solidFill>
                <a:schemeClr val="dk1"/>
              </a:solidFill>
              <a:latin typeface="Calibri"/>
              <a:ea typeface="Calibri"/>
              <a:cs typeface="Calibri"/>
              <a:sym typeface="Calibri"/>
            </a:endParaRPr>
          </a:p>
        </p:txBody>
      </p:sp>
      <p:sp>
        <p:nvSpPr>
          <p:cNvPr id="149" name="Google Shape;149;p20"/>
          <p:cNvSpPr/>
          <p:nvPr/>
        </p:nvSpPr>
        <p:spPr>
          <a:xfrm>
            <a:off x="465162" y="2122289"/>
            <a:ext cx="3944764" cy="911126"/>
          </a:xfrm>
          <a:prstGeom prst="rect">
            <a:avLst/>
          </a:prstGeom>
          <a:noFill/>
          <a:ln>
            <a:noFill/>
          </a:ln>
        </p:spPr>
        <p:txBody>
          <a:bodyPr anchorCtr="0" anchor="t" bIns="0" lIns="0" spcFirstLastPara="1" rIns="0" wrap="square" tIns="0">
            <a:noAutofit/>
          </a:bodyPr>
          <a:lstStyle/>
          <a:p>
            <a:pPr indent="-342900" lvl="0" marL="342900" marR="0" rtl="0" algn="l">
              <a:lnSpc>
                <a:spcPct val="129000"/>
              </a:lnSpc>
              <a:spcBef>
                <a:spcPts val="0"/>
              </a:spcBef>
              <a:spcAft>
                <a:spcPts val="0"/>
              </a:spcAft>
              <a:buClr>
                <a:srgbClr val="272525"/>
              </a:buClr>
              <a:buSzPts val="1000"/>
              <a:buFont typeface="Inter"/>
              <a:buChar char="•"/>
            </a:pPr>
            <a:r>
              <a:rPr b="1" lang="en" sz="1000">
                <a:solidFill>
                  <a:srgbClr val="272525"/>
                </a:solidFill>
                <a:latin typeface="Inter"/>
                <a:ea typeface="Inter"/>
                <a:cs typeface="Inter"/>
                <a:sym typeface="Inter"/>
              </a:rPr>
              <a:t>Python 3.x</a:t>
            </a:r>
            <a:r>
              <a:rPr lang="en" sz="1000">
                <a:solidFill>
                  <a:srgbClr val="272525"/>
                </a:solidFill>
                <a:latin typeface="Inter"/>
                <a:ea typeface="Inter"/>
                <a:cs typeface="Inter"/>
                <a:sym typeface="Inter"/>
              </a:rPr>
              <a:t> — Heuristic logic, sensor interfacing, Flask dashboard</a:t>
            </a:r>
            <a:endParaRPr sz="1000">
              <a:solidFill>
                <a:schemeClr val="dk1"/>
              </a:solidFill>
              <a:latin typeface="Calibri"/>
              <a:ea typeface="Calibri"/>
              <a:cs typeface="Calibri"/>
              <a:sym typeface="Calibri"/>
            </a:endParaRPr>
          </a:p>
          <a:p>
            <a:pPr indent="-342900" lvl="0" marL="342900" marR="0" rtl="0" algn="l">
              <a:lnSpc>
                <a:spcPct val="129000"/>
              </a:lnSpc>
              <a:spcBef>
                <a:spcPts val="0"/>
              </a:spcBef>
              <a:spcAft>
                <a:spcPts val="0"/>
              </a:spcAft>
              <a:buClr>
                <a:srgbClr val="272525"/>
              </a:buClr>
              <a:buSzPts val="1000"/>
              <a:buFont typeface="Inter"/>
              <a:buChar char="•"/>
            </a:pPr>
            <a:r>
              <a:rPr b="1" lang="en" sz="1000">
                <a:solidFill>
                  <a:srgbClr val="272525"/>
                </a:solidFill>
                <a:latin typeface="Inter"/>
                <a:ea typeface="Inter"/>
                <a:cs typeface="Inter"/>
                <a:sym typeface="Inter"/>
              </a:rPr>
              <a:t>C++ (Arduino IDE)</a:t>
            </a:r>
            <a:r>
              <a:rPr lang="en" sz="1000">
                <a:solidFill>
                  <a:srgbClr val="272525"/>
                </a:solidFill>
                <a:latin typeface="Inter"/>
                <a:ea typeface="Inter"/>
                <a:cs typeface="Inter"/>
                <a:sym typeface="Inter"/>
              </a:rPr>
              <a:t> — Embedded relay and signal firmware</a:t>
            </a:r>
            <a:endParaRPr sz="1000">
              <a:solidFill>
                <a:schemeClr val="dk1"/>
              </a:solidFill>
              <a:latin typeface="Calibri"/>
              <a:ea typeface="Calibri"/>
              <a:cs typeface="Calibri"/>
              <a:sym typeface="Calibri"/>
            </a:endParaRPr>
          </a:p>
          <a:p>
            <a:pPr indent="-342900" lvl="0" marL="342900" marR="0" rtl="0" algn="l">
              <a:lnSpc>
                <a:spcPct val="129000"/>
              </a:lnSpc>
              <a:spcBef>
                <a:spcPts val="0"/>
              </a:spcBef>
              <a:spcAft>
                <a:spcPts val="0"/>
              </a:spcAft>
              <a:buClr>
                <a:srgbClr val="272525"/>
              </a:buClr>
              <a:buSzPts val="1000"/>
              <a:buFont typeface="Inter"/>
              <a:buChar char="•"/>
            </a:pPr>
            <a:r>
              <a:rPr b="1" lang="en" sz="1000">
                <a:solidFill>
                  <a:srgbClr val="272525"/>
                </a:solidFill>
                <a:latin typeface="Inter"/>
                <a:ea typeface="Inter"/>
                <a:cs typeface="Inter"/>
                <a:sym typeface="Inter"/>
              </a:rPr>
              <a:t>HTML/CSS/JavaScript</a:t>
            </a:r>
            <a:r>
              <a:rPr lang="en" sz="1000">
                <a:solidFill>
                  <a:srgbClr val="272525"/>
                </a:solidFill>
                <a:latin typeface="Inter"/>
                <a:ea typeface="Inter"/>
                <a:cs typeface="Inter"/>
                <a:sym typeface="Inter"/>
              </a:rPr>
              <a:t> — Web dashboard front-end</a:t>
            </a:r>
            <a:endParaRPr sz="1000">
              <a:solidFill>
                <a:schemeClr val="dk1"/>
              </a:solidFill>
              <a:latin typeface="Calibri"/>
              <a:ea typeface="Calibri"/>
              <a:cs typeface="Calibri"/>
              <a:sym typeface="Calibri"/>
            </a:endParaRPr>
          </a:p>
        </p:txBody>
      </p:sp>
      <p:sp>
        <p:nvSpPr>
          <p:cNvPr id="150" name="Google Shape;150;p20"/>
          <p:cNvSpPr/>
          <p:nvPr/>
        </p:nvSpPr>
        <p:spPr>
          <a:xfrm>
            <a:off x="465162" y="3157984"/>
            <a:ext cx="2135832" cy="20769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300"/>
              <a:buFont typeface="Inter"/>
              <a:buNone/>
            </a:pPr>
            <a:r>
              <a:rPr b="1" lang="en" sz="1300">
                <a:solidFill>
                  <a:srgbClr val="000000"/>
                </a:solidFill>
                <a:latin typeface="Inter"/>
                <a:ea typeface="Inter"/>
                <a:cs typeface="Inter"/>
                <a:sym typeface="Inter"/>
              </a:rPr>
              <a:t>Key Python Libraries</a:t>
            </a:r>
            <a:endParaRPr sz="1300">
              <a:solidFill>
                <a:schemeClr val="dk1"/>
              </a:solidFill>
              <a:latin typeface="Calibri"/>
              <a:ea typeface="Calibri"/>
              <a:cs typeface="Calibri"/>
              <a:sym typeface="Calibri"/>
            </a:endParaRPr>
          </a:p>
        </p:txBody>
      </p:sp>
      <p:sp>
        <p:nvSpPr>
          <p:cNvPr id="151" name="Google Shape;151;p20"/>
          <p:cNvSpPr/>
          <p:nvPr/>
        </p:nvSpPr>
        <p:spPr>
          <a:xfrm>
            <a:off x="465162" y="3490243"/>
            <a:ext cx="3944764" cy="1117104"/>
          </a:xfrm>
          <a:prstGeom prst="rect">
            <a:avLst/>
          </a:prstGeom>
          <a:noFill/>
          <a:ln>
            <a:noFill/>
          </a:ln>
        </p:spPr>
        <p:txBody>
          <a:bodyPr anchorCtr="0" anchor="t" bIns="0" lIns="0" spcFirstLastPara="1" rIns="0" wrap="square" tIns="0">
            <a:noAutofit/>
          </a:bodyPr>
          <a:lstStyle/>
          <a:p>
            <a:pPr indent="-342900" lvl="0" marL="342900" marR="0" rtl="0" algn="l">
              <a:lnSpc>
                <a:spcPct val="129000"/>
              </a:lnSpc>
              <a:spcBef>
                <a:spcPts val="0"/>
              </a:spcBef>
              <a:spcAft>
                <a:spcPts val="0"/>
              </a:spcAft>
              <a:buClr>
                <a:srgbClr val="272525"/>
              </a:buClr>
              <a:buSzPts val="1000"/>
              <a:buFont typeface="Inter"/>
              <a:buChar char="•"/>
            </a:pPr>
            <a:r>
              <a:rPr b="1" lang="en" sz="1000">
                <a:solidFill>
                  <a:srgbClr val="272525"/>
                </a:solidFill>
                <a:latin typeface="Inter"/>
                <a:ea typeface="Inter"/>
                <a:cs typeface="Inter"/>
                <a:sym typeface="Inter"/>
              </a:rPr>
              <a:t>NumPy / Pandas</a:t>
            </a:r>
            <a:r>
              <a:rPr lang="en" sz="1000">
                <a:solidFill>
                  <a:srgbClr val="272525"/>
                </a:solidFill>
                <a:latin typeface="Inter"/>
                <a:ea typeface="Inter"/>
                <a:cs typeface="Inter"/>
                <a:sym typeface="Inter"/>
              </a:rPr>
              <a:t> — Sensor data processing and traffic log analysis</a:t>
            </a:r>
            <a:endParaRPr sz="1000">
              <a:solidFill>
                <a:schemeClr val="dk1"/>
              </a:solidFill>
              <a:latin typeface="Calibri"/>
              <a:ea typeface="Calibri"/>
              <a:cs typeface="Calibri"/>
              <a:sym typeface="Calibri"/>
            </a:endParaRPr>
          </a:p>
          <a:p>
            <a:pPr indent="-342900" lvl="0" marL="342900" marR="0" rtl="0" algn="l">
              <a:lnSpc>
                <a:spcPct val="129000"/>
              </a:lnSpc>
              <a:spcBef>
                <a:spcPts val="0"/>
              </a:spcBef>
              <a:spcAft>
                <a:spcPts val="0"/>
              </a:spcAft>
              <a:buClr>
                <a:srgbClr val="272525"/>
              </a:buClr>
              <a:buSzPts val="1000"/>
              <a:buFont typeface="Inter"/>
              <a:buChar char="•"/>
            </a:pPr>
            <a:r>
              <a:rPr b="1" lang="en" sz="1000">
                <a:solidFill>
                  <a:srgbClr val="272525"/>
                </a:solidFill>
                <a:latin typeface="Inter"/>
                <a:ea typeface="Inter"/>
                <a:cs typeface="Inter"/>
                <a:sym typeface="Inter"/>
              </a:rPr>
              <a:t>Matplotlib</a:t>
            </a:r>
            <a:r>
              <a:rPr lang="en" sz="1000">
                <a:solidFill>
                  <a:srgbClr val="272525"/>
                </a:solidFill>
                <a:latin typeface="Inter"/>
                <a:ea typeface="Inter"/>
                <a:cs typeface="Inter"/>
                <a:sym typeface="Inter"/>
              </a:rPr>
              <a:t> — Performance charts and flow visualization</a:t>
            </a:r>
            <a:endParaRPr sz="1000">
              <a:solidFill>
                <a:schemeClr val="dk1"/>
              </a:solidFill>
              <a:latin typeface="Calibri"/>
              <a:ea typeface="Calibri"/>
              <a:cs typeface="Calibri"/>
              <a:sym typeface="Calibri"/>
            </a:endParaRPr>
          </a:p>
          <a:p>
            <a:pPr indent="-342900" lvl="0" marL="342900" marR="0" rtl="0" algn="l">
              <a:lnSpc>
                <a:spcPct val="129000"/>
              </a:lnSpc>
              <a:spcBef>
                <a:spcPts val="0"/>
              </a:spcBef>
              <a:spcAft>
                <a:spcPts val="0"/>
              </a:spcAft>
              <a:buClr>
                <a:srgbClr val="272525"/>
              </a:buClr>
              <a:buSzPts val="1000"/>
              <a:buFont typeface="Inter"/>
              <a:buChar char="•"/>
            </a:pPr>
            <a:r>
              <a:rPr b="1" lang="en" sz="1000">
                <a:solidFill>
                  <a:srgbClr val="272525"/>
                </a:solidFill>
                <a:latin typeface="Inter"/>
                <a:ea typeface="Inter"/>
                <a:cs typeface="Inter"/>
                <a:sym typeface="Inter"/>
              </a:rPr>
              <a:t>Flask / PySerial / RPi.GPIO</a:t>
            </a:r>
            <a:r>
              <a:rPr lang="en" sz="1000">
                <a:solidFill>
                  <a:srgbClr val="272525"/>
                </a:solidFill>
                <a:latin typeface="Inter"/>
                <a:ea typeface="Inter"/>
                <a:cs typeface="Inter"/>
                <a:sym typeface="Inter"/>
              </a:rPr>
              <a:t> — Dashboard, Arduino comms, GPIO control</a:t>
            </a:r>
            <a:endParaRPr sz="1000">
              <a:solidFill>
                <a:schemeClr val="dk1"/>
              </a:solidFill>
              <a:latin typeface="Calibri"/>
              <a:ea typeface="Calibri"/>
              <a:cs typeface="Calibri"/>
              <a:sym typeface="Calibri"/>
            </a:endParaRPr>
          </a:p>
        </p:txBody>
      </p:sp>
      <p:sp>
        <p:nvSpPr>
          <p:cNvPr id="152" name="Google Shape;152;p20"/>
          <p:cNvSpPr/>
          <p:nvPr/>
        </p:nvSpPr>
        <p:spPr>
          <a:xfrm>
            <a:off x="4738836" y="1790030"/>
            <a:ext cx="2118494" cy="20769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300"/>
              <a:buFont typeface="Inter"/>
              <a:buNone/>
            </a:pPr>
            <a:r>
              <a:rPr b="1" lang="en" sz="1300">
                <a:solidFill>
                  <a:srgbClr val="000000"/>
                </a:solidFill>
                <a:latin typeface="Inter"/>
                <a:ea typeface="Inter"/>
                <a:cs typeface="Inter"/>
                <a:sym typeface="Inter"/>
              </a:rPr>
              <a:t>Simulation &amp; IoT</a:t>
            </a:r>
            <a:endParaRPr sz="1300">
              <a:solidFill>
                <a:schemeClr val="dk1"/>
              </a:solidFill>
              <a:latin typeface="Calibri"/>
              <a:ea typeface="Calibri"/>
              <a:cs typeface="Calibri"/>
              <a:sym typeface="Calibri"/>
            </a:endParaRPr>
          </a:p>
        </p:txBody>
      </p:sp>
      <p:sp>
        <p:nvSpPr>
          <p:cNvPr id="153" name="Google Shape;153;p20"/>
          <p:cNvSpPr/>
          <p:nvPr/>
        </p:nvSpPr>
        <p:spPr>
          <a:xfrm>
            <a:off x="4738836" y="2122289"/>
            <a:ext cx="3944764" cy="1117104"/>
          </a:xfrm>
          <a:prstGeom prst="rect">
            <a:avLst/>
          </a:prstGeom>
          <a:noFill/>
          <a:ln>
            <a:noFill/>
          </a:ln>
        </p:spPr>
        <p:txBody>
          <a:bodyPr anchorCtr="0" anchor="t" bIns="0" lIns="0" spcFirstLastPara="1" rIns="0" wrap="square" tIns="0">
            <a:noAutofit/>
          </a:bodyPr>
          <a:lstStyle/>
          <a:p>
            <a:pPr indent="-342900" lvl="0" marL="342900" marR="0" rtl="0" algn="l">
              <a:lnSpc>
                <a:spcPct val="129000"/>
              </a:lnSpc>
              <a:spcBef>
                <a:spcPts val="0"/>
              </a:spcBef>
              <a:spcAft>
                <a:spcPts val="0"/>
              </a:spcAft>
              <a:buClr>
                <a:srgbClr val="272525"/>
              </a:buClr>
              <a:buSzPts val="1000"/>
              <a:buFont typeface="Inter"/>
              <a:buChar char="•"/>
            </a:pPr>
            <a:r>
              <a:rPr b="1" lang="en" sz="1000">
                <a:solidFill>
                  <a:srgbClr val="272525"/>
                </a:solidFill>
                <a:latin typeface="Inter"/>
                <a:ea typeface="Inter"/>
                <a:cs typeface="Inter"/>
                <a:sym typeface="Inter"/>
              </a:rPr>
              <a:t>SUMO</a:t>
            </a:r>
            <a:r>
              <a:rPr lang="en" sz="1000">
                <a:solidFill>
                  <a:srgbClr val="272525"/>
                </a:solidFill>
                <a:latin typeface="Inter"/>
                <a:ea typeface="Inter"/>
                <a:cs typeface="Inter"/>
                <a:sym typeface="Inter"/>
              </a:rPr>
              <a:t> — Open-source urban mobility simulator for pre-deployment algorithm testing</a:t>
            </a:r>
            <a:endParaRPr sz="1000">
              <a:solidFill>
                <a:schemeClr val="dk1"/>
              </a:solidFill>
              <a:latin typeface="Calibri"/>
              <a:ea typeface="Calibri"/>
              <a:cs typeface="Calibri"/>
              <a:sym typeface="Calibri"/>
            </a:endParaRPr>
          </a:p>
          <a:p>
            <a:pPr indent="-342900" lvl="0" marL="342900" marR="0" rtl="0" algn="l">
              <a:lnSpc>
                <a:spcPct val="129000"/>
              </a:lnSpc>
              <a:spcBef>
                <a:spcPts val="0"/>
              </a:spcBef>
              <a:spcAft>
                <a:spcPts val="0"/>
              </a:spcAft>
              <a:buClr>
                <a:srgbClr val="272525"/>
              </a:buClr>
              <a:buSzPts val="1000"/>
              <a:buFont typeface="Inter"/>
              <a:buChar char="•"/>
            </a:pPr>
            <a:r>
              <a:rPr b="1" lang="en" sz="1000">
                <a:solidFill>
                  <a:srgbClr val="272525"/>
                </a:solidFill>
                <a:latin typeface="Inter"/>
                <a:ea typeface="Inter"/>
                <a:cs typeface="Inter"/>
                <a:sym typeface="Inter"/>
              </a:rPr>
              <a:t>TraCI API</a:t>
            </a:r>
            <a:r>
              <a:rPr lang="en" sz="1000">
                <a:solidFill>
                  <a:srgbClr val="272525"/>
                </a:solidFill>
                <a:latin typeface="Inter"/>
                <a:ea typeface="Inter"/>
                <a:cs typeface="Inter"/>
                <a:sym typeface="Inter"/>
              </a:rPr>
              <a:t> — Python interface for real-time SUMO control</a:t>
            </a:r>
            <a:endParaRPr sz="1000">
              <a:solidFill>
                <a:schemeClr val="dk1"/>
              </a:solidFill>
              <a:latin typeface="Calibri"/>
              <a:ea typeface="Calibri"/>
              <a:cs typeface="Calibri"/>
              <a:sym typeface="Calibri"/>
            </a:endParaRPr>
          </a:p>
          <a:p>
            <a:pPr indent="-342900" lvl="0" marL="342900" marR="0" rtl="0" algn="l">
              <a:lnSpc>
                <a:spcPct val="129000"/>
              </a:lnSpc>
              <a:spcBef>
                <a:spcPts val="0"/>
              </a:spcBef>
              <a:spcAft>
                <a:spcPts val="0"/>
              </a:spcAft>
              <a:buClr>
                <a:srgbClr val="272525"/>
              </a:buClr>
              <a:buSzPts val="1000"/>
              <a:buFont typeface="Inter"/>
              <a:buChar char="•"/>
            </a:pPr>
            <a:r>
              <a:rPr b="1" lang="en" sz="1000">
                <a:solidFill>
                  <a:srgbClr val="272525"/>
                </a:solidFill>
                <a:latin typeface="Inter"/>
                <a:ea typeface="Inter"/>
                <a:cs typeface="Inter"/>
                <a:sym typeface="Inter"/>
              </a:rPr>
              <a:t>MQTT (Mosquitto)</a:t>
            </a:r>
            <a:r>
              <a:rPr lang="en" sz="1000">
                <a:solidFill>
                  <a:srgbClr val="272525"/>
                </a:solidFill>
                <a:latin typeface="Inter"/>
                <a:ea typeface="Inter"/>
                <a:cs typeface="Inter"/>
                <a:sym typeface="Inter"/>
              </a:rPr>
              <a:t> — Lightweight pub/sub sensor-to-controller messaging</a:t>
            </a:r>
            <a:endParaRPr sz="1000">
              <a:solidFill>
                <a:schemeClr val="dk1"/>
              </a:solidFill>
              <a:latin typeface="Calibri"/>
              <a:ea typeface="Calibri"/>
              <a:cs typeface="Calibri"/>
              <a:sym typeface="Calibri"/>
            </a:endParaRPr>
          </a:p>
        </p:txBody>
      </p:sp>
      <p:sp>
        <p:nvSpPr>
          <p:cNvPr id="154" name="Google Shape;154;p20"/>
          <p:cNvSpPr/>
          <p:nvPr/>
        </p:nvSpPr>
        <p:spPr>
          <a:xfrm>
            <a:off x="4738836" y="3363962"/>
            <a:ext cx="2118494" cy="20769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300"/>
              <a:buFont typeface="Inter"/>
              <a:buNone/>
            </a:pPr>
            <a:r>
              <a:rPr b="1" lang="en" sz="1300">
                <a:solidFill>
                  <a:srgbClr val="000000"/>
                </a:solidFill>
                <a:latin typeface="Inter"/>
                <a:ea typeface="Inter"/>
                <a:cs typeface="Inter"/>
                <a:sym typeface="Inter"/>
              </a:rPr>
              <a:t>Development Tools</a:t>
            </a:r>
            <a:endParaRPr sz="1300">
              <a:solidFill>
                <a:schemeClr val="dk1"/>
              </a:solidFill>
              <a:latin typeface="Calibri"/>
              <a:ea typeface="Calibri"/>
              <a:cs typeface="Calibri"/>
              <a:sym typeface="Calibri"/>
            </a:endParaRPr>
          </a:p>
        </p:txBody>
      </p:sp>
      <p:sp>
        <p:nvSpPr>
          <p:cNvPr id="155" name="Google Shape;155;p20"/>
          <p:cNvSpPr/>
          <p:nvPr/>
        </p:nvSpPr>
        <p:spPr>
          <a:xfrm>
            <a:off x="4738836" y="3696221"/>
            <a:ext cx="3944764" cy="954732"/>
          </a:xfrm>
          <a:prstGeom prst="rect">
            <a:avLst/>
          </a:prstGeom>
          <a:noFill/>
          <a:ln>
            <a:noFill/>
          </a:ln>
        </p:spPr>
        <p:txBody>
          <a:bodyPr anchorCtr="0" anchor="t" bIns="0" lIns="0" spcFirstLastPara="1" rIns="0" wrap="square" tIns="0">
            <a:noAutofit/>
          </a:bodyPr>
          <a:lstStyle/>
          <a:p>
            <a:pPr indent="-342900" lvl="0" marL="342900" marR="0" rtl="0" algn="l">
              <a:lnSpc>
                <a:spcPct val="129000"/>
              </a:lnSpc>
              <a:spcBef>
                <a:spcPts val="0"/>
              </a:spcBef>
              <a:spcAft>
                <a:spcPts val="0"/>
              </a:spcAft>
              <a:buClr>
                <a:srgbClr val="272525"/>
              </a:buClr>
              <a:buSzPts val="1000"/>
              <a:buFont typeface="Inter"/>
              <a:buChar char="•"/>
            </a:pPr>
            <a:r>
              <a:rPr lang="en" sz="1000">
                <a:solidFill>
                  <a:srgbClr val="272525"/>
                </a:solidFill>
                <a:latin typeface="Inter"/>
                <a:ea typeface="Inter"/>
                <a:cs typeface="Inter"/>
                <a:sym typeface="Inter"/>
              </a:rPr>
              <a:t>VS Code / PyCharm — Python IDE</a:t>
            </a:r>
            <a:endParaRPr sz="1000">
              <a:solidFill>
                <a:schemeClr val="dk1"/>
              </a:solidFill>
              <a:latin typeface="Calibri"/>
              <a:ea typeface="Calibri"/>
              <a:cs typeface="Calibri"/>
              <a:sym typeface="Calibri"/>
            </a:endParaRPr>
          </a:p>
          <a:p>
            <a:pPr indent="-342900" lvl="0" marL="342900" marR="0" rtl="0" algn="l">
              <a:lnSpc>
                <a:spcPct val="129000"/>
              </a:lnSpc>
              <a:spcBef>
                <a:spcPts val="0"/>
              </a:spcBef>
              <a:spcAft>
                <a:spcPts val="0"/>
              </a:spcAft>
              <a:buClr>
                <a:srgbClr val="272525"/>
              </a:buClr>
              <a:buSzPts val="1000"/>
              <a:buFont typeface="Inter"/>
              <a:buChar char="•"/>
            </a:pPr>
            <a:r>
              <a:rPr lang="en" sz="1000">
                <a:solidFill>
                  <a:srgbClr val="272525"/>
                </a:solidFill>
                <a:latin typeface="Inter"/>
                <a:ea typeface="Inter"/>
                <a:cs typeface="Inter"/>
                <a:sym typeface="Inter"/>
              </a:rPr>
              <a:t>Git + GitHub — Version control</a:t>
            </a:r>
            <a:endParaRPr sz="1000">
              <a:solidFill>
                <a:schemeClr val="dk1"/>
              </a:solidFill>
              <a:latin typeface="Calibri"/>
              <a:ea typeface="Calibri"/>
              <a:cs typeface="Calibri"/>
              <a:sym typeface="Calibri"/>
            </a:endParaRPr>
          </a:p>
          <a:p>
            <a:pPr indent="-342900" lvl="0" marL="342900" marR="0" rtl="0" algn="l">
              <a:lnSpc>
                <a:spcPct val="129000"/>
              </a:lnSpc>
              <a:spcBef>
                <a:spcPts val="0"/>
              </a:spcBef>
              <a:spcAft>
                <a:spcPts val="0"/>
              </a:spcAft>
              <a:buClr>
                <a:srgbClr val="272525"/>
              </a:buClr>
              <a:buSzPts val="1000"/>
              <a:buFont typeface="Inter"/>
              <a:buChar char="•"/>
            </a:pPr>
            <a:r>
              <a:rPr lang="en" sz="1000">
                <a:solidFill>
                  <a:srgbClr val="272525"/>
                </a:solidFill>
                <a:latin typeface="Inter"/>
                <a:ea typeface="Inter"/>
                <a:cs typeface="Inter"/>
                <a:sym typeface="Inter"/>
              </a:rPr>
              <a:t>SQLite + CSV — Local logging and post-analysis</a:t>
            </a:r>
            <a:endParaRPr sz="1000">
              <a:solidFill>
                <a:schemeClr val="dk1"/>
              </a:solidFill>
              <a:latin typeface="Calibri"/>
              <a:ea typeface="Calibri"/>
              <a:cs typeface="Calibri"/>
              <a:sym typeface="Calibri"/>
            </a:endParaRPr>
          </a:p>
          <a:p>
            <a:pPr indent="-342900" lvl="0" marL="342900" marR="0" rtl="0" algn="l">
              <a:lnSpc>
                <a:spcPct val="129000"/>
              </a:lnSpc>
              <a:spcBef>
                <a:spcPts val="0"/>
              </a:spcBef>
              <a:spcAft>
                <a:spcPts val="0"/>
              </a:spcAft>
              <a:buClr>
                <a:srgbClr val="272525"/>
              </a:buClr>
              <a:buSzPts val="1000"/>
              <a:buFont typeface="Inter"/>
              <a:buChar char="•"/>
            </a:pPr>
            <a:r>
              <a:rPr lang="en" sz="1000">
                <a:solidFill>
                  <a:srgbClr val="272525"/>
                </a:solidFill>
                <a:latin typeface="Inter"/>
                <a:ea typeface="Inter"/>
                <a:cs typeface="Inter"/>
                <a:sym typeface="Inter"/>
              </a:rPr>
              <a:t>Draw.io — Architecture diagrams</a:t>
            </a:r>
            <a:endParaRPr sz="1000">
              <a:solidFill>
                <a:schemeClr val="dk1"/>
              </a:solidFill>
              <a:latin typeface="Calibri"/>
              <a:ea typeface="Calibri"/>
              <a:cs typeface="Calibri"/>
              <a:sym typeface="Calibri"/>
            </a:endParaRPr>
          </a:p>
        </p:txBody>
      </p:sp>
      <p:pic>
        <p:nvPicPr>
          <p:cNvPr id="156" name="Google Shape;156;p20"/>
          <p:cNvPicPr preferRelativeResize="0"/>
          <p:nvPr/>
        </p:nvPicPr>
        <p:blipFill rotWithShape="1">
          <a:blip r:embed="rId3">
            <a:alphaModFix/>
          </a:blip>
          <a:srcRect b="0" l="0" r="0" t="0"/>
          <a:stretch/>
        </p:blipFill>
        <p:spPr>
          <a:xfrm>
            <a:off x="5798083" y="4679096"/>
            <a:ext cx="3277057" cy="42868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1"/>
          <p:cNvSpPr/>
          <p:nvPr/>
        </p:nvSpPr>
        <p:spPr>
          <a:xfrm>
            <a:off x="426393" y="351532"/>
            <a:ext cx="3929732" cy="38070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350"/>
              <a:buFont typeface="Inter"/>
              <a:buNone/>
            </a:pPr>
            <a:r>
              <a:rPr b="1" lang="en" sz="2350">
                <a:solidFill>
                  <a:srgbClr val="000000"/>
                </a:solidFill>
                <a:latin typeface="Inter"/>
                <a:ea typeface="Inter"/>
                <a:cs typeface="Inter"/>
                <a:sym typeface="Inter"/>
              </a:rPr>
              <a:t>Methodology Overview</a:t>
            </a:r>
            <a:endParaRPr sz="2350">
              <a:solidFill>
                <a:schemeClr val="dk1"/>
              </a:solidFill>
              <a:latin typeface="Calibri"/>
              <a:ea typeface="Calibri"/>
              <a:cs typeface="Calibri"/>
              <a:sym typeface="Calibri"/>
            </a:endParaRPr>
          </a:p>
        </p:txBody>
      </p:sp>
      <p:sp>
        <p:nvSpPr>
          <p:cNvPr id="163" name="Google Shape;163;p21"/>
          <p:cNvSpPr/>
          <p:nvPr/>
        </p:nvSpPr>
        <p:spPr>
          <a:xfrm>
            <a:off x="426393" y="941561"/>
            <a:ext cx="8291215" cy="36239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The project methodology follows a structured three-stage pipeline — beginning with a deep study of established real-world systems, identifying their gaps, and using those insights to drive the design of the proposed heuristic controller.</a:t>
            </a:r>
            <a:endParaRPr sz="950">
              <a:solidFill>
                <a:schemeClr val="dk1"/>
              </a:solidFill>
              <a:latin typeface="Calibri"/>
              <a:ea typeface="Calibri"/>
              <a:cs typeface="Calibri"/>
              <a:sym typeface="Calibri"/>
            </a:endParaRPr>
          </a:p>
        </p:txBody>
      </p:sp>
      <p:pic>
        <p:nvPicPr>
          <p:cNvPr descr="preencoded.png" id="164" name="Google Shape;164;p21"/>
          <p:cNvPicPr preferRelativeResize="0"/>
          <p:nvPr/>
        </p:nvPicPr>
        <p:blipFill rotWithShape="1">
          <a:blip r:embed="rId3">
            <a:alphaModFix/>
          </a:blip>
          <a:srcRect b="0" l="0" r="0" t="0"/>
          <a:stretch/>
        </p:blipFill>
        <p:spPr>
          <a:xfrm>
            <a:off x="2137172" y="1421681"/>
            <a:ext cx="4869656" cy="2890168"/>
          </a:xfrm>
          <a:prstGeom prst="rect">
            <a:avLst/>
          </a:prstGeom>
          <a:noFill/>
          <a:ln>
            <a:noFill/>
          </a:ln>
        </p:spPr>
      </p:pic>
      <p:sp>
        <p:nvSpPr>
          <p:cNvPr descr="preencoded.png" id="165" name="Google Shape;165;p21"/>
          <p:cNvSpPr/>
          <p:nvPr/>
        </p:nvSpPr>
        <p:spPr>
          <a:xfrm>
            <a:off x="5895869" y="2128086"/>
            <a:ext cx="414551" cy="414551"/>
          </a:xfrm>
          <a:prstGeom prst="rect">
            <a:avLst/>
          </a:prstGeom>
          <a:noFill/>
          <a:ln>
            <a:noFill/>
          </a:ln>
        </p:spPr>
      </p:sp>
      <p:sp>
        <p:nvSpPr>
          <p:cNvPr id="166" name="Google Shape;166;p21"/>
          <p:cNvSpPr/>
          <p:nvPr/>
        </p:nvSpPr>
        <p:spPr>
          <a:xfrm>
            <a:off x="5526530" y="3524865"/>
            <a:ext cx="1210491" cy="46637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272525"/>
              </a:buClr>
              <a:buSzPts val="1450"/>
              <a:buFont typeface="Inter"/>
              <a:buNone/>
            </a:pPr>
            <a:r>
              <a:rPr b="1" lang="en" sz="1450">
                <a:solidFill>
                  <a:srgbClr val="272525"/>
                </a:solidFill>
                <a:latin typeface="Inter"/>
                <a:ea typeface="Inter"/>
                <a:cs typeface="Inter"/>
                <a:sym typeface="Inter"/>
              </a:rPr>
              <a:t>Design &amp; Validate</a:t>
            </a:r>
            <a:endParaRPr sz="1450">
              <a:solidFill>
                <a:schemeClr val="dk1"/>
              </a:solidFill>
              <a:latin typeface="Calibri"/>
              <a:ea typeface="Calibri"/>
              <a:cs typeface="Calibri"/>
              <a:sym typeface="Calibri"/>
            </a:endParaRPr>
          </a:p>
        </p:txBody>
      </p:sp>
      <p:sp>
        <p:nvSpPr>
          <p:cNvPr descr="preencoded.png" id="167" name="Google Shape;167;p21"/>
          <p:cNvSpPr/>
          <p:nvPr/>
        </p:nvSpPr>
        <p:spPr>
          <a:xfrm>
            <a:off x="4378222" y="2128863"/>
            <a:ext cx="414551" cy="414551"/>
          </a:xfrm>
          <a:prstGeom prst="rect">
            <a:avLst/>
          </a:prstGeom>
          <a:noFill/>
          <a:ln>
            <a:noFill/>
          </a:ln>
        </p:spPr>
      </p:sp>
      <p:sp>
        <p:nvSpPr>
          <p:cNvPr id="168" name="Google Shape;168;p21"/>
          <p:cNvSpPr/>
          <p:nvPr/>
        </p:nvSpPr>
        <p:spPr>
          <a:xfrm>
            <a:off x="3772380" y="3641458"/>
            <a:ext cx="1439090" cy="233185"/>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272525"/>
              </a:buClr>
              <a:buSzPts val="1450"/>
              <a:buFont typeface="Inter"/>
              <a:buNone/>
            </a:pPr>
            <a:r>
              <a:rPr b="1" lang="en" sz="1450">
                <a:solidFill>
                  <a:srgbClr val="272525"/>
                </a:solidFill>
                <a:latin typeface="Inter"/>
                <a:ea typeface="Inter"/>
                <a:cs typeface="Inter"/>
                <a:sym typeface="Inter"/>
              </a:rPr>
              <a:t>Gap Analysis</a:t>
            </a:r>
            <a:endParaRPr sz="1450">
              <a:solidFill>
                <a:schemeClr val="dk1"/>
              </a:solidFill>
              <a:latin typeface="Calibri"/>
              <a:ea typeface="Calibri"/>
              <a:cs typeface="Calibri"/>
              <a:sym typeface="Calibri"/>
            </a:endParaRPr>
          </a:p>
        </p:txBody>
      </p:sp>
      <p:sp>
        <p:nvSpPr>
          <p:cNvPr descr="preencoded.png" id="169" name="Google Shape;169;p21"/>
          <p:cNvSpPr/>
          <p:nvPr/>
        </p:nvSpPr>
        <p:spPr>
          <a:xfrm>
            <a:off x="2852673" y="2128863"/>
            <a:ext cx="414551" cy="414551"/>
          </a:xfrm>
          <a:prstGeom prst="rect">
            <a:avLst/>
          </a:prstGeom>
          <a:noFill/>
          <a:ln>
            <a:noFill/>
          </a:ln>
        </p:spPr>
      </p:sp>
      <p:sp>
        <p:nvSpPr>
          <p:cNvPr id="170" name="Google Shape;170;p21"/>
          <p:cNvSpPr/>
          <p:nvPr/>
        </p:nvSpPr>
        <p:spPr>
          <a:xfrm>
            <a:off x="2450558" y="3408272"/>
            <a:ext cx="1210490" cy="699556"/>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272525"/>
              </a:buClr>
              <a:buSzPts val="1450"/>
              <a:buFont typeface="Inter"/>
              <a:buNone/>
            </a:pPr>
            <a:r>
              <a:rPr b="1" lang="en" sz="1450">
                <a:solidFill>
                  <a:srgbClr val="272525"/>
                </a:solidFill>
                <a:latin typeface="Inter"/>
                <a:ea typeface="Inter"/>
                <a:cs typeface="Inter"/>
                <a:sym typeface="Inter"/>
              </a:rPr>
              <a:t>Study SCOOT &amp; SCATS</a:t>
            </a:r>
            <a:endParaRPr sz="1450">
              <a:solidFill>
                <a:schemeClr val="dk1"/>
              </a:solidFill>
              <a:latin typeface="Calibri"/>
              <a:ea typeface="Calibri"/>
              <a:cs typeface="Calibri"/>
              <a:sym typeface="Calibri"/>
            </a:endParaRPr>
          </a:p>
        </p:txBody>
      </p:sp>
      <p:sp>
        <p:nvSpPr>
          <p:cNvPr id="171" name="Google Shape;171;p21"/>
          <p:cNvSpPr/>
          <p:nvPr/>
        </p:nvSpPr>
        <p:spPr>
          <a:xfrm>
            <a:off x="426393" y="4429571"/>
            <a:ext cx="8291215" cy="36239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This evidence-driven approach ensures that every design decision in the proposed system is motivated by a documented gap in existing state-of-the-art solutions, strengthening both academic rigor and practical relevance.</a:t>
            </a:r>
            <a:endParaRPr sz="950">
              <a:solidFill>
                <a:schemeClr val="dk1"/>
              </a:solidFill>
              <a:latin typeface="Calibri"/>
              <a:ea typeface="Calibri"/>
              <a:cs typeface="Calibri"/>
              <a:sym typeface="Calibri"/>
            </a:endParaRPr>
          </a:p>
        </p:txBody>
      </p:sp>
      <p:pic>
        <p:nvPicPr>
          <p:cNvPr id="172" name="Google Shape;172;p21"/>
          <p:cNvPicPr preferRelativeResize="0"/>
          <p:nvPr/>
        </p:nvPicPr>
        <p:blipFill rotWithShape="1">
          <a:blip r:embed="rId4">
            <a:alphaModFix/>
          </a:blip>
          <a:srcRect b="0" l="0" r="0" t="0"/>
          <a:stretch/>
        </p:blipFill>
        <p:spPr>
          <a:xfrm>
            <a:off x="5866943" y="4714815"/>
            <a:ext cx="3277057" cy="42868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descr="preencoded.png" id="178" name="Google Shape;178;p22"/>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179" name="Google Shape;179;p22"/>
          <p:cNvSpPr/>
          <p:nvPr/>
        </p:nvSpPr>
        <p:spPr>
          <a:xfrm>
            <a:off x="3863132" y="363513"/>
            <a:ext cx="4846737" cy="77509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400"/>
              <a:buFont typeface="Inter"/>
              <a:buNone/>
            </a:pPr>
            <a:r>
              <a:rPr b="1" lang="en" sz="2400">
                <a:solidFill>
                  <a:srgbClr val="000000"/>
                </a:solidFill>
                <a:latin typeface="Inter"/>
                <a:ea typeface="Inter"/>
                <a:cs typeface="Inter"/>
                <a:sym typeface="Inter"/>
              </a:rPr>
              <a:t>Existing System 1 — SCOOT Overview</a:t>
            </a:r>
            <a:endParaRPr sz="2400">
              <a:solidFill>
                <a:schemeClr val="dk1"/>
              </a:solidFill>
              <a:latin typeface="Calibri"/>
              <a:ea typeface="Calibri"/>
              <a:cs typeface="Calibri"/>
              <a:sym typeface="Calibri"/>
            </a:endParaRPr>
          </a:p>
        </p:txBody>
      </p:sp>
      <p:sp>
        <p:nvSpPr>
          <p:cNvPr id="180" name="Google Shape;180;p22"/>
          <p:cNvSpPr/>
          <p:nvPr/>
        </p:nvSpPr>
        <p:spPr>
          <a:xfrm>
            <a:off x="3863132" y="1301353"/>
            <a:ext cx="3739083" cy="232842"/>
          </a:xfrm>
          <a:prstGeom prst="roundRect">
            <a:avLst>
              <a:gd fmla="val 17900" name="adj"/>
            </a:avLst>
          </a:prstGeom>
          <a:noFill/>
          <a:ln cap="flat" cmpd="sng" w="9525">
            <a:solidFill>
              <a:srgbClr val="4950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2"/>
          <p:cNvSpPr/>
          <p:nvPr/>
        </p:nvSpPr>
        <p:spPr>
          <a:xfrm>
            <a:off x="3942308" y="1343323"/>
            <a:ext cx="4037930" cy="14890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950BC"/>
              </a:buClr>
              <a:buSzPts val="750"/>
              <a:buFont typeface="Inter"/>
              <a:buNone/>
            </a:pPr>
            <a:r>
              <a:rPr lang="en" sz="750">
                <a:solidFill>
                  <a:srgbClr val="4950BC"/>
                </a:solidFill>
                <a:latin typeface="Inter"/>
                <a:ea typeface="Inter"/>
                <a:cs typeface="Inter"/>
                <a:sym typeface="Inter"/>
              </a:rPr>
              <a:t>UK TRANSPORT RESEARCH LABORATORY, 1979 · 100+ CITIES WORLDWIDE</a:t>
            </a:r>
            <a:endParaRPr sz="750">
              <a:solidFill>
                <a:schemeClr val="dk1"/>
              </a:solidFill>
              <a:latin typeface="Calibri"/>
              <a:ea typeface="Calibri"/>
              <a:cs typeface="Calibri"/>
              <a:sym typeface="Calibri"/>
            </a:endParaRPr>
          </a:p>
        </p:txBody>
      </p:sp>
      <p:sp>
        <p:nvSpPr>
          <p:cNvPr id="182" name="Google Shape;182;p22"/>
          <p:cNvSpPr/>
          <p:nvPr/>
        </p:nvSpPr>
        <p:spPr>
          <a:xfrm>
            <a:off x="3863132" y="1656234"/>
            <a:ext cx="4846737" cy="7441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950"/>
              <a:buFont typeface="Inter"/>
              <a:buNone/>
            </a:pPr>
            <a:r>
              <a:rPr b="1" lang="en" sz="950">
                <a:solidFill>
                  <a:srgbClr val="272525"/>
                </a:solidFill>
                <a:latin typeface="Inter"/>
                <a:ea typeface="Inter"/>
                <a:cs typeface="Inter"/>
                <a:sym typeface="Inter"/>
              </a:rPr>
              <a:t>SCOOT (Split Cycle Offset Optimization Technique)</a:t>
            </a:r>
            <a:r>
              <a:rPr lang="en" sz="950">
                <a:solidFill>
                  <a:srgbClr val="272525"/>
                </a:solidFill>
                <a:latin typeface="Inter"/>
                <a:ea typeface="Inter"/>
                <a:cs typeface="Inter"/>
                <a:sym typeface="Inter"/>
              </a:rPr>
              <a:t> is one of the world's most widely deployed adaptive traffic signal systems. It continuously monitors vehicle flow using upstream inductive loop detectors and makes frequent, incremental adjustments to minimize network-wide delay and queue lengths.</a:t>
            </a:r>
            <a:endParaRPr sz="950">
              <a:solidFill>
                <a:schemeClr val="dk1"/>
              </a:solidFill>
              <a:latin typeface="Calibri"/>
              <a:ea typeface="Calibri"/>
              <a:cs typeface="Calibri"/>
              <a:sym typeface="Calibri"/>
            </a:endParaRPr>
          </a:p>
        </p:txBody>
      </p:sp>
      <p:sp>
        <p:nvSpPr>
          <p:cNvPr id="183" name="Google Shape;183;p22"/>
          <p:cNvSpPr/>
          <p:nvPr/>
        </p:nvSpPr>
        <p:spPr>
          <a:xfrm>
            <a:off x="3863132" y="2522413"/>
            <a:ext cx="2369121" cy="1260574"/>
          </a:xfrm>
          <a:prstGeom prst="roundRect">
            <a:avLst>
              <a:gd fmla="val 4133"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2"/>
          <p:cNvSpPr/>
          <p:nvPr/>
        </p:nvSpPr>
        <p:spPr>
          <a:xfrm>
            <a:off x="3991868" y="2651150"/>
            <a:ext cx="15505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200"/>
              <a:buFont typeface="Inter"/>
              <a:buNone/>
            </a:pPr>
            <a:r>
              <a:rPr b="1" lang="en" sz="1200">
                <a:solidFill>
                  <a:srgbClr val="272525"/>
                </a:solidFill>
                <a:latin typeface="Inter"/>
                <a:ea typeface="Inter"/>
                <a:cs typeface="Inter"/>
                <a:sym typeface="Inter"/>
              </a:rPr>
              <a:t>Split Optimizer</a:t>
            </a:r>
            <a:endParaRPr sz="1200">
              <a:solidFill>
                <a:schemeClr val="dk1"/>
              </a:solidFill>
              <a:latin typeface="Calibri"/>
              <a:ea typeface="Calibri"/>
              <a:cs typeface="Calibri"/>
              <a:sym typeface="Calibri"/>
            </a:endParaRPr>
          </a:p>
        </p:txBody>
      </p:sp>
      <p:sp>
        <p:nvSpPr>
          <p:cNvPr id="185" name="Google Shape;185;p22"/>
          <p:cNvSpPr/>
          <p:nvPr/>
        </p:nvSpPr>
        <p:spPr>
          <a:xfrm>
            <a:off x="3991868" y="2910111"/>
            <a:ext cx="2111648" cy="7441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Adjusts the green time proportion given to each signal phase based on measured queue lengths at each approach.</a:t>
            </a:r>
            <a:endParaRPr sz="950">
              <a:solidFill>
                <a:schemeClr val="dk1"/>
              </a:solidFill>
              <a:latin typeface="Calibri"/>
              <a:ea typeface="Calibri"/>
              <a:cs typeface="Calibri"/>
              <a:sym typeface="Calibri"/>
            </a:endParaRPr>
          </a:p>
        </p:txBody>
      </p:sp>
      <p:sp>
        <p:nvSpPr>
          <p:cNvPr id="186" name="Google Shape;186;p22"/>
          <p:cNvSpPr/>
          <p:nvPr/>
        </p:nvSpPr>
        <p:spPr>
          <a:xfrm>
            <a:off x="6340748" y="2522413"/>
            <a:ext cx="2369121" cy="1260574"/>
          </a:xfrm>
          <a:prstGeom prst="roundRect">
            <a:avLst>
              <a:gd fmla="val 4133"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2"/>
          <p:cNvSpPr/>
          <p:nvPr/>
        </p:nvSpPr>
        <p:spPr>
          <a:xfrm>
            <a:off x="6469484" y="2651150"/>
            <a:ext cx="15505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200"/>
              <a:buFont typeface="Inter"/>
              <a:buNone/>
            </a:pPr>
            <a:r>
              <a:rPr b="1" lang="en" sz="1200">
                <a:solidFill>
                  <a:srgbClr val="272525"/>
                </a:solidFill>
                <a:latin typeface="Inter"/>
                <a:ea typeface="Inter"/>
                <a:cs typeface="Inter"/>
                <a:sym typeface="Inter"/>
              </a:rPr>
              <a:t>Cycle Optimizer</a:t>
            </a:r>
            <a:endParaRPr sz="1200">
              <a:solidFill>
                <a:schemeClr val="dk1"/>
              </a:solidFill>
              <a:latin typeface="Calibri"/>
              <a:ea typeface="Calibri"/>
              <a:cs typeface="Calibri"/>
              <a:sym typeface="Calibri"/>
            </a:endParaRPr>
          </a:p>
        </p:txBody>
      </p:sp>
      <p:sp>
        <p:nvSpPr>
          <p:cNvPr id="188" name="Google Shape;188;p22"/>
          <p:cNvSpPr/>
          <p:nvPr/>
        </p:nvSpPr>
        <p:spPr>
          <a:xfrm>
            <a:off x="6469484" y="2910111"/>
            <a:ext cx="2111648" cy="55810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Adjusts the total signal cycle length across an entire region to minimize overall network delay.</a:t>
            </a:r>
            <a:endParaRPr sz="950">
              <a:solidFill>
                <a:schemeClr val="dk1"/>
              </a:solidFill>
              <a:latin typeface="Calibri"/>
              <a:ea typeface="Calibri"/>
              <a:cs typeface="Calibri"/>
              <a:sym typeface="Calibri"/>
            </a:endParaRPr>
          </a:p>
        </p:txBody>
      </p:sp>
      <p:sp>
        <p:nvSpPr>
          <p:cNvPr id="189" name="Google Shape;189;p22"/>
          <p:cNvSpPr/>
          <p:nvPr/>
        </p:nvSpPr>
        <p:spPr>
          <a:xfrm>
            <a:off x="3863132" y="3891483"/>
            <a:ext cx="4846737" cy="888504"/>
          </a:xfrm>
          <a:prstGeom prst="roundRect">
            <a:avLst>
              <a:gd fmla="val 5864"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2"/>
          <p:cNvSpPr/>
          <p:nvPr/>
        </p:nvSpPr>
        <p:spPr>
          <a:xfrm>
            <a:off x="3991868" y="4020220"/>
            <a:ext cx="15505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200"/>
              <a:buFont typeface="Inter"/>
              <a:buNone/>
            </a:pPr>
            <a:r>
              <a:rPr b="1" lang="en" sz="1200">
                <a:solidFill>
                  <a:srgbClr val="272525"/>
                </a:solidFill>
                <a:latin typeface="Inter"/>
                <a:ea typeface="Inter"/>
                <a:cs typeface="Inter"/>
                <a:sym typeface="Inter"/>
              </a:rPr>
              <a:t>Offset Optimizer</a:t>
            </a:r>
            <a:endParaRPr sz="1200">
              <a:solidFill>
                <a:schemeClr val="dk1"/>
              </a:solidFill>
              <a:latin typeface="Calibri"/>
              <a:ea typeface="Calibri"/>
              <a:cs typeface="Calibri"/>
              <a:sym typeface="Calibri"/>
            </a:endParaRPr>
          </a:p>
        </p:txBody>
      </p:sp>
      <p:sp>
        <p:nvSpPr>
          <p:cNvPr id="191" name="Google Shape;191;p22"/>
          <p:cNvSpPr/>
          <p:nvPr/>
        </p:nvSpPr>
        <p:spPr>
          <a:xfrm>
            <a:off x="3991868" y="4279181"/>
            <a:ext cx="4589264" cy="37207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Coordinates timing between adjacent intersections to create "green waves" for smooth platoon progression.</a:t>
            </a:r>
            <a:endParaRPr sz="950">
              <a:solidFill>
                <a:schemeClr val="dk1"/>
              </a:solidFill>
              <a:latin typeface="Calibri"/>
              <a:ea typeface="Calibri"/>
              <a:cs typeface="Calibri"/>
              <a:sym typeface="Calibri"/>
            </a:endParaRPr>
          </a:p>
        </p:txBody>
      </p:sp>
      <p:pic>
        <p:nvPicPr>
          <p:cNvPr id="192" name="Google Shape;192;p22"/>
          <p:cNvPicPr preferRelativeResize="0"/>
          <p:nvPr/>
        </p:nvPicPr>
        <p:blipFill rotWithShape="1">
          <a:blip r:embed="rId4">
            <a:alphaModFix/>
          </a:blip>
          <a:srcRect b="0" l="0" r="0" t="0"/>
          <a:stretch/>
        </p:blipFill>
        <p:spPr>
          <a:xfrm>
            <a:off x="5866943" y="4845099"/>
            <a:ext cx="3277057" cy="2348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p:nvPr/>
        </p:nvSpPr>
        <p:spPr>
          <a:xfrm>
            <a:off x="1515145" y="293340"/>
            <a:ext cx="3797350" cy="27689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700"/>
              <a:buFont typeface="Inter"/>
              <a:buNone/>
            </a:pPr>
            <a:r>
              <a:rPr b="1" lang="en" sz="1700">
                <a:solidFill>
                  <a:srgbClr val="000000"/>
                </a:solidFill>
                <a:latin typeface="Inter"/>
                <a:ea typeface="Inter"/>
                <a:cs typeface="Inter"/>
                <a:sym typeface="Inter"/>
              </a:rPr>
              <a:t>SCOOT — System Architecture</a:t>
            </a:r>
            <a:endParaRPr sz="1700">
              <a:solidFill>
                <a:schemeClr val="dk1"/>
              </a:solidFill>
              <a:latin typeface="Calibri"/>
              <a:ea typeface="Calibri"/>
              <a:cs typeface="Calibri"/>
              <a:sym typeface="Calibri"/>
            </a:endParaRPr>
          </a:p>
        </p:txBody>
      </p:sp>
      <p:sp>
        <p:nvSpPr>
          <p:cNvPr id="199" name="Google Shape;199;p23"/>
          <p:cNvSpPr/>
          <p:nvPr/>
        </p:nvSpPr>
        <p:spPr>
          <a:xfrm>
            <a:off x="1515145" y="680963"/>
            <a:ext cx="6113711" cy="230386"/>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272525"/>
              </a:buClr>
              <a:buSzPts val="650"/>
              <a:buFont typeface="Inter"/>
              <a:buNone/>
            </a:pPr>
            <a:r>
              <a:rPr lang="en" sz="650">
                <a:solidFill>
                  <a:srgbClr val="272525"/>
                </a:solidFill>
                <a:latin typeface="Inter"/>
                <a:ea typeface="Inter"/>
                <a:cs typeface="Inter"/>
                <a:sym typeface="Inter"/>
              </a:rPr>
              <a:t>SCOOT operates through a six-layer hierarchical architecture, from field-level detectors up to centralized UTC server control, with a continuous feedback loop feeding updated traffic data back into the model.</a:t>
            </a:r>
            <a:endParaRPr sz="650">
              <a:solidFill>
                <a:schemeClr val="dk1"/>
              </a:solidFill>
              <a:latin typeface="Calibri"/>
              <a:ea typeface="Calibri"/>
              <a:cs typeface="Calibri"/>
              <a:sym typeface="Calibri"/>
            </a:endParaRPr>
          </a:p>
        </p:txBody>
      </p:sp>
      <p:sp>
        <p:nvSpPr>
          <p:cNvPr id="200" name="Google Shape;200;p23"/>
          <p:cNvSpPr/>
          <p:nvPr/>
        </p:nvSpPr>
        <p:spPr>
          <a:xfrm>
            <a:off x="1515145" y="4448175"/>
            <a:ext cx="6113711" cy="401910"/>
          </a:xfrm>
          <a:prstGeom prst="roundRect">
            <a:avLst>
              <a:gd fmla="val 9259" name="adj"/>
            </a:avLst>
          </a:prstGeom>
          <a:solidFill>
            <a:srgbClr val="B6D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1" name="Google Shape;201;p23"/>
          <p:cNvPicPr preferRelativeResize="0"/>
          <p:nvPr/>
        </p:nvPicPr>
        <p:blipFill rotWithShape="1">
          <a:blip r:embed="rId3">
            <a:alphaModFix/>
          </a:blip>
          <a:srcRect b="0" l="0" r="0" t="0"/>
          <a:stretch/>
        </p:blipFill>
        <p:spPr>
          <a:xfrm>
            <a:off x="1603697" y="4571777"/>
            <a:ext cx="110728" cy="88553"/>
          </a:xfrm>
          <a:prstGeom prst="rect">
            <a:avLst/>
          </a:prstGeom>
          <a:noFill/>
          <a:ln>
            <a:noFill/>
          </a:ln>
        </p:spPr>
      </p:pic>
      <p:sp>
        <p:nvSpPr>
          <p:cNvPr id="202" name="Google Shape;202;p23"/>
          <p:cNvSpPr/>
          <p:nvPr/>
        </p:nvSpPr>
        <p:spPr>
          <a:xfrm>
            <a:off x="1802978" y="4525640"/>
            <a:ext cx="5737324" cy="230386"/>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0000"/>
              </a:buClr>
              <a:buSzPts val="650"/>
              <a:buFont typeface="Inter"/>
              <a:buNone/>
            </a:pPr>
            <a:r>
              <a:rPr lang="en" sz="650">
                <a:solidFill>
                  <a:srgbClr val="000000"/>
                </a:solidFill>
                <a:latin typeface="Inter"/>
                <a:ea typeface="Inter"/>
                <a:cs typeface="Inter"/>
                <a:sym typeface="Inter"/>
              </a:rPr>
              <a:t>ASTRID stores historical traffic data for fallback. INGRID detects incidents by comparing live vs. historical patterns — both are key SCOOT subsystems.</a:t>
            </a:r>
            <a:endParaRPr sz="650">
              <a:solidFill>
                <a:schemeClr val="dk1"/>
              </a:solidFill>
              <a:latin typeface="Calibri"/>
              <a:ea typeface="Calibri"/>
              <a:cs typeface="Calibri"/>
              <a:sym typeface="Calibri"/>
            </a:endParaRPr>
          </a:p>
        </p:txBody>
      </p:sp>
      <p:pic>
        <p:nvPicPr>
          <p:cNvPr id="203" name="Google Shape;203;p23"/>
          <p:cNvPicPr preferRelativeResize="0"/>
          <p:nvPr/>
        </p:nvPicPr>
        <p:blipFill rotWithShape="1">
          <a:blip r:embed="rId4">
            <a:alphaModFix/>
          </a:blip>
          <a:srcRect b="0" l="0" r="0" t="0"/>
          <a:stretch/>
        </p:blipFill>
        <p:spPr>
          <a:xfrm>
            <a:off x="7916689" y="4660330"/>
            <a:ext cx="1227311" cy="428685"/>
          </a:xfrm>
          <a:prstGeom prst="rect">
            <a:avLst/>
          </a:prstGeom>
          <a:noFill/>
          <a:ln>
            <a:noFill/>
          </a:ln>
        </p:spPr>
      </p:pic>
      <p:pic>
        <p:nvPicPr>
          <p:cNvPr id="204" name="Google Shape;204;p23"/>
          <p:cNvPicPr preferRelativeResize="0"/>
          <p:nvPr/>
        </p:nvPicPr>
        <p:blipFill>
          <a:blip r:embed="rId5">
            <a:alphaModFix/>
          </a:blip>
          <a:stretch>
            <a:fillRect/>
          </a:stretch>
        </p:blipFill>
        <p:spPr>
          <a:xfrm>
            <a:off x="358575" y="1029600"/>
            <a:ext cx="7712650" cy="3300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4"/>
          <p:cNvSpPr/>
          <p:nvPr/>
        </p:nvSpPr>
        <p:spPr>
          <a:xfrm>
            <a:off x="426393" y="362620"/>
            <a:ext cx="6081043" cy="38070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350"/>
              <a:buFont typeface="Inter"/>
              <a:buNone/>
            </a:pPr>
            <a:r>
              <a:rPr b="1" lang="en" sz="2350">
                <a:solidFill>
                  <a:srgbClr val="000000"/>
                </a:solidFill>
                <a:latin typeface="Inter"/>
                <a:ea typeface="Inter"/>
                <a:cs typeface="Inter"/>
                <a:sym typeface="Inter"/>
              </a:rPr>
              <a:t>SCOOT — Limitations &amp; Shortcomings</a:t>
            </a:r>
            <a:endParaRPr sz="2350">
              <a:solidFill>
                <a:schemeClr val="dk1"/>
              </a:solidFill>
              <a:latin typeface="Calibri"/>
              <a:ea typeface="Calibri"/>
              <a:cs typeface="Calibri"/>
              <a:sym typeface="Calibri"/>
            </a:endParaRPr>
          </a:p>
        </p:txBody>
      </p:sp>
      <p:sp>
        <p:nvSpPr>
          <p:cNvPr id="211" name="Google Shape;211;p24"/>
          <p:cNvSpPr/>
          <p:nvPr/>
        </p:nvSpPr>
        <p:spPr>
          <a:xfrm>
            <a:off x="426393" y="952649"/>
            <a:ext cx="8291215" cy="36239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Despite widespread deployment, SCOOT carries significant infrastructure, cost, and architectural constraints that limit its applicability in resource-constrained or rapidly growing urban environments.</a:t>
            </a:r>
            <a:endParaRPr sz="950">
              <a:solidFill>
                <a:schemeClr val="dk1"/>
              </a:solidFill>
              <a:latin typeface="Calibri"/>
              <a:ea typeface="Calibri"/>
              <a:cs typeface="Calibri"/>
              <a:sym typeface="Calibri"/>
            </a:endParaRPr>
          </a:p>
        </p:txBody>
      </p:sp>
      <p:sp>
        <p:nvSpPr>
          <p:cNvPr id="212" name="Google Shape;212;p24"/>
          <p:cNvSpPr/>
          <p:nvPr/>
        </p:nvSpPr>
        <p:spPr>
          <a:xfrm>
            <a:off x="426393" y="1432768"/>
            <a:ext cx="2693938" cy="1621706"/>
          </a:xfrm>
          <a:prstGeom prst="roundRect">
            <a:avLst>
              <a:gd fmla="val 4229" name="adj"/>
            </a:avLst>
          </a:prstGeom>
          <a:solidFill>
            <a:srgbClr val="FFFFFF"/>
          </a:solidFill>
          <a:ln cap="flat" cmpd="sng" w="1427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4"/>
          <p:cNvSpPr/>
          <p:nvPr/>
        </p:nvSpPr>
        <p:spPr>
          <a:xfrm>
            <a:off x="412105" y="1432768"/>
            <a:ext cx="57150" cy="1621706"/>
          </a:xfrm>
          <a:prstGeom prst="roundRect">
            <a:avLst>
              <a:gd fmla="val 89535"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4"/>
          <p:cNvSpPr/>
          <p:nvPr/>
        </p:nvSpPr>
        <p:spPr>
          <a:xfrm>
            <a:off x="605358" y="1568872"/>
            <a:ext cx="2250877" cy="1903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50"/>
              <a:buFont typeface="Inter"/>
              <a:buNone/>
            </a:pPr>
            <a:r>
              <a:rPr b="1" lang="en" sz="1150">
                <a:solidFill>
                  <a:srgbClr val="272525"/>
                </a:solidFill>
                <a:latin typeface="Inter"/>
                <a:ea typeface="Inter"/>
                <a:cs typeface="Inter"/>
                <a:sym typeface="Inter"/>
              </a:rPr>
              <a:t>Expensive Road Infrastructure</a:t>
            </a:r>
            <a:endParaRPr sz="1150">
              <a:solidFill>
                <a:schemeClr val="dk1"/>
              </a:solidFill>
              <a:latin typeface="Calibri"/>
              <a:ea typeface="Calibri"/>
              <a:cs typeface="Calibri"/>
              <a:sym typeface="Calibri"/>
            </a:endParaRPr>
          </a:p>
        </p:txBody>
      </p:sp>
      <p:sp>
        <p:nvSpPr>
          <p:cNvPr id="215" name="Google Shape;215;p24"/>
          <p:cNvSpPr/>
          <p:nvPr/>
        </p:nvSpPr>
        <p:spPr>
          <a:xfrm>
            <a:off x="605358" y="1822028"/>
            <a:ext cx="2378869" cy="905991"/>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Requires inductive loop detectors embedded in road pavement — installation demands road excavation, making deployment and maintenance both costly and disruptive.</a:t>
            </a:r>
            <a:endParaRPr sz="950">
              <a:solidFill>
                <a:schemeClr val="dk1"/>
              </a:solidFill>
              <a:latin typeface="Calibri"/>
              <a:ea typeface="Calibri"/>
              <a:cs typeface="Calibri"/>
              <a:sym typeface="Calibri"/>
            </a:endParaRPr>
          </a:p>
        </p:txBody>
      </p:sp>
      <p:sp>
        <p:nvSpPr>
          <p:cNvPr id="216" name="Google Shape;216;p24"/>
          <p:cNvSpPr/>
          <p:nvPr/>
        </p:nvSpPr>
        <p:spPr>
          <a:xfrm>
            <a:off x="3224957" y="1432768"/>
            <a:ext cx="2694012" cy="1621706"/>
          </a:xfrm>
          <a:prstGeom prst="roundRect">
            <a:avLst>
              <a:gd fmla="val 4229" name="adj"/>
            </a:avLst>
          </a:prstGeom>
          <a:solidFill>
            <a:srgbClr val="FFFFFF"/>
          </a:solidFill>
          <a:ln cap="flat" cmpd="sng" w="1427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4"/>
          <p:cNvSpPr/>
          <p:nvPr/>
        </p:nvSpPr>
        <p:spPr>
          <a:xfrm>
            <a:off x="3210669" y="1432768"/>
            <a:ext cx="57150" cy="1621706"/>
          </a:xfrm>
          <a:prstGeom prst="roundRect">
            <a:avLst>
              <a:gd fmla="val 89535"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4"/>
          <p:cNvSpPr/>
          <p:nvPr/>
        </p:nvSpPr>
        <p:spPr>
          <a:xfrm>
            <a:off x="3403922" y="1568872"/>
            <a:ext cx="2378943" cy="38070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50"/>
              <a:buFont typeface="Inter"/>
              <a:buNone/>
            </a:pPr>
            <a:r>
              <a:rPr b="1" lang="en" sz="1150">
                <a:solidFill>
                  <a:srgbClr val="272525"/>
                </a:solidFill>
                <a:latin typeface="Inter"/>
                <a:ea typeface="Inter"/>
                <a:cs typeface="Inter"/>
                <a:sym typeface="Inter"/>
              </a:rPr>
              <a:t>Centralized Single Point of Failure</a:t>
            </a:r>
            <a:endParaRPr sz="1150">
              <a:solidFill>
                <a:schemeClr val="dk1"/>
              </a:solidFill>
              <a:latin typeface="Calibri"/>
              <a:ea typeface="Calibri"/>
              <a:cs typeface="Calibri"/>
              <a:sym typeface="Calibri"/>
            </a:endParaRPr>
          </a:p>
        </p:txBody>
      </p:sp>
      <p:sp>
        <p:nvSpPr>
          <p:cNvPr id="219" name="Google Shape;219;p24"/>
          <p:cNvSpPr/>
          <p:nvPr/>
        </p:nvSpPr>
        <p:spPr>
          <a:xfrm>
            <a:off x="3403922" y="2012379"/>
            <a:ext cx="2378943" cy="905991"/>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All optimization runs on a central UTC server. A server or communication failure reverts the entire network to fixed-time operation, losing all adaptive benefits instantly.</a:t>
            </a:r>
            <a:endParaRPr sz="950">
              <a:solidFill>
                <a:schemeClr val="dk1"/>
              </a:solidFill>
              <a:latin typeface="Calibri"/>
              <a:ea typeface="Calibri"/>
              <a:cs typeface="Calibri"/>
              <a:sym typeface="Calibri"/>
            </a:endParaRPr>
          </a:p>
        </p:txBody>
      </p:sp>
      <p:sp>
        <p:nvSpPr>
          <p:cNvPr id="220" name="Google Shape;220;p24"/>
          <p:cNvSpPr/>
          <p:nvPr/>
        </p:nvSpPr>
        <p:spPr>
          <a:xfrm>
            <a:off x="6023595" y="1432768"/>
            <a:ext cx="2694012" cy="1621706"/>
          </a:xfrm>
          <a:prstGeom prst="roundRect">
            <a:avLst>
              <a:gd fmla="val 4229" name="adj"/>
            </a:avLst>
          </a:prstGeom>
          <a:solidFill>
            <a:srgbClr val="FFFFFF"/>
          </a:solidFill>
          <a:ln cap="flat" cmpd="sng" w="1427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4"/>
          <p:cNvSpPr/>
          <p:nvPr/>
        </p:nvSpPr>
        <p:spPr>
          <a:xfrm>
            <a:off x="6009308" y="1432768"/>
            <a:ext cx="57150" cy="1621706"/>
          </a:xfrm>
          <a:prstGeom prst="roundRect">
            <a:avLst>
              <a:gd fmla="val 89535"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4"/>
          <p:cNvSpPr/>
          <p:nvPr/>
        </p:nvSpPr>
        <p:spPr>
          <a:xfrm>
            <a:off x="6202561" y="1568872"/>
            <a:ext cx="2378943" cy="38070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50"/>
              <a:buFont typeface="Inter"/>
              <a:buNone/>
            </a:pPr>
            <a:r>
              <a:rPr b="1" lang="en" sz="1150">
                <a:solidFill>
                  <a:srgbClr val="272525"/>
                </a:solidFill>
                <a:latin typeface="Inter"/>
                <a:ea typeface="Inter"/>
                <a:cs typeface="Inter"/>
                <a:sym typeface="Inter"/>
              </a:rPr>
              <a:t>Complex Setup &amp; Specialist Dependency</a:t>
            </a:r>
            <a:endParaRPr sz="1150">
              <a:solidFill>
                <a:schemeClr val="dk1"/>
              </a:solidFill>
              <a:latin typeface="Calibri"/>
              <a:ea typeface="Calibri"/>
              <a:cs typeface="Calibri"/>
              <a:sym typeface="Calibri"/>
            </a:endParaRPr>
          </a:p>
        </p:txBody>
      </p:sp>
      <p:sp>
        <p:nvSpPr>
          <p:cNvPr id="223" name="Google Shape;223;p24"/>
          <p:cNvSpPr/>
          <p:nvPr/>
        </p:nvSpPr>
        <p:spPr>
          <a:xfrm>
            <a:off x="6202561" y="2012379"/>
            <a:ext cx="2378943" cy="905991"/>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Requires extensive calibration, precisely placed detectors, and specialist engineers for configuration and maintenance — resulting in long setup times and steep learning curves.</a:t>
            </a:r>
            <a:endParaRPr sz="950">
              <a:solidFill>
                <a:schemeClr val="dk1"/>
              </a:solidFill>
              <a:latin typeface="Calibri"/>
              <a:ea typeface="Calibri"/>
              <a:cs typeface="Calibri"/>
              <a:sym typeface="Calibri"/>
            </a:endParaRPr>
          </a:p>
        </p:txBody>
      </p:sp>
      <p:sp>
        <p:nvSpPr>
          <p:cNvPr id="224" name="Google Shape;224;p24"/>
          <p:cNvSpPr/>
          <p:nvPr/>
        </p:nvSpPr>
        <p:spPr>
          <a:xfrm>
            <a:off x="426393" y="3159100"/>
            <a:ext cx="2693938" cy="1621706"/>
          </a:xfrm>
          <a:prstGeom prst="roundRect">
            <a:avLst>
              <a:gd fmla="val 4229" name="adj"/>
            </a:avLst>
          </a:prstGeom>
          <a:solidFill>
            <a:srgbClr val="FFFFFF"/>
          </a:solidFill>
          <a:ln cap="flat" cmpd="sng" w="1427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p:nvPr/>
        </p:nvSpPr>
        <p:spPr>
          <a:xfrm>
            <a:off x="412105" y="3159100"/>
            <a:ext cx="57150" cy="1621706"/>
          </a:xfrm>
          <a:prstGeom prst="roundRect">
            <a:avLst>
              <a:gd fmla="val 89535"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4"/>
          <p:cNvSpPr/>
          <p:nvPr/>
        </p:nvSpPr>
        <p:spPr>
          <a:xfrm>
            <a:off x="605358" y="3295204"/>
            <a:ext cx="2378869" cy="38070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50"/>
              <a:buFont typeface="Inter"/>
              <a:buNone/>
            </a:pPr>
            <a:r>
              <a:rPr b="1" lang="en" sz="1150">
                <a:solidFill>
                  <a:srgbClr val="272525"/>
                </a:solidFill>
                <a:latin typeface="Inter"/>
                <a:ea typeface="Inter"/>
                <a:cs typeface="Inter"/>
                <a:sym typeface="Inter"/>
              </a:rPr>
              <a:t>No Native Emergency Vehicle Priority</a:t>
            </a:r>
            <a:endParaRPr sz="1150">
              <a:solidFill>
                <a:schemeClr val="dk1"/>
              </a:solidFill>
              <a:latin typeface="Calibri"/>
              <a:ea typeface="Calibri"/>
              <a:cs typeface="Calibri"/>
              <a:sym typeface="Calibri"/>
            </a:endParaRPr>
          </a:p>
        </p:txBody>
      </p:sp>
      <p:sp>
        <p:nvSpPr>
          <p:cNvPr id="227" name="Google Shape;227;p24"/>
          <p:cNvSpPr/>
          <p:nvPr/>
        </p:nvSpPr>
        <p:spPr>
          <a:xfrm>
            <a:off x="605358" y="3738711"/>
            <a:ext cx="2378869" cy="905991"/>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SCOOT has no built-in mechanism to detect or prioritize emergency vehicles. Extensions exist but require additional hardware and significant integration effort.</a:t>
            </a:r>
            <a:endParaRPr sz="950">
              <a:solidFill>
                <a:schemeClr val="dk1"/>
              </a:solidFill>
              <a:latin typeface="Calibri"/>
              <a:ea typeface="Calibri"/>
              <a:cs typeface="Calibri"/>
              <a:sym typeface="Calibri"/>
            </a:endParaRPr>
          </a:p>
        </p:txBody>
      </p:sp>
      <p:sp>
        <p:nvSpPr>
          <p:cNvPr id="228" name="Google Shape;228;p24"/>
          <p:cNvSpPr/>
          <p:nvPr/>
        </p:nvSpPr>
        <p:spPr>
          <a:xfrm>
            <a:off x="3224957" y="3159100"/>
            <a:ext cx="2694012" cy="1621706"/>
          </a:xfrm>
          <a:prstGeom prst="roundRect">
            <a:avLst>
              <a:gd fmla="val 4229" name="adj"/>
            </a:avLst>
          </a:prstGeom>
          <a:solidFill>
            <a:srgbClr val="FFFFFF"/>
          </a:solidFill>
          <a:ln cap="flat" cmpd="sng" w="1427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4"/>
          <p:cNvSpPr/>
          <p:nvPr/>
        </p:nvSpPr>
        <p:spPr>
          <a:xfrm>
            <a:off x="3210669" y="3159100"/>
            <a:ext cx="57150" cy="1621706"/>
          </a:xfrm>
          <a:prstGeom prst="roundRect">
            <a:avLst>
              <a:gd fmla="val 89535"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4"/>
          <p:cNvSpPr/>
          <p:nvPr/>
        </p:nvSpPr>
        <p:spPr>
          <a:xfrm>
            <a:off x="3403922" y="3295204"/>
            <a:ext cx="2378943" cy="38070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50"/>
              <a:buFont typeface="Inter"/>
              <a:buNone/>
            </a:pPr>
            <a:r>
              <a:rPr b="1" lang="en" sz="1150">
                <a:solidFill>
                  <a:srgbClr val="272525"/>
                </a:solidFill>
                <a:latin typeface="Inter"/>
                <a:ea typeface="Inter"/>
                <a:cs typeface="Inter"/>
                <a:sym typeface="Inter"/>
              </a:rPr>
              <a:t>Poor Performance in Low-Volume Scenarios</a:t>
            </a:r>
            <a:endParaRPr sz="1150">
              <a:solidFill>
                <a:schemeClr val="dk1"/>
              </a:solidFill>
              <a:latin typeface="Calibri"/>
              <a:ea typeface="Calibri"/>
              <a:cs typeface="Calibri"/>
              <a:sym typeface="Calibri"/>
            </a:endParaRPr>
          </a:p>
        </p:txBody>
      </p:sp>
      <p:sp>
        <p:nvSpPr>
          <p:cNvPr id="231" name="Google Shape;231;p24"/>
          <p:cNvSpPr/>
          <p:nvPr/>
        </p:nvSpPr>
        <p:spPr>
          <a:xfrm>
            <a:off x="3403922" y="3738711"/>
            <a:ext cx="2378943" cy="905991"/>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In areas with predictable or light traffic, fixed-time plans already perform near-optimally. The overhead of SCOOT's adaptive system adds little value while increasing operational complexity.</a:t>
            </a:r>
            <a:endParaRPr sz="950">
              <a:solidFill>
                <a:schemeClr val="dk1"/>
              </a:solidFill>
              <a:latin typeface="Calibri"/>
              <a:ea typeface="Calibri"/>
              <a:cs typeface="Calibri"/>
              <a:sym typeface="Calibri"/>
            </a:endParaRPr>
          </a:p>
        </p:txBody>
      </p:sp>
      <p:pic>
        <p:nvPicPr>
          <p:cNvPr id="232" name="Google Shape;232;p24"/>
          <p:cNvPicPr preferRelativeResize="0"/>
          <p:nvPr/>
        </p:nvPicPr>
        <p:blipFill rotWithShape="1">
          <a:blip r:embed="rId3">
            <a:alphaModFix/>
          </a:blip>
          <a:srcRect b="0" l="0" r="0" t="0"/>
          <a:stretch/>
        </p:blipFill>
        <p:spPr>
          <a:xfrm>
            <a:off x="6259711" y="4671089"/>
            <a:ext cx="2884289" cy="42868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5"/>
          <p:cNvSpPr/>
          <p:nvPr/>
        </p:nvSpPr>
        <p:spPr>
          <a:xfrm>
            <a:off x="426393" y="368201"/>
            <a:ext cx="6066458" cy="38070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350"/>
              <a:buFont typeface="Inter"/>
              <a:buNone/>
            </a:pPr>
            <a:r>
              <a:rPr b="1" lang="en" sz="2350">
                <a:solidFill>
                  <a:srgbClr val="000000"/>
                </a:solidFill>
                <a:latin typeface="Inter"/>
                <a:ea typeface="Inter"/>
                <a:cs typeface="Inter"/>
                <a:sym typeface="Inter"/>
              </a:rPr>
              <a:t>Existing System 2 — SCATS Overview</a:t>
            </a:r>
            <a:endParaRPr sz="2350">
              <a:solidFill>
                <a:schemeClr val="dk1"/>
              </a:solidFill>
              <a:latin typeface="Calibri"/>
              <a:ea typeface="Calibri"/>
              <a:cs typeface="Calibri"/>
              <a:sym typeface="Calibri"/>
            </a:endParaRPr>
          </a:p>
        </p:txBody>
      </p:sp>
      <p:sp>
        <p:nvSpPr>
          <p:cNvPr id="239" name="Google Shape;239;p25"/>
          <p:cNvSpPr/>
          <p:nvPr/>
        </p:nvSpPr>
        <p:spPr>
          <a:xfrm>
            <a:off x="426393" y="958230"/>
            <a:ext cx="4549825" cy="227558"/>
          </a:xfrm>
          <a:prstGeom prst="roundRect">
            <a:avLst>
              <a:gd fmla="val 17989" name="adj"/>
            </a:avLst>
          </a:prstGeom>
          <a:noFill/>
          <a:ln cap="flat" cmpd="sng" w="9525">
            <a:solidFill>
              <a:srgbClr val="4950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5"/>
          <p:cNvSpPr/>
          <p:nvPr/>
        </p:nvSpPr>
        <p:spPr>
          <a:xfrm>
            <a:off x="504230" y="999530"/>
            <a:ext cx="4851350" cy="144959"/>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4950BC"/>
              </a:buClr>
              <a:buSzPts val="750"/>
              <a:buFont typeface="Inter"/>
              <a:buNone/>
            </a:pPr>
            <a:r>
              <a:rPr lang="en" sz="750">
                <a:solidFill>
                  <a:srgbClr val="4950BC"/>
                </a:solidFill>
                <a:latin typeface="Inter"/>
                <a:ea typeface="Inter"/>
                <a:cs typeface="Inter"/>
                <a:sym typeface="Inter"/>
              </a:rPr>
              <a:t>ROADS &amp; TRAFFIC AUTHORITY, NSW AUSTRALIA · LATE 1970S · 170+ CITIES, 20+ COUNTRIES</a:t>
            </a:r>
            <a:endParaRPr sz="750">
              <a:solidFill>
                <a:schemeClr val="dk1"/>
              </a:solidFill>
              <a:latin typeface="Calibri"/>
              <a:ea typeface="Calibri"/>
              <a:cs typeface="Calibri"/>
              <a:sym typeface="Calibri"/>
            </a:endParaRPr>
          </a:p>
        </p:txBody>
      </p:sp>
      <p:sp>
        <p:nvSpPr>
          <p:cNvPr id="241" name="Google Shape;241;p25"/>
          <p:cNvSpPr/>
          <p:nvPr/>
        </p:nvSpPr>
        <p:spPr>
          <a:xfrm>
            <a:off x="426393" y="1303511"/>
            <a:ext cx="8291215" cy="36239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272525"/>
              </a:buClr>
              <a:buSzPts val="950"/>
              <a:buFont typeface="Inter"/>
              <a:buNone/>
            </a:pPr>
            <a:r>
              <a:rPr b="1" lang="en" sz="950">
                <a:solidFill>
                  <a:srgbClr val="272525"/>
                </a:solidFill>
                <a:latin typeface="Inter"/>
                <a:ea typeface="Inter"/>
                <a:cs typeface="Inter"/>
                <a:sym typeface="Inter"/>
              </a:rPr>
              <a:t>SCATS (Sydney Coordinated Adaptive Traffic System)</a:t>
            </a:r>
            <a:r>
              <a:rPr lang="en" sz="950">
                <a:solidFill>
                  <a:srgbClr val="272525"/>
                </a:solidFill>
                <a:latin typeface="Inter"/>
                <a:ea typeface="Inter"/>
                <a:cs typeface="Inter"/>
                <a:sym typeface="Inter"/>
              </a:rPr>
              <a:t> is a heuristic feedback-based system that selects optimal signal timing plans from a </a:t>
            </a:r>
            <a:r>
              <a:rPr i="1" lang="en" sz="950">
                <a:solidFill>
                  <a:srgbClr val="272525"/>
                </a:solidFill>
                <a:latin typeface="Inter"/>
                <a:ea typeface="Inter"/>
                <a:cs typeface="Inter"/>
                <a:sym typeface="Inter"/>
              </a:rPr>
              <a:t>pre-calculated library</a:t>
            </a:r>
            <a:r>
              <a:rPr lang="en" sz="950">
                <a:solidFill>
                  <a:srgbClr val="272525"/>
                </a:solidFill>
                <a:latin typeface="Inter"/>
                <a:ea typeface="Inter"/>
                <a:cs typeface="Inter"/>
                <a:sym typeface="Inter"/>
              </a:rPr>
              <a:t> based on real-time measurements — rather than computing new timings from scratch like SCOOT.</a:t>
            </a:r>
            <a:endParaRPr sz="950">
              <a:solidFill>
                <a:schemeClr val="dk1"/>
              </a:solidFill>
              <a:latin typeface="Calibri"/>
              <a:ea typeface="Calibri"/>
              <a:cs typeface="Calibri"/>
              <a:sym typeface="Calibri"/>
            </a:endParaRPr>
          </a:p>
        </p:txBody>
      </p:sp>
      <p:sp>
        <p:nvSpPr>
          <p:cNvPr id="242" name="Google Shape;242;p25"/>
          <p:cNvSpPr/>
          <p:nvPr/>
        </p:nvSpPr>
        <p:spPr>
          <a:xfrm>
            <a:off x="338658" y="1783631"/>
            <a:ext cx="4172471" cy="2991594"/>
          </a:xfrm>
          <a:prstGeom prst="roundRect">
            <a:avLst>
              <a:gd fmla="val 2932" name="adj"/>
            </a:avLst>
          </a:prstGeom>
          <a:solidFill>
            <a:srgbClr val="1A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5"/>
          <p:cNvSpPr/>
          <p:nvPr/>
        </p:nvSpPr>
        <p:spPr>
          <a:xfrm>
            <a:off x="460474" y="1888257"/>
            <a:ext cx="2771254" cy="1903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150"/>
              <a:buFont typeface="Inter"/>
              <a:buNone/>
            </a:pPr>
            <a:r>
              <a:rPr b="1" lang="en" sz="1150">
                <a:solidFill>
                  <a:srgbClr val="FFFFFF"/>
                </a:solidFill>
                <a:latin typeface="Inter"/>
                <a:ea typeface="Inter"/>
                <a:cs typeface="Inter"/>
                <a:sym typeface="Inter"/>
              </a:rPr>
              <a:t>Core Measurement Parameters</a:t>
            </a:r>
            <a:endParaRPr sz="1150">
              <a:solidFill>
                <a:schemeClr val="dk1"/>
              </a:solidFill>
              <a:latin typeface="Calibri"/>
              <a:ea typeface="Calibri"/>
              <a:cs typeface="Calibri"/>
              <a:sym typeface="Calibri"/>
            </a:endParaRPr>
          </a:p>
        </p:txBody>
      </p:sp>
      <p:sp>
        <p:nvSpPr>
          <p:cNvPr id="244" name="Google Shape;244;p25"/>
          <p:cNvSpPr/>
          <p:nvPr/>
        </p:nvSpPr>
        <p:spPr>
          <a:xfrm>
            <a:off x="460474" y="2183234"/>
            <a:ext cx="3928839" cy="1000199"/>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FFFFFF"/>
              </a:buClr>
              <a:buSzPts val="950"/>
              <a:buFont typeface="Inter"/>
              <a:buNone/>
            </a:pPr>
            <a:r>
              <a:rPr b="1" lang="en" sz="950">
                <a:solidFill>
                  <a:srgbClr val="FFFFFF"/>
                </a:solidFill>
                <a:latin typeface="Inter"/>
                <a:ea typeface="Inter"/>
                <a:cs typeface="Inter"/>
                <a:sym typeface="Inter"/>
              </a:rPr>
              <a:t>Degree of Saturation (DS):</a:t>
            </a:r>
            <a:r>
              <a:rPr lang="en" sz="950">
                <a:solidFill>
                  <a:srgbClr val="FFFFFF"/>
                </a:solidFill>
                <a:latin typeface="Inter"/>
                <a:ea typeface="Inter"/>
                <a:cs typeface="Inter"/>
                <a:sym typeface="Inter"/>
              </a:rPr>
              <a:t> Measures how close a lane is to maximum capacity — ratio of green time used to green time available per phase.</a:t>
            </a:r>
            <a:endParaRPr sz="950">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FFFFFF"/>
              </a:buClr>
              <a:buSzPts val="950"/>
              <a:buFont typeface="Inter"/>
              <a:buNone/>
            </a:pPr>
            <a:r>
              <a:rPr b="1" lang="en" sz="950">
                <a:solidFill>
                  <a:srgbClr val="FFFFFF"/>
                </a:solidFill>
                <a:latin typeface="Inter"/>
                <a:ea typeface="Inter"/>
                <a:cs typeface="Inter"/>
                <a:sym typeface="Inter"/>
              </a:rPr>
              <a:t>Link Flow (LF):</a:t>
            </a:r>
            <a:r>
              <a:rPr lang="en" sz="950">
                <a:solidFill>
                  <a:srgbClr val="FFFFFF"/>
                </a:solidFill>
                <a:latin typeface="Inter"/>
                <a:ea typeface="Inter"/>
                <a:cs typeface="Inter"/>
                <a:sym typeface="Inter"/>
              </a:rPr>
              <a:t> Volume of vehicles passing through a link per cycle; used for offset adjustments in inter-intersection coordination.</a:t>
            </a:r>
            <a:endParaRPr sz="950">
              <a:solidFill>
                <a:schemeClr val="dk1"/>
              </a:solidFill>
              <a:latin typeface="Calibri"/>
              <a:ea typeface="Calibri"/>
              <a:cs typeface="Calibri"/>
              <a:sym typeface="Calibri"/>
            </a:endParaRPr>
          </a:p>
        </p:txBody>
      </p:sp>
      <p:sp>
        <p:nvSpPr>
          <p:cNvPr id="245" name="Google Shape;245;p25"/>
          <p:cNvSpPr/>
          <p:nvPr/>
        </p:nvSpPr>
        <p:spPr>
          <a:xfrm>
            <a:off x="4725367" y="1888257"/>
            <a:ext cx="3150840" cy="1903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150"/>
              <a:buFont typeface="Inter"/>
              <a:buNone/>
            </a:pPr>
            <a:r>
              <a:rPr b="1" lang="en" sz="1150">
                <a:solidFill>
                  <a:srgbClr val="000000"/>
                </a:solidFill>
                <a:latin typeface="Inter"/>
                <a:ea typeface="Inter"/>
                <a:cs typeface="Inter"/>
                <a:sym typeface="Inter"/>
              </a:rPr>
              <a:t>Three-Tier Hierarchical Architecture</a:t>
            </a:r>
            <a:endParaRPr sz="1150">
              <a:solidFill>
                <a:schemeClr val="dk1"/>
              </a:solidFill>
              <a:latin typeface="Calibri"/>
              <a:ea typeface="Calibri"/>
              <a:cs typeface="Calibri"/>
              <a:sym typeface="Calibri"/>
            </a:endParaRPr>
          </a:p>
        </p:txBody>
      </p:sp>
      <p:sp>
        <p:nvSpPr>
          <p:cNvPr id="246" name="Google Shape;246;p25"/>
          <p:cNvSpPr/>
          <p:nvPr/>
        </p:nvSpPr>
        <p:spPr>
          <a:xfrm>
            <a:off x="4725367" y="2183234"/>
            <a:ext cx="3997003" cy="1341611"/>
          </a:xfrm>
          <a:prstGeom prst="rect">
            <a:avLst/>
          </a:prstGeom>
          <a:noFill/>
          <a:ln>
            <a:noFill/>
          </a:ln>
        </p:spPr>
        <p:txBody>
          <a:bodyPr anchorCtr="0" anchor="t" bIns="0" lIns="0" spcFirstLastPara="1" rIns="0" wrap="square" tIns="0">
            <a:noAutofit/>
          </a:bodyPr>
          <a:lstStyle/>
          <a:p>
            <a:pPr indent="-342900" lvl="0" marL="342900" marR="0" rtl="0" algn="l">
              <a:lnSpc>
                <a:spcPct val="124000"/>
              </a:lnSpc>
              <a:spcBef>
                <a:spcPts val="0"/>
              </a:spcBef>
              <a:spcAft>
                <a:spcPts val="0"/>
              </a:spcAft>
              <a:buClr>
                <a:srgbClr val="272525"/>
              </a:buClr>
              <a:buSzPts val="950"/>
              <a:buFont typeface="Inter"/>
              <a:buChar char="•"/>
            </a:pPr>
            <a:r>
              <a:rPr b="1" lang="en" sz="950">
                <a:solidFill>
                  <a:srgbClr val="272525"/>
                </a:solidFill>
                <a:latin typeface="Inter"/>
                <a:ea typeface="Inter"/>
                <a:cs typeface="Inter"/>
                <a:sym typeface="Inter"/>
              </a:rPr>
              <a:t>Tier 1 — Central SCATS Computer:</a:t>
            </a:r>
            <a:r>
              <a:rPr lang="en" sz="950">
                <a:solidFill>
                  <a:srgbClr val="272525"/>
                </a:solidFill>
                <a:latin typeface="Inter"/>
                <a:ea typeface="Inter"/>
                <a:cs typeface="Inter"/>
                <a:sym typeface="Inter"/>
              </a:rPr>
              <a:t> Top-level management; stores the timing plan library and coordinates the entire network</a:t>
            </a:r>
            <a:endParaRPr sz="950">
              <a:solidFill>
                <a:schemeClr val="dk1"/>
              </a:solidFill>
              <a:latin typeface="Calibri"/>
              <a:ea typeface="Calibri"/>
              <a:cs typeface="Calibri"/>
              <a:sym typeface="Calibri"/>
            </a:endParaRPr>
          </a:p>
          <a:p>
            <a:pPr indent="-342900" lvl="0" marL="342900" marR="0" rtl="0" algn="l">
              <a:lnSpc>
                <a:spcPct val="124000"/>
              </a:lnSpc>
              <a:spcBef>
                <a:spcPts val="0"/>
              </a:spcBef>
              <a:spcAft>
                <a:spcPts val="0"/>
              </a:spcAft>
              <a:buClr>
                <a:srgbClr val="272525"/>
              </a:buClr>
              <a:buSzPts val="950"/>
              <a:buFont typeface="Inter"/>
              <a:buChar char="•"/>
            </a:pPr>
            <a:r>
              <a:rPr b="1" lang="en" sz="950">
                <a:solidFill>
                  <a:srgbClr val="272525"/>
                </a:solidFill>
                <a:latin typeface="Inter"/>
                <a:ea typeface="Inter"/>
                <a:cs typeface="Inter"/>
                <a:sym typeface="Inter"/>
              </a:rPr>
              <a:t>Tier 2 — Regional Computers:</a:t>
            </a:r>
            <a:r>
              <a:rPr lang="en" sz="950">
                <a:solidFill>
                  <a:srgbClr val="272525"/>
                </a:solidFill>
                <a:latin typeface="Inter"/>
                <a:ea typeface="Inter"/>
                <a:cs typeface="Inter"/>
                <a:sym typeface="Inter"/>
              </a:rPr>
              <a:t> Groups of 4–8 intersections; handle local coordination and plan selection for their subsystem</a:t>
            </a:r>
            <a:endParaRPr sz="950">
              <a:solidFill>
                <a:schemeClr val="dk1"/>
              </a:solidFill>
              <a:latin typeface="Calibri"/>
              <a:ea typeface="Calibri"/>
              <a:cs typeface="Calibri"/>
              <a:sym typeface="Calibri"/>
            </a:endParaRPr>
          </a:p>
          <a:p>
            <a:pPr indent="-342900" lvl="0" marL="342900" marR="0" rtl="0" algn="l">
              <a:lnSpc>
                <a:spcPct val="124000"/>
              </a:lnSpc>
              <a:spcBef>
                <a:spcPts val="0"/>
              </a:spcBef>
              <a:spcAft>
                <a:spcPts val="0"/>
              </a:spcAft>
              <a:buClr>
                <a:srgbClr val="272525"/>
              </a:buClr>
              <a:buSzPts val="950"/>
              <a:buFont typeface="Inter"/>
              <a:buChar char="•"/>
            </a:pPr>
            <a:r>
              <a:rPr b="1" lang="en" sz="950">
                <a:solidFill>
                  <a:srgbClr val="272525"/>
                </a:solidFill>
                <a:latin typeface="Inter"/>
                <a:ea typeface="Inter"/>
                <a:cs typeface="Inter"/>
                <a:sym typeface="Inter"/>
              </a:rPr>
              <a:t>Tier 3 — Local Signal Controllers:</a:t>
            </a:r>
            <a:r>
              <a:rPr lang="en" sz="950">
                <a:solidFill>
                  <a:srgbClr val="272525"/>
                </a:solidFill>
                <a:latin typeface="Inter"/>
                <a:ea typeface="Inter"/>
                <a:cs typeface="Inter"/>
                <a:sym typeface="Inter"/>
              </a:rPr>
              <a:t> Individual intersection units; execute selected timing plans and collect detector data for feedback</a:t>
            </a:r>
            <a:endParaRPr sz="950">
              <a:solidFill>
                <a:schemeClr val="dk1"/>
              </a:solidFill>
              <a:latin typeface="Calibri"/>
              <a:ea typeface="Calibri"/>
              <a:cs typeface="Calibri"/>
              <a:sym typeface="Calibri"/>
            </a:endParaRPr>
          </a:p>
        </p:txBody>
      </p:sp>
      <p:sp>
        <p:nvSpPr>
          <p:cNvPr id="247" name="Google Shape;247;p25"/>
          <p:cNvSpPr/>
          <p:nvPr/>
        </p:nvSpPr>
        <p:spPr>
          <a:xfrm>
            <a:off x="4725367" y="3642568"/>
            <a:ext cx="3997003" cy="1014933"/>
          </a:xfrm>
          <a:prstGeom prst="roundRect">
            <a:avLst>
              <a:gd fmla="val 5042" name="adj"/>
            </a:avLst>
          </a:prstGeom>
          <a:solidFill>
            <a:srgbClr val="C7C9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8" name="Google Shape;248;p25"/>
          <p:cNvPicPr preferRelativeResize="0"/>
          <p:nvPr/>
        </p:nvPicPr>
        <p:blipFill rotWithShape="1">
          <a:blip r:embed="rId3">
            <a:alphaModFix/>
          </a:blip>
          <a:srcRect b="0" l="0" r="0" t="0"/>
          <a:stretch/>
        </p:blipFill>
        <p:spPr>
          <a:xfrm>
            <a:off x="4847183" y="3821534"/>
            <a:ext cx="152251" cy="121816"/>
          </a:xfrm>
          <a:prstGeom prst="rect">
            <a:avLst/>
          </a:prstGeom>
          <a:noFill/>
          <a:ln>
            <a:noFill/>
          </a:ln>
        </p:spPr>
      </p:pic>
      <p:sp>
        <p:nvSpPr>
          <p:cNvPr id="249" name="Google Shape;249;p25"/>
          <p:cNvSpPr/>
          <p:nvPr/>
        </p:nvSpPr>
        <p:spPr>
          <a:xfrm>
            <a:off x="5121250" y="3777630"/>
            <a:ext cx="3479304" cy="724793"/>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000000"/>
              </a:buClr>
              <a:buSzPts val="950"/>
              <a:buFont typeface="Inter"/>
              <a:buNone/>
            </a:pPr>
            <a:r>
              <a:rPr lang="en" sz="950">
                <a:solidFill>
                  <a:srgbClr val="000000"/>
                </a:solidFill>
                <a:latin typeface="Inter"/>
                <a:ea typeface="Inter"/>
                <a:cs typeface="Inter"/>
                <a:sym typeface="Inter"/>
              </a:rPr>
              <a:t>Key distinction: SCATS </a:t>
            </a:r>
            <a:r>
              <a:rPr i="1" lang="en" sz="950">
                <a:solidFill>
                  <a:srgbClr val="000000"/>
                </a:solidFill>
                <a:latin typeface="Inter"/>
                <a:ea typeface="Inter"/>
                <a:cs typeface="Inter"/>
                <a:sym typeface="Inter"/>
              </a:rPr>
              <a:t>selects</a:t>
            </a:r>
            <a:r>
              <a:rPr lang="en" sz="950">
                <a:solidFill>
                  <a:srgbClr val="000000"/>
                </a:solidFill>
                <a:latin typeface="Inter"/>
                <a:ea typeface="Inter"/>
                <a:cs typeface="Inter"/>
                <a:sym typeface="Inter"/>
              </a:rPr>
              <a:t> from pre-built plans. SCOOT </a:t>
            </a:r>
            <a:r>
              <a:rPr i="1" lang="en" sz="950">
                <a:solidFill>
                  <a:srgbClr val="000000"/>
                </a:solidFill>
                <a:latin typeface="Inter"/>
                <a:ea typeface="Inter"/>
                <a:cs typeface="Inter"/>
                <a:sym typeface="Inter"/>
              </a:rPr>
              <a:t>computes</a:t>
            </a:r>
            <a:r>
              <a:rPr lang="en" sz="950">
                <a:solidFill>
                  <a:srgbClr val="000000"/>
                </a:solidFill>
                <a:latin typeface="Inter"/>
                <a:ea typeface="Inter"/>
                <a:cs typeface="Inter"/>
                <a:sym typeface="Inter"/>
              </a:rPr>
              <a:t> new timings continuously. Both rely on centralized infrastructure — a gap our proposed system directly addresses.</a:t>
            </a:r>
            <a:endParaRPr sz="950">
              <a:solidFill>
                <a:schemeClr val="dk1"/>
              </a:solidFill>
              <a:latin typeface="Calibri"/>
              <a:ea typeface="Calibri"/>
              <a:cs typeface="Calibri"/>
              <a:sym typeface="Calibri"/>
            </a:endParaRPr>
          </a:p>
        </p:txBody>
      </p:sp>
      <p:pic>
        <p:nvPicPr>
          <p:cNvPr id="250" name="Google Shape;250;p25"/>
          <p:cNvPicPr preferRelativeResize="0"/>
          <p:nvPr/>
        </p:nvPicPr>
        <p:blipFill rotWithShape="1">
          <a:blip r:embed="rId4">
            <a:alphaModFix/>
          </a:blip>
          <a:srcRect b="0" l="0" r="0" t="0"/>
          <a:stretch/>
        </p:blipFill>
        <p:spPr>
          <a:xfrm>
            <a:off x="5867554" y="4714815"/>
            <a:ext cx="3277057" cy="42868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6"/>
          <p:cNvSpPr/>
          <p:nvPr/>
        </p:nvSpPr>
        <p:spPr>
          <a:xfrm>
            <a:off x="434132" y="343719"/>
            <a:ext cx="535037" cy="223317"/>
          </a:xfrm>
          <a:prstGeom prst="roundRect">
            <a:avLst>
              <a:gd fmla="val 18664" name="adj"/>
            </a:avLst>
          </a:prstGeom>
          <a:solidFill>
            <a:srgbClr val="DAD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6"/>
          <p:cNvSpPr/>
          <p:nvPr/>
        </p:nvSpPr>
        <p:spPr>
          <a:xfrm>
            <a:off x="508546" y="380926"/>
            <a:ext cx="843409" cy="14890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750"/>
              <a:buFont typeface="Inter"/>
              <a:buNone/>
            </a:pPr>
            <a:r>
              <a:rPr lang="en" sz="750">
                <a:solidFill>
                  <a:srgbClr val="272525"/>
                </a:solidFill>
                <a:latin typeface="Inter"/>
                <a:ea typeface="Inter"/>
                <a:cs typeface="Inter"/>
                <a:sym typeface="Inter"/>
              </a:rPr>
              <a:t>SLIDE 11</a:t>
            </a:r>
            <a:endParaRPr sz="750">
              <a:solidFill>
                <a:schemeClr val="dk1"/>
              </a:solidFill>
              <a:latin typeface="Calibri"/>
              <a:ea typeface="Calibri"/>
              <a:cs typeface="Calibri"/>
              <a:sym typeface="Calibri"/>
            </a:endParaRPr>
          </a:p>
        </p:txBody>
      </p:sp>
      <p:sp>
        <p:nvSpPr>
          <p:cNvPr id="258" name="Google Shape;258;p26"/>
          <p:cNvSpPr/>
          <p:nvPr/>
        </p:nvSpPr>
        <p:spPr>
          <a:xfrm>
            <a:off x="434132" y="610419"/>
            <a:ext cx="4679379"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400"/>
              <a:buFont typeface="Inter"/>
              <a:buNone/>
            </a:pPr>
            <a:r>
              <a:rPr b="1" lang="en" sz="2400">
                <a:solidFill>
                  <a:srgbClr val="000000"/>
                </a:solidFill>
                <a:latin typeface="Inter"/>
                <a:ea typeface="Inter"/>
                <a:cs typeface="Inter"/>
                <a:sym typeface="Inter"/>
              </a:rPr>
              <a:t>SCATS System Architecture</a:t>
            </a:r>
            <a:endParaRPr sz="2400">
              <a:solidFill>
                <a:schemeClr val="dk1"/>
              </a:solidFill>
              <a:latin typeface="Calibri"/>
              <a:ea typeface="Calibri"/>
              <a:cs typeface="Calibri"/>
              <a:sym typeface="Calibri"/>
            </a:endParaRPr>
          </a:p>
        </p:txBody>
      </p:sp>
      <p:pic>
        <p:nvPicPr>
          <p:cNvPr id="259" name="Google Shape;259;p26"/>
          <p:cNvPicPr preferRelativeResize="0"/>
          <p:nvPr/>
        </p:nvPicPr>
        <p:blipFill rotWithShape="1">
          <a:blip r:embed="rId3">
            <a:alphaModFix/>
          </a:blip>
          <a:srcRect b="0" l="0" r="0" t="0"/>
          <a:stretch/>
        </p:blipFill>
        <p:spPr>
          <a:xfrm>
            <a:off x="5821145" y="4836798"/>
            <a:ext cx="3277057" cy="287131"/>
          </a:xfrm>
          <a:prstGeom prst="rect">
            <a:avLst/>
          </a:prstGeom>
          <a:noFill/>
          <a:ln>
            <a:noFill/>
          </a:ln>
        </p:spPr>
      </p:pic>
      <p:pic>
        <p:nvPicPr>
          <p:cNvPr id="260" name="Google Shape;260;p26"/>
          <p:cNvPicPr preferRelativeResize="0"/>
          <p:nvPr/>
        </p:nvPicPr>
        <p:blipFill>
          <a:blip r:embed="rId4">
            <a:alphaModFix/>
          </a:blip>
          <a:stretch>
            <a:fillRect/>
          </a:stretch>
        </p:blipFill>
        <p:spPr>
          <a:xfrm>
            <a:off x="149550" y="1041375"/>
            <a:ext cx="8844902" cy="39579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7"/>
          <p:cNvSpPr/>
          <p:nvPr/>
        </p:nvSpPr>
        <p:spPr>
          <a:xfrm>
            <a:off x="674489" y="368722"/>
            <a:ext cx="505495" cy="197644"/>
          </a:xfrm>
          <a:prstGeom prst="roundRect">
            <a:avLst>
              <a:gd fmla="val 19205" name="adj"/>
            </a:avLst>
          </a:prstGeom>
          <a:solidFill>
            <a:srgbClr val="DAD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
          <p:cNvSpPr/>
          <p:nvPr/>
        </p:nvSpPr>
        <p:spPr>
          <a:xfrm>
            <a:off x="742206" y="402580"/>
            <a:ext cx="827261" cy="12992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72525"/>
              </a:buClr>
              <a:buSzPts val="700"/>
              <a:buFont typeface="Inter"/>
              <a:buNone/>
            </a:pPr>
            <a:r>
              <a:rPr lang="en" sz="700">
                <a:solidFill>
                  <a:srgbClr val="272525"/>
                </a:solidFill>
                <a:latin typeface="Inter"/>
                <a:ea typeface="Inter"/>
                <a:cs typeface="Inter"/>
                <a:sym typeface="Inter"/>
              </a:rPr>
              <a:t>SLIDE 12</a:t>
            </a:r>
            <a:endParaRPr sz="700">
              <a:solidFill>
                <a:schemeClr val="dk1"/>
              </a:solidFill>
              <a:latin typeface="Calibri"/>
              <a:ea typeface="Calibri"/>
              <a:cs typeface="Calibri"/>
              <a:sym typeface="Calibri"/>
            </a:endParaRPr>
          </a:p>
        </p:txBody>
      </p:sp>
      <p:sp>
        <p:nvSpPr>
          <p:cNvPr id="268" name="Google Shape;268;p27"/>
          <p:cNvSpPr/>
          <p:nvPr/>
        </p:nvSpPr>
        <p:spPr>
          <a:xfrm>
            <a:off x="674489" y="602307"/>
            <a:ext cx="5939210" cy="3529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200"/>
              <a:buFont typeface="Inter"/>
              <a:buNone/>
            </a:pPr>
            <a:r>
              <a:rPr b="1" lang="en" sz="2200">
                <a:solidFill>
                  <a:srgbClr val="000000"/>
                </a:solidFill>
                <a:latin typeface="Inter"/>
                <a:ea typeface="Inter"/>
                <a:cs typeface="Inter"/>
                <a:sym typeface="Inter"/>
              </a:rPr>
              <a:t>Limitations and Shortcomings of SCATS</a:t>
            </a:r>
            <a:endParaRPr sz="2200">
              <a:solidFill>
                <a:schemeClr val="dk1"/>
              </a:solidFill>
              <a:latin typeface="Calibri"/>
              <a:ea typeface="Calibri"/>
              <a:cs typeface="Calibri"/>
              <a:sym typeface="Calibri"/>
            </a:endParaRPr>
          </a:p>
        </p:txBody>
      </p:sp>
      <p:sp>
        <p:nvSpPr>
          <p:cNvPr id="269" name="Google Shape;269;p27"/>
          <p:cNvSpPr/>
          <p:nvPr/>
        </p:nvSpPr>
        <p:spPr>
          <a:xfrm>
            <a:off x="674489" y="1090240"/>
            <a:ext cx="7794947" cy="32474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72525"/>
              </a:buClr>
              <a:buSzPts val="850"/>
              <a:buFont typeface="Inter"/>
              <a:buNone/>
            </a:pPr>
            <a:r>
              <a:rPr lang="en" sz="850">
                <a:solidFill>
                  <a:srgbClr val="272525"/>
                </a:solidFill>
                <a:latin typeface="Inter"/>
                <a:ea typeface="Inter"/>
                <a:cs typeface="Inter"/>
                <a:sym typeface="Inter"/>
              </a:rPr>
              <a:t>Despite widespread global deployment, SCATS carries several critical structural limitations that reduce its effectiveness and accessibility, particularly for developing-city environments.</a:t>
            </a:r>
            <a:endParaRPr sz="850">
              <a:solidFill>
                <a:schemeClr val="dk1"/>
              </a:solidFill>
              <a:latin typeface="Calibri"/>
              <a:ea typeface="Calibri"/>
              <a:cs typeface="Calibri"/>
              <a:sym typeface="Calibri"/>
            </a:endParaRPr>
          </a:p>
        </p:txBody>
      </p:sp>
      <p:sp>
        <p:nvSpPr>
          <p:cNvPr id="270" name="Google Shape;270;p27"/>
          <p:cNvSpPr/>
          <p:nvPr/>
        </p:nvSpPr>
        <p:spPr>
          <a:xfrm>
            <a:off x="674489" y="1516187"/>
            <a:ext cx="3852490" cy="1134442"/>
          </a:xfrm>
          <a:prstGeom prst="roundRect">
            <a:avLst>
              <a:gd fmla="val 4182" name="adj"/>
            </a:avLst>
          </a:prstGeom>
          <a:solidFill>
            <a:srgbClr val="FFFFFF"/>
          </a:solidFill>
          <a:ln cap="flat" cmpd="sng" w="1427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7"/>
          <p:cNvSpPr/>
          <p:nvPr/>
        </p:nvSpPr>
        <p:spPr>
          <a:xfrm>
            <a:off x="801737" y="1643435"/>
            <a:ext cx="1890489" cy="17651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00"/>
              <a:buFont typeface="Inter"/>
              <a:buNone/>
            </a:pPr>
            <a:r>
              <a:rPr b="1" lang="en" sz="1100">
                <a:solidFill>
                  <a:srgbClr val="272525"/>
                </a:solidFill>
                <a:latin typeface="Inter"/>
                <a:ea typeface="Inter"/>
                <a:cs typeface="Inter"/>
                <a:sym typeface="Inter"/>
              </a:rPr>
              <a:t>Pre-Calculated Plan Library</a:t>
            </a:r>
            <a:endParaRPr sz="1100">
              <a:solidFill>
                <a:schemeClr val="dk1"/>
              </a:solidFill>
              <a:latin typeface="Calibri"/>
              <a:ea typeface="Calibri"/>
              <a:cs typeface="Calibri"/>
              <a:sym typeface="Calibri"/>
            </a:endParaRPr>
          </a:p>
        </p:txBody>
      </p:sp>
      <p:sp>
        <p:nvSpPr>
          <p:cNvPr id="272" name="Google Shape;272;p27"/>
          <p:cNvSpPr/>
          <p:nvPr/>
        </p:nvSpPr>
        <p:spPr>
          <a:xfrm>
            <a:off x="801737" y="1873895"/>
            <a:ext cx="3597994" cy="64948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72525"/>
              </a:buClr>
              <a:buSzPts val="850"/>
              <a:buFont typeface="Inter"/>
              <a:buNone/>
            </a:pPr>
            <a:r>
              <a:rPr lang="en" sz="850">
                <a:solidFill>
                  <a:srgbClr val="272525"/>
                </a:solidFill>
                <a:latin typeface="Inter"/>
                <a:ea typeface="Inter"/>
                <a:cs typeface="Inter"/>
                <a:sym typeface="Inter"/>
              </a:rPr>
              <a:t>SCATS cannot generate </a:t>
            </a:r>
            <a:r>
              <a:rPr i="1" lang="en" sz="850">
                <a:solidFill>
                  <a:srgbClr val="272525"/>
                </a:solidFill>
                <a:latin typeface="Inter"/>
                <a:ea typeface="Inter"/>
                <a:cs typeface="Inter"/>
                <a:sym typeface="Inter"/>
              </a:rPr>
              <a:t>new</a:t>
            </a:r>
            <a:r>
              <a:rPr lang="en" sz="850">
                <a:solidFill>
                  <a:srgbClr val="272525"/>
                </a:solidFill>
                <a:latin typeface="Inter"/>
                <a:ea typeface="Inter"/>
                <a:cs typeface="Inter"/>
                <a:sym typeface="Inter"/>
              </a:rPr>
              <a:t> signal timing solutions. It only selects from a pre-calculated library. If real-world conditions fall outside covered scenarios, performance degrades significantly — true real-time optimization is impossible.</a:t>
            </a:r>
            <a:endParaRPr sz="850">
              <a:solidFill>
                <a:schemeClr val="dk1"/>
              </a:solidFill>
              <a:latin typeface="Calibri"/>
              <a:ea typeface="Calibri"/>
              <a:cs typeface="Calibri"/>
              <a:sym typeface="Calibri"/>
            </a:endParaRPr>
          </a:p>
        </p:txBody>
      </p:sp>
      <p:sp>
        <p:nvSpPr>
          <p:cNvPr id="273" name="Google Shape;273;p27"/>
          <p:cNvSpPr/>
          <p:nvPr/>
        </p:nvSpPr>
        <p:spPr>
          <a:xfrm>
            <a:off x="4616946" y="1516187"/>
            <a:ext cx="3852490" cy="1134442"/>
          </a:xfrm>
          <a:prstGeom prst="roundRect">
            <a:avLst>
              <a:gd fmla="val 4182" name="adj"/>
            </a:avLst>
          </a:prstGeom>
          <a:solidFill>
            <a:srgbClr val="FFFFFF"/>
          </a:solidFill>
          <a:ln cap="flat" cmpd="sng" w="1427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7"/>
          <p:cNvSpPr/>
          <p:nvPr/>
        </p:nvSpPr>
        <p:spPr>
          <a:xfrm>
            <a:off x="4744194" y="1643435"/>
            <a:ext cx="1880146" cy="17651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00"/>
              <a:buFont typeface="Inter"/>
              <a:buNone/>
            </a:pPr>
            <a:r>
              <a:rPr b="1" lang="en" sz="1100">
                <a:solidFill>
                  <a:srgbClr val="272525"/>
                </a:solidFill>
                <a:latin typeface="Inter"/>
                <a:ea typeface="Inter"/>
                <a:cs typeface="Inter"/>
                <a:sym typeface="Inter"/>
              </a:rPr>
              <a:t>Loop Detector Dependency</a:t>
            </a:r>
            <a:endParaRPr sz="1100">
              <a:solidFill>
                <a:schemeClr val="dk1"/>
              </a:solidFill>
              <a:latin typeface="Calibri"/>
              <a:ea typeface="Calibri"/>
              <a:cs typeface="Calibri"/>
              <a:sym typeface="Calibri"/>
            </a:endParaRPr>
          </a:p>
        </p:txBody>
      </p:sp>
      <p:sp>
        <p:nvSpPr>
          <p:cNvPr id="275" name="Google Shape;275;p27"/>
          <p:cNvSpPr/>
          <p:nvPr/>
        </p:nvSpPr>
        <p:spPr>
          <a:xfrm>
            <a:off x="4744194" y="1873895"/>
            <a:ext cx="3597994" cy="64948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72525"/>
              </a:buClr>
              <a:buSzPts val="850"/>
              <a:buFont typeface="Inter"/>
              <a:buNone/>
            </a:pPr>
            <a:r>
              <a:rPr lang="en" sz="850">
                <a:solidFill>
                  <a:srgbClr val="272525"/>
                </a:solidFill>
                <a:latin typeface="Inter"/>
                <a:ea typeface="Inter"/>
                <a:cs typeface="Inter"/>
                <a:sym typeface="Inter"/>
              </a:rPr>
              <a:t>The entire system relies on inductive loop detectors embedded in road pavement. Faults directly degrade timing quality. Detectors are expensive to install and repair, and failures are common due to road wear and heavy vehicles.</a:t>
            </a:r>
            <a:endParaRPr sz="850">
              <a:solidFill>
                <a:schemeClr val="dk1"/>
              </a:solidFill>
              <a:latin typeface="Calibri"/>
              <a:ea typeface="Calibri"/>
              <a:cs typeface="Calibri"/>
              <a:sym typeface="Calibri"/>
            </a:endParaRPr>
          </a:p>
        </p:txBody>
      </p:sp>
      <p:sp>
        <p:nvSpPr>
          <p:cNvPr id="276" name="Google Shape;276;p27"/>
          <p:cNvSpPr/>
          <p:nvPr/>
        </p:nvSpPr>
        <p:spPr>
          <a:xfrm>
            <a:off x="674489" y="2740596"/>
            <a:ext cx="3852490" cy="972071"/>
          </a:xfrm>
          <a:prstGeom prst="roundRect">
            <a:avLst>
              <a:gd fmla="val 4881" name="adj"/>
            </a:avLst>
          </a:prstGeom>
          <a:solidFill>
            <a:srgbClr val="FFFFFF"/>
          </a:solidFill>
          <a:ln cap="flat" cmpd="sng" w="1427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7"/>
          <p:cNvSpPr/>
          <p:nvPr/>
        </p:nvSpPr>
        <p:spPr>
          <a:xfrm>
            <a:off x="801737" y="2867844"/>
            <a:ext cx="1667545" cy="17651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00"/>
              <a:buFont typeface="Inter"/>
              <a:buNone/>
            </a:pPr>
            <a:r>
              <a:rPr b="1" lang="en" sz="1100">
                <a:solidFill>
                  <a:srgbClr val="272525"/>
                </a:solidFill>
                <a:latin typeface="Inter"/>
                <a:ea typeface="Inter"/>
                <a:cs typeface="Inter"/>
                <a:sym typeface="Inter"/>
              </a:rPr>
              <a:t>High Infrastructure Cost</a:t>
            </a:r>
            <a:endParaRPr sz="1100">
              <a:solidFill>
                <a:schemeClr val="dk1"/>
              </a:solidFill>
              <a:latin typeface="Calibri"/>
              <a:ea typeface="Calibri"/>
              <a:cs typeface="Calibri"/>
              <a:sym typeface="Calibri"/>
            </a:endParaRPr>
          </a:p>
        </p:txBody>
      </p:sp>
      <p:sp>
        <p:nvSpPr>
          <p:cNvPr id="278" name="Google Shape;278;p27"/>
          <p:cNvSpPr/>
          <p:nvPr/>
        </p:nvSpPr>
        <p:spPr>
          <a:xfrm>
            <a:off x="801737" y="3098304"/>
            <a:ext cx="3597994" cy="48711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72525"/>
              </a:buClr>
              <a:buSzPts val="850"/>
              <a:buFont typeface="Inter"/>
              <a:buNone/>
            </a:pPr>
            <a:r>
              <a:rPr lang="en" sz="850">
                <a:solidFill>
                  <a:srgbClr val="272525"/>
                </a:solidFill>
                <a:latin typeface="Inter"/>
                <a:ea typeface="Inter"/>
                <a:cs typeface="Inter"/>
                <a:sym typeface="Inter"/>
              </a:rPr>
              <a:t>Inductive loops at every approach lane, a three-tier communication network, and specialist-level calibration make SCATS unsuitable for low-budget or developing-city deployments.</a:t>
            </a:r>
            <a:endParaRPr sz="850">
              <a:solidFill>
                <a:schemeClr val="dk1"/>
              </a:solidFill>
              <a:latin typeface="Calibri"/>
              <a:ea typeface="Calibri"/>
              <a:cs typeface="Calibri"/>
              <a:sym typeface="Calibri"/>
            </a:endParaRPr>
          </a:p>
        </p:txBody>
      </p:sp>
      <p:sp>
        <p:nvSpPr>
          <p:cNvPr id="279" name="Google Shape;279;p27"/>
          <p:cNvSpPr/>
          <p:nvPr/>
        </p:nvSpPr>
        <p:spPr>
          <a:xfrm>
            <a:off x="4616946" y="2740596"/>
            <a:ext cx="3852490" cy="972071"/>
          </a:xfrm>
          <a:prstGeom prst="roundRect">
            <a:avLst>
              <a:gd fmla="val 4881" name="adj"/>
            </a:avLst>
          </a:prstGeom>
          <a:solidFill>
            <a:srgbClr val="FFFFFF"/>
          </a:solidFill>
          <a:ln cap="flat" cmpd="sng" w="1427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7"/>
          <p:cNvSpPr/>
          <p:nvPr/>
        </p:nvSpPr>
        <p:spPr>
          <a:xfrm>
            <a:off x="4744194" y="2867844"/>
            <a:ext cx="1676474" cy="17651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00"/>
              <a:buFont typeface="Inter"/>
              <a:buNone/>
            </a:pPr>
            <a:r>
              <a:rPr b="1" lang="en" sz="1100">
                <a:solidFill>
                  <a:srgbClr val="272525"/>
                </a:solidFill>
                <a:latin typeface="Inter"/>
                <a:ea typeface="Inter"/>
                <a:cs typeface="Inter"/>
                <a:sym typeface="Inter"/>
              </a:rPr>
              <a:t>Communication Latency</a:t>
            </a:r>
            <a:endParaRPr sz="1100">
              <a:solidFill>
                <a:schemeClr val="dk1"/>
              </a:solidFill>
              <a:latin typeface="Calibri"/>
              <a:ea typeface="Calibri"/>
              <a:cs typeface="Calibri"/>
              <a:sym typeface="Calibri"/>
            </a:endParaRPr>
          </a:p>
        </p:txBody>
      </p:sp>
      <p:sp>
        <p:nvSpPr>
          <p:cNvPr id="281" name="Google Shape;281;p27"/>
          <p:cNvSpPr/>
          <p:nvPr/>
        </p:nvSpPr>
        <p:spPr>
          <a:xfrm>
            <a:off x="4744194" y="3098304"/>
            <a:ext cx="3597994" cy="48711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72525"/>
              </a:buClr>
              <a:buSzPts val="850"/>
              <a:buFont typeface="Inter"/>
              <a:buNone/>
            </a:pPr>
            <a:r>
              <a:rPr lang="en" sz="850">
                <a:solidFill>
                  <a:srgbClr val="272525"/>
                </a:solidFill>
                <a:latin typeface="Inter"/>
                <a:ea typeface="Inter"/>
                <a:cs typeface="Inter"/>
                <a:sym typeface="Inter"/>
              </a:rPr>
              <a:t>Decisions pass through three layers (local → regional → central → back down). In rapidly changing traffic, this lag means the system is always reacting to slightly stale data.</a:t>
            </a:r>
            <a:endParaRPr sz="850">
              <a:solidFill>
                <a:schemeClr val="dk1"/>
              </a:solidFill>
              <a:latin typeface="Calibri"/>
              <a:ea typeface="Calibri"/>
              <a:cs typeface="Calibri"/>
              <a:sym typeface="Calibri"/>
            </a:endParaRPr>
          </a:p>
        </p:txBody>
      </p:sp>
      <p:sp>
        <p:nvSpPr>
          <p:cNvPr id="282" name="Google Shape;282;p27"/>
          <p:cNvSpPr/>
          <p:nvPr/>
        </p:nvSpPr>
        <p:spPr>
          <a:xfrm>
            <a:off x="674489" y="3802633"/>
            <a:ext cx="3852490" cy="972071"/>
          </a:xfrm>
          <a:prstGeom prst="roundRect">
            <a:avLst>
              <a:gd fmla="val 4881" name="adj"/>
            </a:avLst>
          </a:prstGeom>
          <a:solidFill>
            <a:srgbClr val="FFFFFF"/>
          </a:solidFill>
          <a:ln cap="flat" cmpd="sng" w="1427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7"/>
          <p:cNvSpPr/>
          <p:nvPr/>
        </p:nvSpPr>
        <p:spPr>
          <a:xfrm>
            <a:off x="801737" y="3929881"/>
            <a:ext cx="1642318" cy="17651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00"/>
              <a:buFont typeface="Inter"/>
              <a:buNone/>
            </a:pPr>
            <a:r>
              <a:rPr b="1" lang="en" sz="1100">
                <a:solidFill>
                  <a:srgbClr val="272525"/>
                </a:solidFill>
                <a:latin typeface="Inter"/>
                <a:ea typeface="Inter"/>
                <a:cs typeface="Inter"/>
                <a:sym typeface="Inter"/>
              </a:rPr>
              <a:t>Manual Library Updates</a:t>
            </a:r>
            <a:endParaRPr sz="1100">
              <a:solidFill>
                <a:schemeClr val="dk1"/>
              </a:solidFill>
              <a:latin typeface="Calibri"/>
              <a:ea typeface="Calibri"/>
              <a:cs typeface="Calibri"/>
              <a:sym typeface="Calibri"/>
            </a:endParaRPr>
          </a:p>
        </p:txBody>
      </p:sp>
      <p:sp>
        <p:nvSpPr>
          <p:cNvPr id="284" name="Google Shape;284;p27"/>
          <p:cNvSpPr/>
          <p:nvPr/>
        </p:nvSpPr>
        <p:spPr>
          <a:xfrm>
            <a:off x="801737" y="4160341"/>
            <a:ext cx="3597994" cy="48711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72525"/>
              </a:buClr>
              <a:buSzPts val="850"/>
              <a:buFont typeface="Inter"/>
              <a:buNone/>
            </a:pPr>
            <a:r>
              <a:rPr lang="en" sz="850">
                <a:solidFill>
                  <a:srgbClr val="272525"/>
                </a:solidFill>
                <a:latin typeface="Inter"/>
                <a:ea typeface="Inter"/>
                <a:cs typeface="Inter"/>
                <a:sym typeface="Inter"/>
              </a:rPr>
              <a:t>As traffic patterns evolve seasonally, the plan library becomes outdated. Engineers must periodically re-survey, recalculate, and update the library — requiring continuous specialist labor.</a:t>
            </a:r>
            <a:endParaRPr sz="850">
              <a:solidFill>
                <a:schemeClr val="dk1"/>
              </a:solidFill>
              <a:latin typeface="Calibri"/>
              <a:ea typeface="Calibri"/>
              <a:cs typeface="Calibri"/>
              <a:sym typeface="Calibri"/>
            </a:endParaRPr>
          </a:p>
        </p:txBody>
      </p:sp>
      <p:sp>
        <p:nvSpPr>
          <p:cNvPr id="285" name="Google Shape;285;p27"/>
          <p:cNvSpPr/>
          <p:nvPr/>
        </p:nvSpPr>
        <p:spPr>
          <a:xfrm>
            <a:off x="4616946" y="3802633"/>
            <a:ext cx="3852490" cy="972071"/>
          </a:xfrm>
          <a:prstGeom prst="roundRect">
            <a:avLst>
              <a:gd fmla="val 4881" name="adj"/>
            </a:avLst>
          </a:prstGeom>
          <a:solidFill>
            <a:srgbClr val="FFFFFF"/>
          </a:solidFill>
          <a:ln cap="flat" cmpd="sng" w="1427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7"/>
          <p:cNvSpPr/>
          <p:nvPr/>
        </p:nvSpPr>
        <p:spPr>
          <a:xfrm>
            <a:off x="4744194" y="3929881"/>
            <a:ext cx="1836316" cy="17651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100"/>
              <a:buFont typeface="Inter"/>
              <a:buNone/>
            </a:pPr>
            <a:r>
              <a:rPr b="1" lang="en" sz="1100">
                <a:solidFill>
                  <a:srgbClr val="272525"/>
                </a:solidFill>
                <a:latin typeface="Inter"/>
                <a:ea typeface="Inter"/>
                <a:cs typeface="Inter"/>
                <a:sym typeface="Inter"/>
              </a:rPr>
              <a:t>No Emergency Preemption</a:t>
            </a:r>
            <a:endParaRPr sz="1100">
              <a:solidFill>
                <a:schemeClr val="dk1"/>
              </a:solidFill>
              <a:latin typeface="Calibri"/>
              <a:ea typeface="Calibri"/>
              <a:cs typeface="Calibri"/>
              <a:sym typeface="Calibri"/>
            </a:endParaRPr>
          </a:p>
        </p:txBody>
      </p:sp>
      <p:sp>
        <p:nvSpPr>
          <p:cNvPr id="287" name="Google Shape;287;p27"/>
          <p:cNvSpPr/>
          <p:nvPr/>
        </p:nvSpPr>
        <p:spPr>
          <a:xfrm>
            <a:off x="4744194" y="4160341"/>
            <a:ext cx="3597994" cy="48711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72525"/>
              </a:buClr>
              <a:buSzPts val="850"/>
              <a:buFont typeface="Inter"/>
              <a:buNone/>
            </a:pPr>
            <a:r>
              <a:rPr lang="en" sz="850">
                <a:solidFill>
                  <a:srgbClr val="272525"/>
                </a:solidFill>
                <a:latin typeface="Inter"/>
                <a:ea typeface="Inter"/>
                <a:cs typeface="Inter"/>
                <a:sym typeface="Inter"/>
              </a:rPr>
              <a:t>SCATS has no built-in emergency vehicle detection or signal preemption. Priority requires a separate add-on system integrated with dispatch centers, adding complexity and cost.</a:t>
            </a:r>
            <a:endParaRPr sz="850">
              <a:solidFill>
                <a:schemeClr val="dk1"/>
              </a:solidFill>
              <a:latin typeface="Calibri"/>
              <a:ea typeface="Calibri"/>
              <a:cs typeface="Calibri"/>
              <a:sym typeface="Calibri"/>
            </a:endParaRPr>
          </a:p>
        </p:txBody>
      </p:sp>
      <p:pic>
        <p:nvPicPr>
          <p:cNvPr id="288" name="Google Shape;288;p27"/>
          <p:cNvPicPr preferRelativeResize="0"/>
          <p:nvPr/>
        </p:nvPicPr>
        <p:blipFill rotWithShape="1">
          <a:blip r:embed="rId3">
            <a:alphaModFix/>
          </a:blip>
          <a:srcRect b="0" l="0" r="0" t="0"/>
          <a:stretch/>
        </p:blipFill>
        <p:spPr>
          <a:xfrm>
            <a:off x="5810314" y="4828654"/>
            <a:ext cx="3277057" cy="28764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8"/>
          <p:cNvSpPr/>
          <p:nvPr/>
        </p:nvSpPr>
        <p:spPr>
          <a:xfrm>
            <a:off x="1056605" y="339923"/>
            <a:ext cx="456605" cy="173013"/>
          </a:xfrm>
          <a:prstGeom prst="roundRect">
            <a:avLst>
              <a:gd fmla="val 19789" name="adj"/>
            </a:avLst>
          </a:prstGeom>
          <a:solidFill>
            <a:srgbClr val="DAD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8"/>
          <p:cNvSpPr/>
          <p:nvPr/>
        </p:nvSpPr>
        <p:spPr>
          <a:xfrm>
            <a:off x="1117699" y="370433"/>
            <a:ext cx="791617" cy="11199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600"/>
              <a:buFont typeface="Inter"/>
              <a:buNone/>
            </a:pPr>
            <a:r>
              <a:rPr lang="en" sz="600">
                <a:solidFill>
                  <a:srgbClr val="272525"/>
                </a:solidFill>
                <a:latin typeface="Inter"/>
                <a:ea typeface="Inter"/>
                <a:cs typeface="Inter"/>
                <a:sym typeface="Inter"/>
              </a:rPr>
              <a:t>SLIDE 13</a:t>
            </a:r>
            <a:endParaRPr sz="600">
              <a:solidFill>
                <a:schemeClr val="dk1"/>
              </a:solidFill>
              <a:latin typeface="Calibri"/>
              <a:ea typeface="Calibri"/>
              <a:cs typeface="Calibri"/>
              <a:sym typeface="Calibri"/>
            </a:endParaRPr>
          </a:p>
        </p:txBody>
      </p:sp>
      <p:sp>
        <p:nvSpPr>
          <p:cNvPr id="296" name="Google Shape;296;p28"/>
          <p:cNvSpPr/>
          <p:nvPr/>
        </p:nvSpPr>
        <p:spPr>
          <a:xfrm>
            <a:off x="1056605" y="542181"/>
            <a:ext cx="7056090" cy="31834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000"/>
              <a:buFont typeface="Inter"/>
              <a:buNone/>
            </a:pPr>
            <a:r>
              <a:rPr b="1" lang="en" sz="2000">
                <a:solidFill>
                  <a:srgbClr val="000000"/>
                </a:solidFill>
                <a:latin typeface="Inter"/>
                <a:ea typeface="Inter"/>
                <a:cs typeface="Inter"/>
                <a:sym typeface="Inter"/>
              </a:rPr>
              <a:t>System Comparison: SCOOT vs. SCATS vs. Proposed</a:t>
            </a:r>
            <a:endParaRPr sz="2000">
              <a:solidFill>
                <a:schemeClr val="dk1"/>
              </a:solidFill>
              <a:latin typeface="Calibri"/>
              <a:ea typeface="Calibri"/>
              <a:cs typeface="Calibri"/>
              <a:sym typeface="Calibri"/>
            </a:endParaRPr>
          </a:p>
        </p:txBody>
      </p:sp>
      <p:sp>
        <p:nvSpPr>
          <p:cNvPr id="297" name="Google Shape;297;p28"/>
          <p:cNvSpPr/>
          <p:nvPr/>
        </p:nvSpPr>
        <p:spPr>
          <a:xfrm>
            <a:off x="1056605" y="970359"/>
            <a:ext cx="7030715"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The table below directly compares the three systems across eleven key evaluation dimensions, highlighting where the proposed heuristic system offers a clear engineering advantage.</a:t>
            </a:r>
            <a:endParaRPr sz="800">
              <a:solidFill>
                <a:schemeClr val="dk1"/>
              </a:solidFill>
              <a:latin typeface="Calibri"/>
              <a:ea typeface="Calibri"/>
              <a:cs typeface="Calibri"/>
              <a:sym typeface="Calibri"/>
            </a:endParaRPr>
          </a:p>
        </p:txBody>
      </p:sp>
      <p:sp>
        <p:nvSpPr>
          <p:cNvPr id="298" name="Google Shape;298;p28"/>
          <p:cNvSpPr/>
          <p:nvPr/>
        </p:nvSpPr>
        <p:spPr>
          <a:xfrm>
            <a:off x="1056605" y="1332830"/>
            <a:ext cx="7030715" cy="3470672"/>
          </a:xfrm>
          <a:prstGeom prst="roundRect">
            <a:avLst>
              <a:gd fmla="val 1233"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8"/>
          <p:cNvSpPr/>
          <p:nvPr/>
        </p:nvSpPr>
        <p:spPr>
          <a:xfrm>
            <a:off x="1163464" y="1386260"/>
            <a:ext cx="1795686"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b="1" lang="en" sz="800">
                <a:solidFill>
                  <a:srgbClr val="272525"/>
                </a:solidFill>
                <a:latin typeface="Inter"/>
                <a:ea typeface="Inter"/>
                <a:cs typeface="Inter"/>
                <a:sym typeface="Inter"/>
              </a:rPr>
              <a:t>Feature</a:t>
            </a:r>
            <a:endParaRPr sz="800">
              <a:solidFill>
                <a:schemeClr val="dk1"/>
              </a:solidFill>
              <a:latin typeface="Calibri"/>
              <a:ea typeface="Calibri"/>
              <a:cs typeface="Calibri"/>
              <a:sym typeface="Calibri"/>
            </a:endParaRPr>
          </a:p>
        </p:txBody>
      </p:sp>
      <p:sp>
        <p:nvSpPr>
          <p:cNvPr id="300" name="Google Shape;300;p28"/>
          <p:cNvSpPr/>
          <p:nvPr/>
        </p:nvSpPr>
        <p:spPr>
          <a:xfrm>
            <a:off x="2710458" y="1386260"/>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b="1" lang="en" sz="800">
                <a:solidFill>
                  <a:srgbClr val="272525"/>
                </a:solidFill>
                <a:latin typeface="Inter"/>
                <a:ea typeface="Inter"/>
                <a:cs typeface="Inter"/>
                <a:sym typeface="Inter"/>
              </a:rPr>
              <a:t>SCOOT</a:t>
            </a:r>
            <a:endParaRPr sz="800">
              <a:solidFill>
                <a:schemeClr val="dk1"/>
              </a:solidFill>
              <a:latin typeface="Calibri"/>
              <a:ea typeface="Calibri"/>
              <a:cs typeface="Calibri"/>
              <a:sym typeface="Calibri"/>
            </a:endParaRPr>
          </a:p>
        </p:txBody>
      </p:sp>
      <p:sp>
        <p:nvSpPr>
          <p:cNvPr id="301" name="Google Shape;301;p28"/>
          <p:cNvSpPr/>
          <p:nvPr/>
        </p:nvSpPr>
        <p:spPr>
          <a:xfrm>
            <a:off x="4535909" y="1386260"/>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b="1" lang="en" sz="800">
                <a:solidFill>
                  <a:srgbClr val="272525"/>
                </a:solidFill>
                <a:latin typeface="Inter"/>
                <a:ea typeface="Inter"/>
                <a:cs typeface="Inter"/>
                <a:sym typeface="Inter"/>
              </a:rPr>
              <a:t>SCATS</a:t>
            </a:r>
            <a:endParaRPr sz="800">
              <a:solidFill>
                <a:schemeClr val="dk1"/>
              </a:solidFill>
              <a:latin typeface="Calibri"/>
              <a:ea typeface="Calibri"/>
              <a:cs typeface="Calibri"/>
              <a:sym typeface="Calibri"/>
            </a:endParaRPr>
          </a:p>
        </p:txBody>
      </p:sp>
      <p:sp>
        <p:nvSpPr>
          <p:cNvPr id="302" name="Google Shape;302;p28"/>
          <p:cNvSpPr/>
          <p:nvPr/>
        </p:nvSpPr>
        <p:spPr>
          <a:xfrm>
            <a:off x="6361361" y="1386260"/>
            <a:ext cx="2076524"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b="1" lang="en" sz="800">
                <a:solidFill>
                  <a:srgbClr val="272525"/>
                </a:solidFill>
                <a:latin typeface="Inter"/>
                <a:ea typeface="Inter"/>
                <a:cs typeface="Inter"/>
                <a:sym typeface="Inter"/>
              </a:rPr>
              <a:t>Proposed Heuristic</a:t>
            </a:r>
            <a:endParaRPr sz="800">
              <a:solidFill>
                <a:schemeClr val="dk1"/>
              </a:solidFill>
              <a:latin typeface="Calibri"/>
              <a:ea typeface="Calibri"/>
              <a:cs typeface="Calibri"/>
              <a:sym typeface="Calibri"/>
            </a:endParaRPr>
          </a:p>
        </p:txBody>
      </p:sp>
      <p:sp>
        <p:nvSpPr>
          <p:cNvPr id="303" name="Google Shape;303;p28"/>
          <p:cNvSpPr/>
          <p:nvPr/>
        </p:nvSpPr>
        <p:spPr>
          <a:xfrm>
            <a:off x="1163464" y="1628403"/>
            <a:ext cx="1795686"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Control Type</a:t>
            </a:r>
            <a:endParaRPr sz="800">
              <a:solidFill>
                <a:schemeClr val="dk1"/>
              </a:solidFill>
              <a:latin typeface="Calibri"/>
              <a:ea typeface="Calibri"/>
              <a:cs typeface="Calibri"/>
              <a:sym typeface="Calibri"/>
            </a:endParaRPr>
          </a:p>
        </p:txBody>
      </p:sp>
      <p:sp>
        <p:nvSpPr>
          <p:cNvPr id="304" name="Google Shape;304;p28"/>
          <p:cNvSpPr/>
          <p:nvPr/>
        </p:nvSpPr>
        <p:spPr>
          <a:xfrm>
            <a:off x="2710458" y="1628403"/>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Mathematical model optimization</a:t>
            </a:r>
            <a:endParaRPr sz="800">
              <a:solidFill>
                <a:schemeClr val="dk1"/>
              </a:solidFill>
              <a:latin typeface="Calibri"/>
              <a:ea typeface="Calibri"/>
              <a:cs typeface="Calibri"/>
              <a:sym typeface="Calibri"/>
            </a:endParaRPr>
          </a:p>
        </p:txBody>
      </p:sp>
      <p:sp>
        <p:nvSpPr>
          <p:cNvPr id="305" name="Google Shape;305;p28"/>
          <p:cNvSpPr/>
          <p:nvPr/>
        </p:nvSpPr>
        <p:spPr>
          <a:xfrm>
            <a:off x="4535909" y="1628403"/>
            <a:ext cx="1616943"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Heuristic plan selection from library</a:t>
            </a:r>
            <a:endParaRPr sz="800">
              <a:solidFill>
                <a:schemeClr val="dk1"/>
              </a:solidFill>
              <a:latin typeface="Calibri"/>
              <a:ea typeface="Calibri"/>
              <a:cs typeface="Calibri"/>
              <a:sym typeface="Calibri"/>
            </a:endParaRPr>
          </a:p>
        </p:txBody>
      </p:sp>
      <p:sp>
        <p:nvSpPr>
          <p:cNvPr id="306" name="Google Shape;306;p28"/>
          <p:cNvSpPr/>
          <p:nvPr/>
        </p:nvSpPr>
        <p:spPr>
          <a:xfrm>
            <a:off x="6361361" y="1628403"/>
            <a:ext cx="2076524"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Real-time rule-based logic</a:t>
            </a:r>
            <a:endParaRPr sz="800">
              <a:solidFill>
                <a:schemeClr val="dk1"/>
              </a:solidFill>
              <a:latin typeface="Calibri"/>
              <a:ea typeface="Calibri"/>
              <a:cs typeface="Calibri"/>
              <a:sym typeface="Calibri"/>
            </a:endParaRPr>
          </a:p>
        </p:txBody>
      </p:sp>
      <p:sp>
        <p:nvSpPr>
          <p:cNvPr id="307" name="Google Shape;307;p28"/>
          <p:cNvSpPr/>
          <p:nvPr/>
        </p:nvSpPr>
        <p:spPr>
          <a:xfrm>
            <a:off x="1163464" y="2010594"/>
            <a:ext cx="1795686"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Adaptation Method</a:t>
            </a:r>
            <a:endParaRPr sz="800">
              <a:solidFill>
                <a:schemeClr val="dk1"/>
              </a:solidFill>
              <a:latin typeface="Calibri"/>
              <a:ea typeface="Calibri"/>
              <a:cs typeface="Calibri"/>
              <a:sym typeface="Calibri"/>
            </a:endParaRPr>
          </a:p>
        </p:txBody>
      </p:sp>
      <p:sp>
        <p:nvSpPr>
          <p:cNvPr id="308" name="Google Shape;308;p28"/>
          <p:cNvSpPr/>
          <p:nvPr/>
        </p:nvSpPr>
        <p:spPr>
          <a:xfrm>
            <a:off x="2710458" y="2010594"/>
            <a:ext cx="1616943"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Continuous small incremental adjustments</a:t>
            </a:r>
            <a:endParaRPr sz="800">
              <a:solidFill>
                <a:schemeClr val="dk1"/>
              </a:solidFill>
              <a:latin typeface="Calibri"/>
              <a:ea typeface="Calibri"/>
              <a:cs typeface="Calibri"/>
              <a:sym typeface="Calibri"/>
            </a:endParaRPr>
          </a:p>
        </p:txBody>
      </p:sp>
      <p:sp>
        <p:nvSpPr>
          <p:cNvPr id="309" name="Google Shape;309;p28"/>
          <p:cNvSpPr/>
          <p:nvPr/>
        </p:nvSpPr>
        <p:spPr>
          <a:xfrm>
            <a:off x="4535909" y="2010594"/>
            <a:ext cx="1616943"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Selects best plan from pre-calculated library</a:t>
            </a:r>
            <a:endParaRPr sz="800">
              <a:solidFill>
                <a:schemeClr val="dk1"/>
              </a:solidFill>
              <a:latin typeface="Calibri"/>
              <a:ea typeface="Calibri"/>
              <a:cs typeface="Calibri"/>
              <a:sym typeface="Calibri"/>
            </a:endParaRPr>
          </a:p>
        </p:txBody>
      </p:sp>
      <p:sp>
        <p:nvSpPr>
          <p:cNvPr id="310" name="Google Shape;310;p28"/>
          <p:cNvSpPr/>
          <p:nvPr/>
        </p:nvSpPr>
        <p:spPr>
          <a:xfrm>
            <a:off x="6361361" y="2010594"/>
            <a:ext cx="1619324"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Dynamic if-then rules on live density</a:t>
            </a:r>
            <a:endParaRPr sz="800">
              <a:solidFill>
                <a:schemeClr val="dk1"/>
              </a:solidFill>
              <a:latin typeface="Calibri"/>
              <a:ea typeface="Calibri"/>
              <a:cs typeface="Calibri"/>
              <a:sym typeface="Calibri"/>
            </a:endParaRPr>
          </a:p>
        </p:txBody>
      </p:sp>
      <p:sp>
        <p:nvSpPr>
          <p:cNvPr id="311" name="Google Shape;311;p28"/>
          <p:cNvSpPr/>
          <p:nvPr/>
        </p:nvSpPr>
        <p:spPr>
          <a:xfrm>
            <a:off x="1163464" y="2392784"/>
            <a:ext cx="1795686"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Detector Type</a:t>
            </a:r>
            <a:endParaRPr sz="800">
              <a:solidFill>
                <a:schemeClr val="dk1"/>
              </a:solidFill>
              <a:latin typeface="Calibri"/>
              <a:ea typeface="Calibri"/>
              <a:cs typeface="Calibri"/>
              <a:sym typeface="Calibri"/>
            </a:endParaRPr>
          </a:p>
        </p:txBody>
      </p:sp>
      <p:sp>
        <p:nvSpPr>
          <p:cNvPr id="312" name="Google Shape;312;p28"/>
          <p:cNvSpPr/>
          <p:nvPr/>
        </p:nvSpPr>
        <p:spPr>
          <a:xfrm>
            <a:off x="2710458" y="2392784"/>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Upstream inductive loops</a:t>
            </a:r>
            <a:endParaRPr sz="800">
              <a:solidFill>
                <a:schemeClr val="dk1"/>
              </a:solidFill>
              <a:latin typeface="Calibri"/>
              <a:ea typeface="Calibri"/>
              <a:cs typeface="Calibri"/>
              <a:sym typeface="Calibri"/>
            </a:endParaRPr>
          </a:p>
        </p:txBody>
      </p:sp>
      <p:sp>
        <p:nvSpPr>
          <p:cNvPr id="313" name="Google Shape;313;p28"/>
          <p:cNvSpPr/>
          <p:nvPr/>
        </p:nvSpPr>
        <p:spPr>
          <a:xfrm>
            <a:off x="4535909" y="2392784"/>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Stop-line inductive loops</a:t>
            </a:r>
            <a:endParaRPr sz="800">
              <a:solidFill>
                <a:schemeClr val="dk1"/>
              </a:solidFill>
              <a:latin typeface="Calibri"/>
              <a:ea typeface="Calibri"/>
              <a:cs typeface="Calibri"/>
              <a:sym typeface="Calibri"/>
            </a:endParaRPr>
          </a:p>
        </p:txBody>
      </p:sp>
      <p:sp>
        <p:nvSpPr>
          <p:cNvPr id="314" name="Google Shape;314;p28"/>
          <p:cNvSpPr/>
          <p:nvPr/>
        </p:nvSpPr>
        <p:spPr>
          <a:xfrm>
            <a:off x="6361361" y="2392784"/>
            <a:ext cx="2076524"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IR / Ultrasonic (low cost)</a:t>
            </a:r>
            <a:endParaRPr sz="800">
              <a:solidFill>
                <a:schemeClr val="dk1"/>
              </a:solidFill>
              <a:latin typeface="Calibri"/>
              <a:ea typeface="Calibri"/>
              <a:cs typeface="Calibri"/>
              <a:sym typeface="Calibri"/>
            </a:endParaRPr>
          </a:p>
        </p:txBody>
      </p:sp>
      <p:sp>
        <p:nvSpPr>
          <p:cNvPr id="315" name="Google Shape;315;p28"/>
          <p:cNvSpPr/>
          <p:nvPr/>
        </p:nvSpPr>
        <p:spPr>
          <a:xfrm>
            <a:off x="1163464" y="2634928"/>
            <a:ext cx="1795686"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Architecture</a:t>
            </a:r>
            <a:endParaRPr sz="800">
              <a:solidFill>
                <a:schemeClr val="dk1"/>
              </a:solidFill>
              <a:latin typeface="Calibri"/>
              <a:ea typeface="Calibri"/>
              <a:cs typeface="Calibri"/>
              <a:sym typeface="Calibri"/>
            </a:endParaRPr>
          </a:p>
        </p:txBody>
      </p:sp>
      <p:sp>
        <p:nvSpPr>
          <p:cNvPr id="316" name="Google Shape;316;p28"/>
          <p:cNvSpPr/>
          <p:nvPr/>
        </p:nvSpPr>
        <p:spPr>
          <a:xfrm>
            <a:off x="2710458" y="2634928"/>
            <a:ext cx="1616943"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Centralized UTC + local controllers</a:t>
            </a:r>
            <a:endParaRPr sz="800">
              <a:solidFill>
                <a:schemeClr val="dk1"/>
              </a:solidFill>
              <a:latin typeface="Calibri"/>
              <a:ea typeface="Calibri"/>
              <a:cs typeface="Calibri"/>
              <a:sym typeface="Calibri"/>
            </a:endParaRPr>
          </a:p>
        </p:txBody>
      </p:sp>
      <p:sp>
        <p:nvSpPr>
          <p:cNvPr id="317" name="Google Shape;317;p28"/>
          <p:cNvSpPr/>
          <p:nvPr/>
        </p:nvSpPr>
        <p:spPr>
          <a:xfrm>
            <a:off x="4535909" y="2634928"/>
            <a:ext cx="1616943"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3-tier: Central → Regional → Local</a:t>
            </a:r>
            <a:endParaRPr sz="800">
              <a:solidFill>
                <a:schemeClr val="dk1"/>
              </a:solidFill>
              <a:latin typeface="Calibri"/>
              <a:ea typeface="Calibri"/>
              <a:cs typeface="Calibri"/>
              <a:sym typeface="Calibri"/>
            </a:endParaRPr>
          </a:p>
        </p:txBody>
      </p:sp>
      <p:sp>
        <p:nvSpPr>
          <p:cNvPr id="318" name="Google Shape;318;p28"/>
          <p:cNvSpPr/>
          <p:nvPr/>
        </p:nvSpPr>
        <p:spPr>
          <a:xfrm>
            <a:off x="6361361" y="2634928"/>
            <a:ext cx="1619324"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Decentralized: embedded per intersection</a:t>
            </a:r>
            <a:endParaRPr sz="800">
              <a:solidFill>
                <a:schemeClr val="dk1"/>
              </a:solidFill>
              <a:latin typeface="Calibri"/>
              <a:ea typeface="Calibri"/>
              <a:cs typeface="Calibri"/>
              <a:sym typeface="Calibri"/>
            </a:endParaRPr>
          </a:p>
        </p:txBody>
      </p:sp>
      <p:sp>
        <p:nvSpPr>
          <p:cNvPr id="319" name="Google Shape;319;p28"/>
          <p:cNvSpPr/>
          <p:nvPr/>
        </p:nvSpPr>
        <p:spPr>
          <a:xfrm>
            <a:off x="1163464" y="3017118"/>
            <a:ext cx="1795686"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Infrastructure Cost</a:t>
            </a:r>
            <a:endParaRPr sz="800">
              <a:solidFill>
                <a:schemeClr val="dk1"/>
              </a:solidFill>
              <a:latin typeface="Calibri"/>
              <a:ea typeface="Calibri"/>
              <a:cs typeface="Calibri"/>
              <a:sym typeface="Calibri"/>
            </a:endParaRPr>
          </a:p>
        </p:txBody>
      </p:sp>
      <p:sp>
        <p:nvSpPr>
          <p:cNvPr id="320" name="Google Shape;320;p28"/>
          <p:cNvSpPr/>
          <p:nvPr/>
        </p:nvSpPr>
        <p:spPr>
          <a:xfrm>
            <a:off x="2710458" y="3017118"/>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Very High</a:t>
            </a:r>
            <a:endParaRPr sz="800">
              <a:solidFill>
                <a:schemeClr val="dk1"/>
              </a:solidFill>
              <a:latin typeface="Calibri"/>
              <a:ea typeface="Calibri"/>
              <a:cs typeface="Calibri"/>
              <a:sym typeface="Calibri"/>
            </a:endParaRPr>
          </a:p>
        </p:txBody>
      </p:sp>
      <p:sp>
        <p:nvSpPr>
          <p:cNvPr id="321" name="Google Shape;321;p28"/>
          <p:cNvSpPr/>
          <p:nvPr/>
        </p:nvSpPr>
        <p:spPr>
          <a:xfrm>
            <a:off x="4535909" y="3017118"/>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Very High</a:t>
            </a:r>
            <a:endParaRPr sz="800">
              <a:solidFill>
                <a:schemeClr val="dk1"/>
              </a:solidFill>
              <a:latin typeface="Calibri"/>
              <a:ea typeface="Calibri"/>
              <a:cs typeface="Calibri"/>
              <a:sym typeface="Calibri"/>
            </a:endParaRPr>
          </a:p>
        </p:txBody>
      </p:sp>
      <p:sp>
        <p:nvSpPr>
          <p:cNvPr id="322" name="Google Shape;322;p28"/>
          <p:cNvSpPr/>
          <p:nvPr/>
        </p:nvSpPr>
        <p:spPr>
          <a:xfrm>
            <a:off x="6361361" y="3017118"/>
            <a:ext cx="2076524"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Very Low</a:t>
            </a:r>
            <a:endParaRPr sz="800">
              <a:solidFill>
                <a:schemeClr val="dk1"/>
              </a:solidFill>
              <a:latin typeface="Calibri"/>
              <a:ea typeface="Calibri"/>
              <a:cs typeface="Calibri"/>
              <a:sym typeface="Calibri"/>
            </a:endParaRPr>
          </a:p>
        </p:txBody>
      </p:sp>
      <p:sp>
        <p:nvSpPr>
          <p:cNvPr id="323" name="Google Shape;323;p28"/>
          <p:cNvSpPr/>
          <p:nvPr/>
        </p:nvSpPr>
        <p:spPr>
          <a:xfrm>
            <a:off x="1163464" y="3259262"/>
            <a:ext cx="1795686"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Emergency Priority</a:t>
            </a:r>
            <a:endParaRPr sz="800">
              <a:solidFill>
                <a:schemeClr val="dk1"/>
              </a:solidFill>
              <a:latin typeface="Calibri"/>
              <a:ea typeface="Calibri"/>
              <a:cs typeface="Calibri"/>
              <a:sym typeface="Calibri"/>
            </a:endParaRPr>
          </a:p>
        </p:txBody>
      </p:sp>
      <p:sp>
        <p:nvSpPr>
          <p:cNvPr id="324" name="Google Shape;324;p28"/>
          <p:cNvSpPr/>
          <p:nvPr/>
        </p:nvSpPr>
        <p:spPr>
          <a:xfrm>
            <a:off x="2710458" y="3259262"/>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No (add-on required)</a:t>
            </a:r>
            <a:endParaRPr sz="800">
              <a:solidFill>
                <a:schemeClr val="dk1"/>
              </a:solidFill>
              <a:latin typeface="Calibri"/>
              <a:ea typeface="Calibri"/>
              <a:cs typeface="Calibri"/>
              <a:sym typeface="Calibri"/>
            </a:endParaRPr>
          </a:p>
        </p:txBody>
      </p:sp>
      <p:sp>
        <p:nvSpPr>
          <p:cNvPr id="325" name="Google Shape;325;p28"/>
          <p:cNvSpPr/>
          <p:nvPr/>
        </p:nvSpPr>
        <p:spPr>
          <a:xfrm>
            <a:off x="4535909" y="3259262"/>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No (add-on required)</a:t>
            </a:r>
            <a:endParaRPr sz="800">
              <a:solidFill>
                <a:schemeClr val="dk1"/>
              </a:solidFill>
              <a:latin typeface="Calibri"/>
              <a:ea typeface="Calibri"/>
              <a:cs typeface="Calibri"/>
              <a:sym typeface="Calibri"/>
            </a:endParaRPr>
          </a:p>
        </p:txBody>
      </p:sp>
      <p:sp>
        <p:nvSpPr>
          <p:cNvPr id="326" name="Google Shape;326;p28"/>
          <p:cNvSpPr/>
          <p:nvPr/>
        </p:nvSpPr>
        <p:spPr>
          <a:xfrm>
            <a:off x="6361361" y="3259262"/>
            <a:ext cx="2076524"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Yes — built-in core rule</a:t>
            </a:r>
            <a:endParaRPr sz="800">
              <a:solidFill>
                <a:schemeClr val="dk1"/>
              </a:solidFill>
              <a:latin typeface="Calibri"/>
              <a:ea typeface="Calibri"/>
              <a:cs typeface="Calibri"/>
              <a:sym typeface="Calibri"/>
            </a:endParaRPr>
          </a:p>
        </p:txBody>
      </p:sp>
      <p:sp>
        <p:nvSpPr>
          <p:cNvPr id="327" name="Google Shape;327;p28"/>
          <p:cNvSpPr/>
          <p:nvPr/>
        </p:nvSpPr>
        <p:spPr>
          <a:xfrm>
            <a:off x="1163464" y="3501405"/>
            <a:ext cx="1795686"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Computational Need</a:t>
            </a:r>
            <a:endParaRPr sz="800">
              <a:solidFill>
                <a:schemeClr val="dk1"/>
              </a:solidFill>
              <a:latin typeface="Calibri"/>
              <a:ea typeface="Calibri"/>
              <a:cs typeface="Calibri"/>
              <a:sym typeface="Calibri"/>
            </a:endParaRPr>
          </a:p>
        </p:txBody>
      </p:sp>
      <p:sp>
        <p:nvSpPr>
          <p:cNvPr id="328" name="Google Shape;328;p28"/>
          <p:cNvSpPr/>
          <p:nvPr/>
        </p:nvSpPr>
        <p:spPr>
          <a:xfrm>
            <a:off x="2710458" y="3501405"/>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High (central server)</a:t>
            </a:r>
            <a:endParaRPr sz="800">
              <a:solidFill>
                <a:schemeClr val="dk1"/>
              </a:solidFill>
              <a:latin typeface="Calibri"/>
              <a:ea typeface="Calibri"/>
              <a:cs typeface="Calibri"/>
              <a:sym typeface="Calibri"/>
            </a:endParaRPr>
          </a:p>
        </p:txBody>
      </p:sp>
      <p:sp>
        <p:nvSpPr>
          <p:cNvPr id="329" name="Google Shape;329;p28"/>
          <p:cNvSpPr/>
          <p:nvPr/>
        </p:nvSpPr>
        <p:spPr>
          <a:xfrm>
            <a:off x="4535909" y="3501405"/>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High (central + regional)</a:t>
            </a:r>
            <a:endParaRPr sz="800">
              <a:solidFill>
                <a:schemeClr val="dk1"/>
              </a:solidFill>
              <a:latin typeface="Calibri"/>
              <a:ea typeface="Calibri"/>
              <a:cs typeface="Calibri"/>
              <a:sym typeface="Calibri"/>
            </a:endParaRPr>
          </a:p>
        </p:txBody>
      </p:sp>
      <p:sp>
        <p:nvSpPr>
          <p:cNvPr id="330" name="Google Shape;330;p28"/>
          <p:cNvSpPr/>
          <p:nvPr/>
        </p:nvSpPr>
        <p:spPr>
          <a:xfrm>
            <a:off x="6361361" y="3501405"/>
            <a:ext cx="1619324"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Very Low (Raspberry Pi / Arduino)</a:t>
            </a:r>
            <a:endParaRPr sz="800">
              <a:solidFill>
                <a:schemeClr val="dk1"/>
              </a:solidFill>
              <a:latin typeface="Calibri"/>
              <a:ea typeface="Calibri"/>
              <a:cs typeface="Calibri"/>
              <a:sym typeface="Calibri"/>
            </a:endParaRPr>
          </a:p>
        </p:txBody>
      </p:sp>
      <p:sp>
        <p:nvSpPr>
          <p:cNvPr id="331" name="Google Shape;331;p28"/>
          <p:cNvSpPr/>
          <p:nvPr/>
        </p:nvSpPr>
        <p:spPr>
          <a:xfrm>
            <a:off x="1163464" y="3883596"/>
            <a:ext cx="1795686"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Setup Complexity</a:t>
            </a:r>
            <a:endParaRPr sz="800">
              <a:solidFill>
                <a:schemeClr val="dk1"/>
              </a:solidFill>
              <a:latin typeface="Calibri"/>
              <a:ea typeface="Calibri"/>
              <a:cs typeface="Calibri"/>
              <a:sym typeface="Calibri"/>
            </a:endParaRPr>
          </a:p>
        </p:txBody>
      </p:sp>
      <p:sp>
        <p:nvSpPr>
          <p:cNvPr id="332" name="Google Shape;332;p28"/>
          <p:cNvSpPr/>
          <p:nvPr/>
        </p:nvSpPr>
        <p:spPr>
          <a:xfrm>
            <a:off x="2710458" y="3883596"/>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Very Complex</a:t>
            </a:r>
            <a:endParaRPr sz="800">
              <a:solidFill>
                <a:schemeClr val="dk1"/>
              </a:solidFill>
              <a:latin typeface="Calibri"/>
              <a:ea typeface="Calibri"/>
              <a:cs typeface="Calibri"/>
              <a:sym typeface="Calibri"/>
            </a:endParaRPr>
          </a:p>
        </p:txBody>
      </p:sp>
      <p:sp>
        <p:nvSpPr>
          <p:cNvPr id="333" name="Google Shape;333;p28"/>
          <p:cNvSpPr/>
          <p:nvPr/>
        </p:nvSpPr>
        <p:spPr>
          <a:xfrm>
            <a:off x="4535909" y="3883596"/>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Very Complex</a:t>
            </a:r>
            <a:endParaRPr sz="800">
              <a:solidFill>
                <a:schemeClr val="dk1"/>
              </a:solidFill>
              <a:latin typeface="Calibri"/>
              <a:ea typeface="Calibri"/>
              <a:cs typeface="Calibri"/>
              <a:sym typeface="Calibri"/>
            </a:endParaRPr>
          </a:p>
        </p:txBody>
      </p:sp>
      <p:sp>
        <p:nvSpPr>
          <p:cNvPr id="334" name="Google Shape;334;p28"/>
          <p:cNvSpPr/>
          <p:nvPr/>
        </p:nvSpPr>
        <p:spPr>
          <a:xfrm>
            <a:off x="6361361" y="3883596"/>
            <a:ext cx="2076524"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Simple</a:t>
            </a:r>
            <a:endParaRPr sz="800">
              <a:solidFill>
                <a:schemeClr val="dk1"/>
              </a:solidFill>
              <a:latin typeface="Calibri"/>
              <a:ea typeface="Calibri"/>
              <a:cs typeface="Calibri"/>
              <a:sym typeface="Calibri"/>
            </a:endParaRPr>
          </a:p>
        </p:txBody>
      </p:sp>
      <p:sp>
        <p:nvSpPr>
          <p:cNvPr id="335" name="Google Shape;335;p28"/>
          <p:cNvSpPr/>
          <p:nvPr/>
        </p:nvSpPr>
        <p:spPr>
          <a:xfrm>
            <a:off x="1163464" y="4125739"/>
            <a:ext cx="1795686"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Scalability</a:t>
            </a:r>
            <a:endParaRPr sz="800">
              <a:solidFill>
                <a:schemeClr val="dk1"/>
              </a:solidFill>
              <a:latin typeface="Calibri"/>
              <a:ea typeface="Calibri"/>
              <a:cs typeface="Calibri"/>
              <a:sym typeface="Calibri"/>
            </a:endParaRPr>
          </a:p>
        </p:txBody>
      </p:sp>
      <p:sp>
        <p:nvSpPr>
          <p:cNvPr id="336" name="Google Shape;336;p28"/>
          <p:cNvSpPr/>
          <p:nvPr/>
        </p:nvSpPr>
        <p:spPr>
          <a:xfrm>
            <a:off x="2710458" y="4125739"/>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Costly</a:t>
            </a:r>
            <a:endParaRPr sz="800">
              <a:solidFill>
                <a:schemeClr val="dk1"/>
              </a:solidFill>
              <a:latin typeface="Calibri"/>
              <a:ea typeface="Calibri"/>
              <a:cs typeface="Calibri"/>
              <a:sym typeface="Calibri"/>
            </a:endParaRPr>
          </a:p>
        </p:txBody>
      </p:sp>
      <p:sp>
        <p:nvSpPr>
          <p:cNvPr id="337" name="Google Shape;337;p28"/>
          <p:cNvSpPr/>
          <p:nvPr/>
        </p:nvSpPr>
        <p:spPr>
          <a:xfrm>
            <a:off x="4535909" y="4125739"/>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Costly</a:t>
            </a:r>
            <a:endParaRPr sz="800">
              <a:solidFill>
                <a:schemeClr val="dk1"/>
              </a:solidFill>
              <a:latin typeface="Calibri"/>
              <a:ea typeface="Calibri"/>
              <a:cs typeface="Calibri"/>
              <a:sym typeface="Calibri"/>
            </a:endParaRPr>
          </a:p>
        </p:txBody>
      </p:sp>
      <p:sp>
        <p:nvSpPr>
          <p:cNvPr id="338" name="Google Shape;338;p28"/>
          <p:cNvSpPr/>
          <p:nvPr/>
        </p:nvSpPr>
        <p:spPr>
          <a:xfrm>
            <a:off x="6361361" y="4125739"/>
            <a:ext cx="2076524"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Easy and low-cost</a:t>
            </a:r>
            <a:endParaRPr sz="800">
              <a:solidFill>
                <a:schemeClr val="dk1"/>
              </a:solidFill>
              <a:latin typeface="Calibri"/>
              <a:ea typeface="Calibri"/>
              <a:cs typeface="Calibri"/>
              <a:sym typeface="Calibri"/>
            </a:endParaRPr>
          </a:p>
        </p:txBody>
      </p:sp>
      <p:sp>
        <p:nvSpPr>
          <p:cNvPr id="339" name="Google Shape;339;p28"/>
          <p:cNvSpPr/>
          <p:nvPr/>
        </p:nvSpPr>
        <p:spPr>
          <a:xfrm>
            <a:off x="1163464" y="4367882"/>
            <a:ext cx="1795686"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Real-Time Novelty</a:t>
            </a:r>
            <a:endParaRPr sz="800">
              <a:solidFill>
                <a:schemeClr val="dk1"/>
              </a:solidFill>
              <a:latin typeface="Calibri"/>
              <a:ea typeface="Calibri"/>
              <a:cs typeface="Calibri"/>
              <a:sym typeface="Calibri"/>
            </a:endParaRPr>
          </a:p>
        </p:txBody>
      </p:sp>
      <p:sp>
        <p:nvSpPr>
          <p:cNvPr id="340" name="Google Shape;340;p28"/>
          <p:cNvSpPr/>
          <p:nvPr/>
        </p:nvSpPr>
        <p:spPr>
          <a:xfrm>
            <a:off x="2710458" y="4367882"/>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Yes (model-dependent)</a:t>
            </a:r>
            <a:endParaRPr sz="800">
              <a:solidFill>
                <a:schemeClr val="dk1"/>
              </a:solidFill>
              <a:latin typeface="Calibri"/>
              <a:ea typeface="Calibri"/>
              <a:cs typeface="Calibri"/>
              <a:sym typeface="Calibri"/>
            </a:endParaRPr>
          </a:p>
        </p:txBody>
      </p:sp>
      <p:sp>
        <p:nvSpPr>
          <p:cNvPr id="341" name="Google Shape;341;p28"/>
          <p:cNvSpPr/>
          <p:nvPr/>
        </p:nvSpPr>
        <p:spPr>
          <a:xfrm>
            <a:off x="4535909" y="4367882"/>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No (library-limited)</a:t>
            </a:r>
            <a:endParaRPr sz="800">
              <a:solidFill>
                <a:schemeClr val="dk1"/>
              </a:solidFill>
              <a:latin typeface="Calibri"/>
              <a:ea typeface="Calibri"/>
              <a:cs typeface="Calibri"/>
              <a:sym typeface="Calibri"/>
            </a:endParaRPr>
          </a:p>
        </p:txBody>
      </p:sp>
      <p:sp>
        <p:nvSpPr>
          <p:cNvPr id="342" name="Google Shape;342;p28"/>
          <p:cNvSpPr/>
          <p:nvPr/>
        </p:nvSpPr>
        <p:spPr>
          <a:xfrm>
            <a:off x="6361361" y="4367882"/>
            <a:ext cx="2076524"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Yes — adapts to any condition</a:t>
            </a:r>
            <a:endParaRPr sz="800">
              <a:solidFill>
                <a:schemeClr val="dk1"/>
              </a:solidFill>
              <a:latin typeface="Calibri"/>
              <a:ea typeface="Calibri"/>
              <a:cs typeface="Calibri"/>
              <a:sym typeface="Calibri"/>
            </a:endParaRPr>
          </a:p>
        </p:txBody>
      </p:sp>
      <p:sp>
        <p:nvSpPr>
          <p:cNvPr id="343" name="Google Shape;343;p28"/>
          <p:cNvSpPr/>
          <p:nvPr/>
        </p:nvSpPr>
        <p:spPr>
          <a:xfrm>
            <a:off x="1163464" y="4610026"/>
            <a:ext cx="1795686"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Deployment Fit</a:t>
            </a:r>
            <a:endParaRPr sz="800">
              <a:solidFill>
                <a:schemeClr val="dk1"/>
              </a:solidFill>
              <a:latin typeface="Calibri"/>
              <a:ea typeface="Calibri"/>
              <a:cs typeface="Calibri"/>
              <a:sym typeface="Calibri"/>
            </a:endParaRPr>
          </a:p>
        </p:txBody>
      </p:sp>
      <p:sp>
        <p:nvSpPr>
          <p:cNvPr id="344" name="Google Shape;344;p28"/>
          <p:cNvSpPr/>
          <p:nvPr/>
        </p:nvSpPr>
        <p:spPr>
          <a:xfrm>
            <a:off x="2710458" y="4610026"/>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Large cities, high budget</a:t>
            </a:r>
            <a:endParaRPr sz="800">
              <a:solidFill>
                <a:schemeClr val="dk1"/>
              </a:solidFill>
              <a:latin typeface="Calibri"/>
              <a:ea typeface="Calibri"/>
              <a:cs typeface="Calibri"/>
              <a:sym typeface="Calibri"/>
            </a:endParaRPr>
          </a:p>
        </p:txBody>
      </p:sp>
      <p:sp>
        <p:nvSpPr>
          <p:cNvPr id="345" name="Google Shape;345;p28"/>
          <p:cNvSpPr/>
          <p:nvPr/>
        </p:nvSpPr>
        <p:spPr>
          <a:xfrm>
            <a:off x="4535909" y="4610026"/>
            <a:ext cx="207414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Large cities, high budget</a:t>
            </a:r>
            <a:endParaRPr sz="800">
              <a:solidFill>
                <a:schemeClr val="dk1"/>
              </a:solidFill>
              <a:latin typeface="Calibri"/>
              <a:ea typeface="Calibri"/>
              <a:cs typeface="Calibri"/>
              <a:sym typeface="Calibri"/>
            </a:endParaRPr>
          </a:p>
        </p:txBody>
      </p:sp>
      <p:sp>
        <p:nvSpPr>
          <p:cNvPr id="346" name="Google Shape;346;p28"/>
          <p:cNvSpPr/>
          <p:nvPr/>
        </p:nvSpPr>
        <p:spPr>
          <a:xfrm>
            <a:off x="6361361" y="4610026"/>
            <a:ext cx="2076524"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Any city, rapid deployment</a:t>
            </a:r>
            <a:endParaRPr sz="800">
              <a:solidFill>
                <a:schemeClr val="dk1"/>
              </a:solidFill>
              <a:latin typeface="Calibri"/>
              <a:ea typeface="Calibri"/>
              <a:cs typeface="Calibri"/>
              <a:sym typeface="Calibri"/>
            </a:endParaRPr>
          </a:p>
        </p:txBody>
      </p:sp>
      <p:pic>
        <p:nvPicPr>
          <p:cNvPr id="347" name="Google Shape;347;p28"/>
          <p:cNvPicPr preferRelativeResize="0"/>
          <p:nvPr/>
        </p:nvPicPr>
        <p:blipFill rotWithShape="1">
          <a:blip r:embed="rId3">
            <a:alphaModFix/>
          </a:blip>
          <a:srcRect b="0" l="0" r="0" t="0"/>
          <a:stretch/>
        </p:blipFill>
        <p:spPr>
          <a:xfrm>
            <a:off x="7980685" y="4852170"/>
            <a:ext cx="1163315" cy="29133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9"/>
          <p:cNvSpPr/>
          <p:nvPr/>
        </p:nvSpPr>
        <p:spPr>
          <a:xfrm>
            <a:off x="1056605" y="302344"/>
            <a:ext cx="458912" cy="173013"/>
          </a:xfrm>
          <a:prstGeom prst="roundRect">
            <a:avLst>
              <a:gd fmla="val 19789" name="adj"/>
            </a:avLst>
          </a:prstGeom>
          <a:solidFill>
            <a:srgbClr val="DAD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9"/>
          <p:cNvSpPr/>
          <p:nvPr/>
        </p:nvSpPr>
        <p:spPr>
          <a:xfrm>
            <a:off x="1117699" y="332854"/>
            <a:ext cx="793924" cy="11199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600"/>
              <a:buFont typeface="Inter"/>
              <a:buNone/>
            </a:pPr>
            <a:r>
              <a:rPr lang="en" sz="600">
                <a:solidFill>
                  <a:srgbClr val="272525"/>
                </a:solidFill>
                <a:latin typeface="Inter"/>
                <a:ea typeface="Inter"/>
                <a:cs typeface="Inter"/>
                <a:sym typeface="Inter"/>
              </a:rPr>
              <a:t>SLIDE 14</a:t>
            </a:r>
            <a:endParaRPr sz="600">
              <a:solidFill>
                <a:schemeClr val="dk1"/>
              </a:solidFill>
              <a:latin typeface="Calibri"/>
              <a:ea typeface="Calibri"/>
              <a:cs typeface="Calibri"/>
              <a:sym typeface="Calibri"/>
            </a:endParaRPr>
          </a:p>
        </p:txBody>
      </p:sp>
      <p:sp>
        <p:nvSpPr>
          <p:cNvPr id="355" name="Google Shape;355;p29"/>
          <p:cNvSpPr/>
          <p:nvPr/>
        </p:nvSpPr>
        <p:spPr>
          <a:xfrm>
            <a:off x="1056605" y="504602"/>
            <a:ext cx="6666905" cy="31834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000"/>
              <a:buFont typeface="Inter"/>
              <a:buNone/>
            </a:pPr>
            <a:r>
              <a:rPr b="1" lang="en" sz="2000">
                <a:solidFill>
                  <a:srgbClr val="000000"/>
                </a:solidFill>
                <a:latin typeface="Inter"/>
                <a:ea typeface="Inter"/>
                <a:cs typeface="Inter"/>
                <a:sym typeface="Inter"/>
              </a:rPr>
              <a:t>Proposed System: Heuristic Rule-Based Overview</a:t>
            </a:r>
            <a:endParaRPr sz="2000">
              <a:solidFill>
                <a:schemeClr val="dk1"/>
              </a:solidFill>
              <a:latin typeface="Calibri"/>
              <a:ea typeface="Calibri"/>
              <a:cs typeface="Calibri"/>
              <a:sym typeface="Calibri"/>
            </a:endParaRPr>
          </a:p>
        </p:txBody>
      </p:sp>
      <p:sp>
        <p:nvSpPr>
          <p:cNvPr id="356" name="Google Shape;356;p29"/>
          <p:cNvSpPr/>
          <p:nvPr/>
        </p:nvSpPr>
        <p:spPr>
          <a:xfrm>
            <a:off x="1056605" y="932780"/>
            <a:ext cx="7030715"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The proposed system replaces costly infrastructure with an intelligent, lightweight rule engine — observe live vehicle density, apply if-then heuristics, and dynamically allocate green time to the highest-priority lane.</a:t>
            </a:r>
            <a:endParaRPr sz="800">
              <a:solidFill>
                <a:schemeClr val="dk1"/>
              </a:solidFill>
              <a:latin typeface="Calibri"/>
              <a:ea typeface="Calibri"/>
              <a:cs typeface="Calibri"/>
              <a:sym typeface="Calibri"/>
            </a:endParaRPr>
          </a:p>
        </p:txBody>
      </p:sp>
      <p:sp>
        <p:nvSpPr>
          <p:cNvPr id="357" name="Google Shape;357;p29"/>
          <p:cNvSpPr/>
          <p:nvPr/>
        </p:nvSpPr>
        <p:spPr>
          <a:xfrm>
            <a:off x="1056605" y="1368475"/>
            <a:ext cx="1730871"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000"/>
              <a:buFont typeface="Inter"/>
              <a:buNone/>
            </a:pPr>
            <a:r>
              <a:rPr b="1" lang="en" sz="1000">
                <a:solidFill>
                  <a:srgbClr val="000000"/>
                </a:solidFill>
                <a:latin typeface="Inter"/>
                <a:ea typeface="Inter"/>
                <a:cs typeface="Inter"/>
                <a:sym typeface="Inter"/>
              </a:rPr>
              <a:t>Design Philosophy</a:t>
            </a:r>
            <a:endParaRPr sz="1000">
              <a:solidFill>
                <a:schemeClr val="dk1"/>
              </a:solidFill>
              <a:latin typeface="Calibri"/>
              <a:ea typeface="Calibri"/>
              <a:cs typeface="Calibri"/>
              <a:sym typeface="Calibri"/>
            </a:endParaRPr>
          </a:p>
        </p:txBody>
      </p:sp>
      <p:sp>
        <p:nvSpPr>
          <p:cNvPr id="358" name="Google Shape;358;p29"/>
          <p:cNvSpPr/>
          <p:nvPr/>
        </p:nvSpPr>
        <p:spPr>
          <a:xfrm>
            <a:off x="1056605" y="1610097"/>
            <a:ext cx="1476896" cy="1005929"/>
          </a:xfrm>
          <a:prstGeom prst="roundRect">
            <a:avLst>
              <a:gd fmla="val 4254"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9"/>
          <p:cNvSpPr/>
          <p:nvPr/>
        </p:nvSpPr>
        <p:spPr>
          <a:xfrm>
            <a:off x="1163241" y="1716732"/>
            <a:ext cx="1263625"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000"/>
              <a:buFont typeface="Inter"/>
              <a:buNone/>
            </a:pPr>
            <a:r>
              <a:rPr b="1" lang="en" sz="1000">
                <a:solidFill>
                  <a:srgbClr val="272525"/>
                </a:solidFill>
                <a:latin typeface="Inter"/>
                <a:ea typeface="Inter"/>
                <a:cs typeface="Inter"/>
                <a:sym typeface="Inter"/>
              </a:rPr>
              <a:t>Lightweight</a:t>
            </a:r>
            <a:endParaRPr sz="1000">
              <a:solidFill>
                <a:schemeClr val="dk1"/>
              </a:solidFill>
              <a:latin typeface="Calibri"/>
              <a:ea typeface="Calibri"/>
              <a:cs typeface="Calibri"/>
              <a:sym typeface="Calibri"/>
            </a:endParaRPr>
          </a:p>
        </p:txBody>
      </p:sp>
      <p:sp>
        <p:nvSpPr>
          <p:cNvPr id="360" name="Google Shape;360;p29"/>
          <p:cNvSpPr/>
          <p:nvPr/>
        </p:nvSpPr>
        <p:spPr>
          <a:xfrm>
            <a:off x="1163241" y="1949202"/>
            <a:ext cx="1263625" cy="42014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Runs on Raspberry Pi 4 + Arduino Mega — no server hardware required</a:t>
            </a:r>
            <a:endParaRPr sz="800">
              <a:solidFill>
                <a:schemeClr val="dk1"/>
              </a:solidFill>
              <a:latin typeface="Calibri"/>
              <a:ea typeface="Calibri"/>
              <a:cs typeface="Calibri"/>
              <a:sym typeface="Calibri"/>
            </a:endParaRPr>
          </a:p>
        </p:txBody>
      </p:sp>
      <p:sp>
        <p:nvSpPr>
          <p:cNvPr id="361" name="Google Shape;361;p29"/>
          <p:cNvSpPr/>
          <p:nvPr/>
        </p:nvSpPr>
        <p:spPr>
          <a:xfrm>
            <a:off x="2606725" y="1610097"/>
            <a:ext cx="1476970" cy="1005929"/>
          </a:xfrm>
          <a:prstGeom prst="roundRect">
            <a:avLst>
              <a:gd fmla="val 4254"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9"/>
          <p:cNvSpPr/>
          <p:nvPr/>
        </p:nvSpPr>
        <p:spPr>
          <a:xfrm>
            <a:off x="2713360" y="1716732"/>
            <a:ext cx="1263700"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000"/>
              <a:buFont typeface="Inter"/>
              <a:buNone/>
            </a:pPr>
            <a:r>
              <a:rPr b="1" lang="en" sz="1000">
                <a:solidFill>
                  <a:srgbClr val="272525"/>
                </a:solidFill>
                <a:latin typeface="Inter"/>
                <a:ea typeface="Inter"/>
                <a:cs typeface="Inter"/>
                <a:sym typeface="Inter"/>
              </a:rPr>
              <a:t>Decentralized</a:t>
            </a:r>
            <a:endParaRPr sz="1000">
              <a:solidFill>
                <a:schemeClr val="dk1"/>
              </a:solidFill>
              <a:latin typeface="Calibri"/>
              <a:ea typeface="Calibri"/>
              <a:cs typeface="Calibri"/>
              <a:sym typeface="Calibri"/>
            </a:endParaRPr>
          </a:p>
        </p:txBody>
      </p:sp>
      <p:sp>
        <p:nvSpPr>
          <p:cNvPr id="363" name="Google Shape;363;p29"/>
          <p:cNvSpPr/>
          <p:nvPr/>
        </p:nvSpPr>
        <p:spPr>
          <a:xfrm>
            <a:off x="2713360" y="1949202"/>
            <a:ext cx="1263700" cy="560189"/>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Each intersection operates fully independently with no central dependency</a:t>
            </a:r>
            <a:endParaRPr sz="800">
              <a:solidFill>
                <a:schemeClr val="dk1"/>
              </a:solidFill>
              <a:latin typeface="Calibri"/>
              <a:ea typeface="Calibri"/>
              <a:cs typeface="Calibri"/>
              <a:sym typeface="Calibri"/>
            </a:endParaRPr>
          </a:p>
        </p:txBody>
      </p:sp>
      <p:sp>
        <p:nvSpPr>
          <p:cNvPr id="364" name="Google Shape;364;p29"/>
          <p:cNvSpPr/>
          <p:nvPr/>
        </p:nvSpPr>
        <p:spPr>
          <a:xfrm>
            <a:off x="1056605" y="2689250"/>
            <a:ext cx="1476896" cy="865882"/>
          </a:xfrm>
          <a:prstGeom prst="roundRect">
            <a:avLst>
              <a:gd fmla="val 4942"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9"/>
          <p:cNvSpPr/>
          <p:nvPr/>
        </p:nvSpPr>
        <p:spPr>
          <a:xfrm>
            <a:off x="1163241" y="2795885"/>
            <a:ext cx="1263625"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000"/>
              <a:buFont typeface="Inter"/>
              <a:buNone/>
            </a:pPr>
            <a:r>
              <a:rPr b="1" lang="en" sz="1000">
                <a:solidFill>
                  <a:srgbClr val="272525"/>
                </a:solidFill>
                <a:latin typeface="Inter"/>
                <a:ea typeface="Inter"/>
                <a:cs typeface="Inter"/>
                <a:sym typeface="Inter"/>
              </a:rPr>
              <a:t>Real-Time</a:t>
            </a:r>
            <a:endParaRPr sz="1000">
              <a:solidFill>
                <a:schemeClr val="dk1"/>
              </a:solidFill>
              <a:latin typeface="Calibri"/>
              <a:ea typeface="Calibri"/>
              <a:cs typeface="Calibri"/>
              <a:sym typeface="Calibri"/>
            </a:endParaRPr>
          </a:p>
        </p:txBody>
      </p:sp>
      <p:sp>
        <p:nvSpPr>
          <p:cNvPr id="366" name="Google Shape;366;p29"/>
          <p:cNvSpPr/>
          <p:nvPr/>
        </p:nvSpPr>
        <p:spPr>
          <a:xfrm>
            <a:off x="1163241" y="3028355"/>
            <a:ext cx="1263625" cy="42014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Sensor readings processed every signal cycle (30–120 seconds)</a:t>
            </a:r>
            <a:endParaRPr sz="800">
              <a:solidFill>
                <a:schemeClr val="dk1"/>
              </a:solidFill>
              <a:latin typeface="Calibri"/>
              <a:ea typeface="Calibri"/>
              <a:cs typeface="Calibri"/>
              <a:sym typeface="Calibri"/>
            </a:endParaRPr>
          </a:p>
        </p:txBody>
      </p:sp>
      <p:sp>
        <p:nvSpPr>
          <p:cNvPr id="367" name="Google Shape;367;p29"/>
          <p:cNvSpPr/>
          <p:nvPr/>
        </p:nvSpPr>
        <p:spPr>
          <a:xfrm>
            <a:off x="2606725" y="2689250"/>
            <a:ext cx="1476970" cy="865882"/>
          </a:xfrm>
          <a:prstGeom prst="roundRect">
            <a:avLst>
              <a:gd fmla="val 4942"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9"/>
          <p:cNvSpPr/>
          <p:nvPr/>
        </p:nvSpPr>
        <p:spPr>
          <a:xfrm>
            <a:off x="2713360" y="2795885"/>
            <a:ext cx="1263700"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000"/>
              <a:buFont typeface="Inter"/>
              <a:buNone/>
            </a:pPr>
            <a:r>
              <a:rPr b="1" lang="en" sz="1000">
                <a:solidFill>
                  <a:srgbClr val="272525"/>
                </a:solidFill>
                <a:latin typeface="Inter"/>
                <a:ea typeface="Inter"/>
                <a:cs typeface="Inter"/>
                <a:sym typeface="Inter"/>
              </a:rPr>
              <a:t>Transparent</a:t>
            </a:r>
            <a:endParaRPr sz="1000">
              <a:solidFill>
                <a:schemeClr val="dk1"/>
              </a:solidFill>
              <a:latin typeface="Calibri"/>
              <a:ea typeface="Calibri"/>
              <a:cs typeface="Calibri"/>
              <a:sym typeface="Calibri"/>
            </a:endParaRPr>
          </a:p>
        </p:txBody>
      </p:sp>
      <p:sp>
        <p:nvSpPr>
          <p:cNvPr id="369" name="Google Shape;369;p29"/>
          <p:cNvSpPr/>
          <p:nvPr/>
        </p:nvSpPr>
        <p:spPr>
          <a:xfrm>
            <a:off x="2713360" y="3028355"/>
            <a:ext cx="1263700" cy="42014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All decision rules are human-readable Python if-then logic</a:t>
            </a:r>
            <a:endParaRPr sz="800">
              <a:solidFill>
                <a:schemeClr val="dk1"/>
              </a:solidFill>
              <a:latin typeface="Calibri"/>
              <a:ea typeface="Calibri"/>
              <a:cs typeface="Calibri"/>
              <a:sym typeface="Calibri"/>
            </a:endParaRPr>
          </a:p>
        </p:txBody>
      </p:sp>
      <p:sp>
        <p:nvSpPr>
          <p:cNvPr id="370" name="Google Shape;370;p29"/>
          <p:cNvSpPr/>
          <p:nvPr/>
        </p:nvSpPr>
        <p:spPr>
          <a:xfrm>
            <a:off x="4337000" y="1368475"/>
            <a:ext cx="1730871"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000"/>
              <a:buFont typeface="Inter"/>
              <a:buNone/>
            </a:pPr>
            <a:r>
              <a:rPr b="1" lang="en" sz="1000">
                <a:solidFill>
                  <a:srgbClr val="000000"/>
                </a:solidFill>
                <a:latin typeface="Inter"/>
                <a:ea typeface="Inter"/>
                <a:cs typeface="Inter"/>
                <a:sym typeface="Inter"/>
              </a:rPr>
              <a:t>Core Heuristic Rules</a:t>
            </a:r>
            <a:endParaRPr sz="1000">
              <a:solidFill>
                <a:schemeClr val="dk1"/>
              </a:solidFill>
              <a:latin typeface="Calibri"/>
              <a:ea typeface="Calibri"/>
              <a:cs typeface="Calibri"/>
              <a:sym typeface="Calibri"/>
            </a:endParaRPr>
          </a:p>
        </p:txBody>
      </p:sp>
      <p:sp>
        <p:nvSpPr>
          <p:cNvPr descr="preencoded.png" id="371" name="Google Shape;371;p29"/>
          <p:cNvSpPr/>
          <p:nvPr/>
        </p:nvSpPr>
        <p:spPr>
          <a:xfrm>
            <a:off x="4375175" y="1613222"/>
            <a:ext cx="152772" cy="152772"/>
          </a:xfrm>
          <a:prstGeom prst="rect">
            <a:avLst/>
          </a:prstGeom>
          <a:noFill/>
          <a:ln>
            <a:noFill/>
          </a:ln>
        </p:spPr>
      </p:sp>
      <p:sp>
        <p:nvSpPr>
          <p:cNvPr id="372" name="Google Shape;372;p29"/>
          <p:cNvSpPr/>
          <p:nvPr/>
        </p:nvSpPr>
        <p:spPr>
          <a:xfrm>
            <a:off x="4668069" y="1610097"/>
            <a:ext cx="1273671"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000"/>
              <a:buFont typeface="Inter"/>
              <a:buNone/>
            </a:pPr>
            <a:r>
              <a:rPr b="1" lang="en" sz="1000">
                <a:solidFill>
                  <a:srgbClr val="272525"/>
                </a:solidFill>
                <a:latin typeface="Inter"/>
                <a:ea typeface="Inter"/>
                <a:cs typeface="Inter"/>
                <a:sym typeface="Inter"/>
              </a:rPr>
              <a:t>Emergency Priority</a:t>
            </a:r>
            <a:endParaRPr sz="1000">
              <a:solidFill>
                <a:schemeClr val="dk1"/>
              </a:solidFill>
              <a:latin typeface="Calibri"/>
              <a:ea typeface="Calibri"/>
              <a:cs typeface="Calibri"/>
              <a:sym typeface="Calibri"/>
            </a:endParaRPr>
          </a:p>
        </p:txBody>
      </p:sp>
      <p:sp>
        <p:nvSpPr>
          <p:cNvPr id="373" name="Google Shape;373;p29"/>
          <p:cNvSpPr/>
          <p:nvPr/>
        </p:nvSpPr>
        <p:spPr>
          <a:xfrm>
            <a:off x="4668069" y="1842567"/>
            <a:ext cx="3423940"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IF emergency vehicle detected → immediately grant green, override all phases</a:t>
            </a:r>
            <a:endParaRPr sz="800">
              <a:solidFill>
                <a:schemeClr val="dk1"/>
              </a:solidFill>
              <a:latin typeface="Calibri"/>
              <a:ea typeface="Calibri"/>
              <a:cs typeface="Calibri"/>
              <a:sym typeface="Calibri"/>
            </a:endParaRPr>
          </a:p>
        </p:txBody>
      </p:sp>
      <p:sp>
        <p:nvSpPr>
          <p:cNvPr descr="preencoded.png" id="374" name="Google Shape;374;p29"/>
          <p:cNvSpPr/>
          <p:nvPr/>
        </p:nvSpPr>
        <p:spPr>
          <a:xfrm>
            <a:off x="4375175" y="2272233"/>
            <a:ext cx="152772" cy="152772"/>
          </a:xfrm>
          <a:prstGeom prst="rect">
            <a:avLst/>
          </a:prstGeom>
          <a:noFill/>
          <a:ln>
            <a:noFill/>
          </a:ln>
        </p:spPr>
      </p:sp>
      <p:sp>
        <p:nvSpPr>
          <p:cNvPr id="375" name="Google Shape;375;p29"/>
          <p:cNvSpPr/>
          <p:nvPr/>
        </p:nvSpPr>
        <p:spPr>
          <a:xfrm>
            <a:off x="4668069" y="2269108"/>
            <a:ext cx="1273671"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000"/>
              <a:buFont typeface="Inter"/>
              <a:buNone/>
            </a:pPr>
            <a:r>
              <a:rPr b="1" lang="en" sz="1000">
                <a:solidFill>
                  <a:srgbClr val="272525"/>
                </a:solidFill>
                <a:latin typeface="Inter"/>
                <a:ea typeface="Inter"/>
                <a:cs typeface="Inter"/>
                <a:sym typeface="Inter"/>
              </a:rPr>
              <a:t>High Density First</a:t>
            </a:r>
            <a:endParaRPr sz="1000">
              <a:solidFill>
                <a:schemeClr val="dk1"/>
              </a:solidFill>
              <a:latin typeface="Calibri"/>
              <a:ea typeface="Calibri"/>
              <a:cs typeface="Calibri"/>
              <a:sym typeface="Calibri"/>
            </a:endParaRPr>
          </a:p>
        </p:txBody>
      </p:sp>
      <p:sp>
        <p:nvSpPr>
          <p:cNvPr id="376" name="Google Shape;376;p29"/>
          <p:cNvSpPr/>
          <p:nvPr/>
        </p:nvSpPr>
        <p:spPr>
          <a:xfrm>
            <a:off x="4668069" y="2501578"/>
            <a:ext cx="3423940"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IF Lane A density &gt; Lane B AND above threshold → extend green for Lane A</a:t>
            </a:r>
            <a:endParaRPr sz="800">
              <a:solidFill>
                <a:schemeClr val="dk1"/>
              </a:solidFill>
              <a:latin typeface="Calibri"/>
              <a:ea typeface="Calibri"/>
              <a:cs typeface="Calibri"/>
              <a:sym typeface="Calibri"/>
            </a:endParaRPr>
          </a:p>
        </p:txBody>
      </p:sp>
      <p:sp>
        <p:nvSpPr>
          <p:cNvPr descr="preencoded.png" id="377" name="Google Shape;377;p29"/>
          <p:cNvSpPr/>
          <p:nvPr/>
        </p:nvSpPr>
        <p:spPr>
          <a:xfrm>
            <a:off x="4375175" y="2931244"/>
            <a:ext cx="152772" cy="152772"/>
          </a:xfrm>
          <a:prstGeom prst="rect">
            <a:avLst/>
          </a:prstGeom>
          <a:noFill/>
          <a:ln>
            <a:noFill/>
          </a:ln>
        </p:spPr>
      </p:sp>
      <p:sp>
        <p:nvSpPr>
          <p:cNvPr id="378" name="Google Shape;378;p29"/>
          <p:cNvSpPr/>
          <p:nvPr/>
        </p:nvSpPr>
        <p:spPr>
          <a:xfrm>
            <a:off x="4668069" y="2928119"/>
            <a:ext cx="1663229"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000"/>
              <a:buFont typeface="Inter"/>
              <a:buNone/>
            </a:pPr>
            <a:r>
              <a:rPr b="1" lang="en" sz="1000">
                <a:solidFill>
                  <a:srgbClr val="272525"/>
                </a:solidFill>
                <a:latin typeface="Inter"/>
                <a:ea typeface="Inter"/>
                <a:cs typeface="Inter"/>
                <a:sym typeface="Inter"/>
              </a:rPr>
              <a:t>Minimum Green Guarantee</a:t>
            </a:r>
            <a:endParaRPr sz="1000">
              <a:solidFill>
                <a:schemeClr val="dk1"/>
              </a:solidFill>
              <a:latin typeface="Calibri"/>
              <a:ea typeface="Calibri"/>
              <a:cs typeface="Calibri"/>
              <a:sym typeface="Calibri"/>
            </a:endParaRPr>
          </a:p>
        </p:txBody>
      </p:sp>
      <p:sp>
        <p:nvSpPr>
          <p:cNvPr id="379" name="Google Shape;379;p29"/>
          <p:cNvSpPr/>
          <p:nvPr/>
        </p:nvSpPr>
        <p:spPr>
          <a:xfrm>
            <a:off x="4668069" y="3160588"/>
            <a:ext cx="3423940"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IF any lane waiting &gt; max_wait_time → force minimum green to prevent starvation</a:t>
            </a:r>
            <a:endParaRPr sz="800">
              <a:solidFill>
                <a:schemeClr val="dk1"/>
              </a:solidFill>
              <a:latin typeface="Calibri"/>
              <a:ea typeface="Calibri"/>
              <a:cs typeface="Calibri"/>
              <a:sym typeface="Calibri"/>
            </a:endParaRPr>
          </a:p>
        </p:txBody>
      </p:sp>
      <p:sp>
        <p:nvSpPr>
          <p:cNvPr descr="preencoded.png" id="380" name="Google Shape;380;p29"/>
          <p:cNvSpPr/>
          <p:nvPr/>
        </p:nvSpPr>
        <p:spPr>
          <a:xfrm>
            <a:off x="4375175" y="3590255"/>
            <a:ext cx="152772" cy="152772"/>
          </a:xfrm>
          <a:prstGeom prst="rect">
            <a:avLst/>
          </a:prstGeom>
          <a:noFill/>
          <a:ln>
            <a:noFill/>
          </a:ln>
        </p:spPr>
      </p:sp>
      <p:sp>
        <p:nvSpPr>
          <p:cNvPr id="381" name="Google Shape;381;p29"/>
          <p:cNvSpPr/>
          <p:nvPr/>
        </p:nvSpPr>
        <p:spPr>
          <a:xfrm>
            <a:off x="4668069" y="3587130"/>
            <a:ext cx="1348011"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000"/>
              <a:buFont typeface="Inter"/>
              <a:buNone/>
            </a:pPr>
            <a:r>
              <a:rPr b="1" lang="en" sz="1000">
                <a:solidFill>
                  <a:srgbClr val="272525"/>
                </a:solidFill>
                <a:latin typeface="Inter"/>
                <a:ea typeface="Inter"/>
                <a:cs typeface="Inter"/>
                <a:sym typeface="Inter"/>
              </a:rPr>
              <a:t>Low Traffic Efficiency</a:t>
            </a:r>
            <a:endParaRPr sz="1000">
              <a:solidFill>
                <a:schemeClr val="dk1"/>
              </a:solidFill>
              <a:latin typeface="Calibri"/>
              <a:ea typeface="Calibri"/>
              <a:cs typeface="Calibri"/>
              <a:sym typeface="Calibri"/>
            </a:endParaRPr>
          </a:p>
        </p:txBody>
      </p:sp>
      <p:sp>
        <p:nvSpPr>
          <p:cNvPr id="382" name="Google Shape;382;p29"/>
          <p:cNvSpPr/>
          <p:nvPr/>
        </p:nvSpPr>
        <p:spPr>
          <a:xfrm>
            <a:off x="4668069" y="3819599"/>
            <a:ext cx="3423940"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IF all lanes below minimum threshold → run shortest cycle to reduce idle time</a:t>
            </a:r>
            <a:endParaRPr sz="800">
              <a:solidFill>
                <a:schemeClr val="dk1"/>
              </a:solidFill>
              <a:latin typeface="Calibri"/>
              <a:ea typeface="Calibri"/>
              <a:cs typeface="Calibri"/>
              <a:sym typeface="Calibri"/>
            </a:endParaRPr>
          </a:p>
        </p:txBody>
      </p:sp>
      <p:sp>
        <p:nvSpPr>
          <p:cNvPr descr="preencoded.png" id="383" name="Google Shape;383;p29"/>
          <p:cNvSpPr/>
          <p:nvPr/>
        </p:nvSpPr>
        <p:spPr>
          <a:xfrm>
            <a:off x="4375175" y="4249266"/>
            <a:ext cx="152772" cy="152772"/>
          </a:xfrm>
          <a:prstGeom prst="rect">
            <a:avLst/>
          </a:prstGeom>
          <a:noFill/>
          <a:ln>
            <a:noFill/>
          </a:ln>
        </p:spPr>
      </p:sp>
      <p:sp>
        <p:nvSpPr>
          <p:cNvPr id="384" name="Google Shape;384;p29"/>
          <p:cNvSpPr/>
          <p:nvPr/>
        </p:nvSpPr>
        <p:spPr>
          <a:xfrm>
            <a:off x="4668069" y="4246141"/>
            <a:ext cx="1273671"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1000"/>
              <a:buFont typeface="Inter"/>
              <a:buNone/>
            </a:pPr>
            <a:r>
              <a:rPr b="1" lang="en" sz="1000">
                <a:solidFill>
                  <a:srgbClr val="272525"/>
                </a:solidFill>
                <a:latin typeface="Inter"/>
                <a:ea typeface="Inter"/>
                <a:cs typeface="Inter"/>
                <a:sym typeface="Inter"/>
              </a:rPr>
              <a:t>Balance Waiting</a:t>
            </a:r>
            <a:endParaRPr sz="1000">
              <a:solidFill>
                <a:schemeClr val="dk1"/>
              </a:solidFill>
              <a:latin typeface="Calibri"/>
              <a:ea typeface="Calibri"/>
              <a:cs typeface="Calibri"/>
              <a:sym typeface="Calibri"/>
            </a:endParaRPr>
          </a:p>
        </p:txBody>
      </p:sp>
      <p:sp>
        <p:nvSpPr>
          <p:cNvPr id="385" name="Google Shape;385;p29"/>
          <p:cNvSpPr/>
          <p:nvPr/>
        </p:nvSpPr>
        <p:spPr>
          <a:xfrm>
            <a:off x="4668069" y="4478610"/>
            <a:ext cx="3423940" cy="28009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800"/>
              <a:buFont typeface="Inter"/>
              <a:buNone/>
            </a:pPr>
            <a:r>
              <a:rPr lang="en" sz="800">
                <a:solidFill>
                  <a:srgbClr val="272525"/>
                </a:solidFill>
                <a:latin typeface="Inter"/>
                <a:ea typeface="Inter"/>
                <a:cs typeface="Inter"/>
                <a:sym typeface="Inter"/>
              </a:rPr>
              <a:t>IF two lanes have similar density → alternate with equal green to prevent starvation</a:t>
            </a:r>
            <a:endParaRPr sz="800">
              <a:solidFill>
                <a:schemeClr val="dk1"/>
              </a:solidFill>
              <a:latin typeface="Calibri"/>
              <a:ea typeface="Calibri"/>
              <a:cs typeface="Calibri"/>
              <a:sym typeface="Calibri"/>
            </a:endParaRPr>
          </a:p>
        </p:txBody>
      </p:sp>
      <p:pic>
        <p:nvPicPr>
          <p:cNvPr id="386" name="Google Shape;386;p29"/>
          <p:cNvPicPr preferRelativeResize="0"/>
          <p:nvPr/>
        </p:nvPicPr>
        <p:blipFill rotWithShape="1">
          <a:blip r:embed="rId3">
            <a:alphaModFix/>
          </a:blip>
          <a:srcRect b="0" l="0" r="0" t="0"/>
          <a:stretch/>
        </p:blipFill>
        <p:spPr>
          <a:xfrm>
            <a:off x="8011551" y="4714815"/>
            <a:ext cx="1132449" cy="42868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descr="preencoded.png" id="392" name="Google Shape;392;p30"/>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393" name="Google Shape;393;p30"/>
          <p:cNvSpPr/>
          <p:nvPr/>
        </p:nvSpPr>
        <p:spPr>
          <a:xfrm>
            <a:off x="3839840" y="361057"/>
            <a:ext cx="5109865" cy="36686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300"/>
              <a:buFont typeface="Inter"/>
              <a:buNone/>
            </a:pPr>
            <a:r>
              <a:rPr b="1" lang="en" sz="2300">
                <a:solidFill>
                  <a:srgbClr val="000000"/>
                </a:solidFill>
                <a:latin typeface="Inter"/>
                <a:ea typeface="Inter"/>
                <a:cs typeface="Inter"/>
                <a:sym typeface="Inter"/>
              </a:rPr>
              <a:t>Proposed System &amp; Architecture</a:t>
            </a:r>
            <a:endParaRPr sz="2300">
              <a:solidFill>
                <a:schemeClr val="dk1"/>
              </a:solidFill>
              <a:latin typeface="Calibri"/>
              <a:ea typeface="Calibri"/>
              <a:cs typeface="Calibri"/>
              <a:sym typeface="Calibri"/>
            </a:endParaRPr>
          </a:p>
        </p:txBody>
      </p:sp>
      <p:sp>
        <p:nvSpPr>
          <p:cNvPr id="394" name="Google Shape;394;p30"/>
          <p:cNvSpPr/>
          <p:nvPr/>
        </p:nvSpPr>
        <p:spPr>
          <a:xfrm>
            <a:off x="3839840" y="873696"/>
            <a:ext cx="4893320" cy="343346"/>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72525"/>
              </a:buClr>
              <a:buSzPts val="900"/>
              <a:buFont typeface="Inter"/>
              <a:buNone/>
            </a:pPr>
            <a:r>
              <a:rPr lang="en" sz="900">
                <a:solidFill>
                  <a:srgbClr val="272525"/>
                </a:solidFill>
                <a:latin typeface="Inter"/>
                <a:ea typeface="Inter"/>
                <a:cs typeface="Inter"/>
                <a:sym typeface="Inter"/>
              </a:rPr>
              <a:t>A real-time, sensor-driven heuristic engine replaces static timing with intelligent, rule-based adaptive control — all on low-cost embedded hardware.</a:t>
            </a:r>
            <a:endParaRPr sz="900">
              <a:solidFill>
                <a:schemeClr val="dk1"/>
              </a:solidFill>
              <a:latin typeface="Calibri"/>
              <a:ea typeface="Calibri"/>
              <a:cs typeface="Calibri"/>
              <a:sym typeface="Calibri"/>
            </a:endParaRPr>
          </a:p>
        </p:txBody>
      </p:sp>
      <p:sp>
        <p:nvSpPr>
          <p:cNvPr id="395" name="Google Shape;395;p30"/>
          <p:cNvSpPr/>
          <p:nvPr/>
        </p:nvSpPr>
        <p:spPr>
          <a:xfrm>
            <a:off x="3839840" y="1326356"/>
            <a:ext cx="4893320" cy="662360"/>
          </a:xfrm>
          <a:prstGeom prst="roundRect">
            <a:avLst>
              <a:gd fmla="val 7444" name="adj"/>
            </a:avLst>
          </a:prstGeom>
          <a:solidFill>
            <a:srgbClr val="DADBF1"/>
          </a:solidFill>
          <a:ln cap="flat" cmpd="sng" w="9525">
            <a:solidFill>
              <a:srgbClr val="C0C1D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30"/>
          <p:cNvSpPr/>
          <p:nvPr/>
        </p:nvSpPr>
        <p:spPr>
          <a:xfrm>
            <a:off x="3961954" y="1448470"/>
            <a:ext cx="1887885" cy="18819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150"/>
              <a:buFont typeface="Inter"/>
              <a:buNone/>
            </a:pPr>
            <a:r>
              <a:rPr b="1" lang="en" sz="1150">
                <a:solidFill>
                  <a:srgbClr val="000000"/>
                </a:solidFill>
                <a:latin typeface="Inter"/>
                <a:ea typeface="Inter"/>
                <a:cs typeface="Inter"/>
                <a:sym typeface="Inter"/>
              </a:rPr>
              <a:t>🚦</a:t>
            </a:r>
            <a:r>
              <a:rPr b="1" lang="en" sz="1150">
                <a:solidFill>
                  <a:srgbClr val="272525"/>
                </a:solidFill>
                <a:latin typeface="Inter"/>
                <a:ea typeface="Inter"/>
                <a:cs typeface="Inter"/>
                <a:sym typeface="Inter"/>
              </a:rPr>
              <a:t> Real-Time Sensor Input</a:t>
            </a:r>
            <a:endParaRPr sz="1150">
              <a:solidFill>
                <a:schemeClr val="dk1"/>
              </a:solidFill>
              <a:latin typeface="Calibri"/>
              <a:ea typeface="Calibri"/>
              <a:cs typeface="Calibri"/>
              <a:sym typeface="Calibri"/>
            </a:endParaRPr>
          </a:p>
        </p:txBody>
      </p:sp>
      <p:sp>
        <p:nvSpPr>
          <p:cNvPr id="397" name="Google Shape;397;p30"/>
          <p:cNvSpPr/>
          <p:nvPr/>
        </p:nvSpPr>
        <p:spPr>
          <a:xfrm>
            <a:off x="3961954" y="1694929"/>
            <a:ext cx="4649093" cy="171673"/>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72525"/>
              </a:buClr>
              <a:buSzPts val="900"/>
              <a:buFont typeface="Inter"/>
              <a:buNone/>
            </a:pPr>
            <a:r>
              <a:rPr lang="en" sz="900">
                <a:solidFill>
                  <a:srgbClr val="272525"/>
                </a:solidFill>
                <a:latin typeface="Inter"/>
                <a:ea typeface="Inter"/>
                <a:cs typeface="Inter"/>
                <a:sym typeface="Inter"/>
              </a:rPr>
              <a:t>Vehicle density sensors feed live occupancy data per lane continuously.</a:t>
            </a:r>
            <a:endParaRPr sz="900">
              <a:solidFill>
                <a:schemeClr val="dk1"/>
              </a:solidFill>
              <a:latin typeface="Calibri"/>
              <a:ea typeface="Calibri"/>
              <a:cs typeface="Calibri"/>
              <a:sym typeface="Calibri"/>
            </a:endParaRPr>
          </a:p>
        </p:txBody>
      </p:sp>
      <p:sp>
        <p:nvSpPr>
          <p:cNvPr id="398" name="Google Shape;398;p30"/>
          <p:cNvSpPr/>
          <p:nvPr/>
        </p:nvSpPr>
        <p:spPr>
          <a:xfrm>
            <a:off x="3839840" y="2085901"/>
            <a:ext cx="4893320" cy="834033"/>
          </a:xfrm>
          <a:prstGeom prst="roundRect">
            <a:avLst>
              <a:gd fmla="val 5912" name="adj"/>
            </a:avLst>
          </a:prstGeom>
          <a:solidFill>
            <a:srgbClr val="DADBF1"/>
          </a:solidFill>
          <a:ln cap="flat" cmpd="sng" w="9525">
            <a:solidFill>
              <a:srgbClr val="C0C1D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30"/>
          <p:cNvSpPr/>
          <p:nvPr/>
        </p:nvSpPr>
        <p:spPr>
          <a:xfrm>
            <a:off x="3961954" y="2208014"/>
            <a:ext cx="2051224" cy="18819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150"/>
              <a:buFont typeface="Inter"/>
              <a:buNone/>
            </a:pPr>
            <a:r>
              <a:rPr b="1" lang="en" sz="1150">
                <a:solidFill>
                  <a:srgbClr val="000000"/>
                </a:solidFill>
                <a:latin typeface="Inter"/>
                <a:ea typeface="Inter"/>
                <a:cs typeface="Inter"/>
                <a:sym typeface="Inter"/>
              </a:rPr>
              <a:t>🧠</a:t>
            </a:r>
            <a:r>
              <a:rPr b="1" lang="en" sz="1150">
                <a:solidFill>
                  <a:srgbClr val="272525"/>
                </a:solidFill>
                <a:latin typeface="Inter"/>
                <a:ea typeface="Inter"/>
                <a:cs typeface="Inter"/>
                <a:sym typeface="Inter"/>
              </a:rPr>
              <a:t> Heuristic Decision Engine</a:t>
            </a:r>
            <a:endParaRPr sz="1150">
              <a:solidFill>
                <a:schemeClr val="dk1"/>
              </a:solidFill>
              <a:latin typeface="Calibri"/>
              <a:ea typeface="Calibri"/>
              <a:cs typeface="Calibri"/>
              <a:sym typeface="Calibri"/>
            </a:endParaRPr>
          </a:p>
        </p:txBody>
      </p:sp>
      <p:sp>
        <p:nvSpPr>
          <p:cNvPr id="400" name="Google Shape;400;p30"/>
          <p:cNvSpPr/>
          <p:nvPr/>
        </p:nvSpPr>
        <p:spPr>
          <a:xfrm>
            <a:off x="3961954" y="2454473"/>
            <a:ext cx="4649093" cy="343346"/>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72525"/>
              </a:buClr>
              <a:buSzPts val="900"/>
              <a:buFont typeface="Inter"/>
              <a:buNone/>
            </a:pPr>
            <a:r>
              <a:rPr lang="en" sz="900">
                <a:solidFill>
                  <a:srgbClr val="272525"/>
                </a:solidFill>
                <a:latin typeface="Inter"/>
                <a:ea typeface="Inter"/>
                <a:cs typeface="Inter"/>
                <a:sym typeface="Inter"/>
              </a:rPr>
              <a:t>If-then conditional rules select the optimal green phase based on density thresholds.</a:t>
            </a:r>
            <a:endParaRPr sz="900">
              <a:solidFill>
                <a:schemeClr val="dk1"/>
              </a:solidFill>
              <a:latin typeface="Calibri"/>
              <a:ea typeface="Calibri"/>
              <a:cs typeface="Calibri"/>
              <a:sym typeface="Calibri"/>
            </a:endParaRPr>
          </a:p>
        </p:txBody>
      </p:sp>
      <p:sp>
        <p:nvSpPr>
          <p:cNvPr id="401" name="Google Shape;401;p30"/>
          <p:cNvSpPr/>
          <p:nvPr/>
        </p:nvSpPr>
        <p:spPr>
          <a:xfrm>
            <a:off x="3839840" y="3017118"/>
            <a:ext cx="4893320" cy="834033"/>
          </a:xfrm>
          <a:prstGeom prst="roundRect">
            <a:avLst>
              <a:gd fmla="val 5912" name="adj"/>
            </a:avLst>
          </a:prstGeom>
          <a:solidFill>
            <a:srgbClr val="DADBF1"/>
          </a:solidFill>
          <a:ln cap="flat" cmpd="sng" w="9525">
            <a:solidFill>
              <a:srgbClr val="C0C1D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30"/>
          <p:cNvSpPr/>
          <p:nvPr/>
        </p:nvSpPr>
        <p:spPr>
          <a:xfrm>
            <a:off x="3961954" y="3139232"/>
            <a:ext cx="1727225" cy="18819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150"/>
              <a:buFont typeface="Inter"/>
              <a:buNone/>
            </a:pPr>
            <a:r>
              <a:rPr b="1" lang="en" sz="1150">
                <a:solidFill>
                  <a:srgbClr val="000000"/>
                </a:solidFill>
                <a:latin typeface="Inter"/>
                <a:ea typeface="Inter"/>
                <a:cs typeface="Inter"/>
                <a:sym typeface="Inter"/>
              </a:rPr>
              <a:t>🚨</a:t>
            </a:r>
            <a:r>
              <a:rPr b="1" lang="en" sz="1150">
                <a:solidFill>
                  <a:srgbClr val="272525"/>
                </a:solidFill>
                <a:latin typeface="Inter"/>
                <a:ea typeface="Inter"/>
                <a:cs typeface="Inter"/>
                <a:sym typeface="Inter"/>
              </a:rPr>
              <a:t> Priority Management</a:t>
            </a:r>
            <a:endParaRPr sz="1150">
              <a:solidFill>
                <a:schemeClr val="dk1"/>
              </a:solidFill>
              <a:latin typeface="Calibri"/>
              <a:ea typeface="Calibri"/>
              <a:cs typeface="Calibri"/>
              <a:sym typeface="Calibri"/>
            </a:endParaRPr>
          </a:p>
        </p:txBody>
      </p:sp>
      <p:sp>
        <p:nvSpPr>
          <p:cNvPr id="403" name="Google Shape;403;p30"/>
          <p:cNvSpPr/>
          <p:nvPr/>
        </p:nvSpPr>
        <p:spPr>
          <a:xfrm>
            <a:off x="3961954" y="3385691"/>
            <a:ext cx="4649093" cy="343346"/>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72525"/>
              </a:buClr>
              <a:buSzPts val="900"/>
              <a:buFont typeface="Inter"/>
              <a:buNone/>
            </a:pPr>
            <a:r>
              <a:rPr lang="en" sz="900">
                <a:solidFill>
                  <a:srgbClr val="272525"/>
                </a:solidFill>
                <a:latin typeface="Inter"/>
                <a:ea typeface="Inter"/>
                <a:cs typeface="Inter"/>
                <a:sym typeface="Inter"/>
              </a:rPr>
              <a:t>Emergency, transit, and high-occupancy lanes are weighted and served with pre-emption logic.</a:t>
            </a:r>
            <a:endParaRPr sz="900">
              <a:solidFill>
                <a:schemeClr val="dk1"/>
              </a:solidFill>
              <a:latin typeface="Calibri"/>
              <a:ea typeface="Calibri"/>
              <a:cs typeface="Calibri"/>
              <a:sym typeface="Calibri"/>
            </a:endParaRPr>
          </a:p>
        </p:txBody>
      </p:sp>
      <p:sp>
        <p:nvSpPr>
          <p:cNvPr id="404" name="Google Shape;404;p30"/>
          <p:cNvSpPr/>
          <p:nvPr/>
        </p:nvSpPr>
        <p:spPr>
          <a:xfrm>
            <a:off x="3839840" y="3948336"/>
            <a:ext cx="4893320" cy="834033"/>
          </a:xfrm>
          <a:prstGeom prst="roundRect">
            <a:avLst>
              <a:gd fmla="val 5912" name="adj"/>
            </a:avLst>
          </a:prstGeom>
          <a:solidFill>
            <a:srgbClr val="DADBF1"/>
          </a:solidFill>
          <a:ln cap="flat" cmpd="sng" w="9525">
            <a:solidFill>
              <a:srgbClr val="C0C1D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30"/>
          <p:cNvSpPr/>
          <p:nvPr/>
        </p:nvSpPr>
        <p:spPr>
          <a:xfrm>
            <a:off x="3961954" y="4070449"/>
            <a:ext cx="1557858" cy="18819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150"/>
              <a:buFont typeface="Inter"/>
              <a:buNone/>
            </a:pPr>
            <a:r>
              <a:rPr b="1" lang="en" sz="1150">
                <a:solidFill>
                  <a:srgbClr val="000000"/>
                </a:solidFill>
                <a:latin typeface="Inter"/>
                <a:ea typeface="Inter"/>
                <a:cs typeface="Inter"/>
                <a:sym typeface="Inter"/>
              </a:rPr>
              <a:t>📊</a:t>
            </a:r>
            <a:r>
              <a:rPr b="1" lang="en" sz="1150">
                <a:solidFill>
                  <a:srgbClr val="272525"/>
                </a:solidFill>
                <a:latin typeface="Inter"/>
                <a:ea typeface="Inter"/>
                <a:cs typeface="Inter"/>
                <a:sym typeface="Inter"/>
              </a:rPr>
              <a:t> Central Dashboard</a:t>
            </a:r>
            <a:endParaRPr sz="1150">
              <a:solidFill>
                <a:schemeClr val="dk1"/>
              </a:solidFill>
              <a:latin typeface="Calibri"/>
              <a:ea typeface="Calibri"/>
              <a:cs typeface="Calibri"/>
              <a:sym typeface="Calibri"/>
            </a:endParaRPr>
          </a:p>
        </p:txBody>
      </p:sp>
      <p:sp>
        <p:nvSpPr>
          <p:cNvPr id="406" name="Google Shape;406;p30"/>
          <p:cNvSpPr/>
          <p:nvPr/>
        </p:nvSpPr>
        <p:spPr>
          <a:xfrm>
            <a:off x="3961954" y="4316909"/>
            <a:ext cx="4649093" cy="343346"/>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72525"/>
              </a:buClr>
              <a:buSzPts val="900"/>
              <a:buFont typeface="Inter"/>
              <a:buNone/>
            </a:pPr>
            <a:r>
              <a:rPr lang="en" sz="900">
                <a:solidFill>
                  <a:srgbClr val="272525"/>
                </a:solidFill>
                <a:latin typeface="Inter"/>
                <a:ea typeface="Inter"/>
                <a:cs typeface="Inter"/>
                <a:sym typeface="Inter"/>
              </a:rPr>
              <a:t>Supervisor monitoring interface provides real-time status, alerts, and override capability.</a:t>
            </a:r>
            <a:endParaRPr sz="900">
              <a:solidFill>
                <a:schemeClr val="dk1"/>
              </a:solidFill>
              <a:latin typeface="Calibri"/>
              <a:ea typeface="Calibri"/>
              <a:cs typeface="Calibri"/>
              <a:sym typeface="Calibri"/>
            </a:endParaRPr>
          </a:p>
        </p:txBody>
      </p:sp>
      <p:pic>
        <p:nvPicPr>
          <p:cNvPr id="407" name="Google Shape;407;p30"/>
          <p:cNvPicPr preferRelativeResize="0"/>
          <p:nvPr/>
        </p:nvPicPr>
        <p:blipFill rotWithShape="1">
          <a:blip r:embed="rId4">
            <a:alphaModFix/>
          </a:blip>
          <a:srcRect b="0" l="0" r="0" t="0"/>
          <a:stretch/>
        </p:blipFill>
        <p:spPr>
          <a:xfrm>
            <a:off x="6063175" y="4782369"/>
            <a:ext cx="3080825" cy="3509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id="412" name="Google Shape;412;p31"/>
          <p:cNvPicPr preferRelativeResize="0"/>
          <p:nvPr/>
        </p:nvPicPr>
        <p:blipFill>
          <a:blip r:embed="rId3">
            <a:alphaModFix/>
          </a:blip>
          <a:stretch>
            <a:fillRect/>
          </a:stretch>
        </p:blipFill>
        <p:spPr>
          <a:xfrm>
            <a:off x="76200" y="-448875"/>
            <a:ext cx="8991601" cy="604124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2"/>
          <p:cNvSpPr/>
          <p:nvPr/>
        </p:nvSpPr>
        <p:spPr>
          <a:xfrm>
            <a:off x="441871" y="364554"/>
            <a:ext cx="5148411" cy="39454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450"/>
              <a:buFont typeface="Inter"/>
              <a:buNone/>
            </a:pPr>
            <a:r>
              <a:rPr b="1" lang="en" sz="2450">
                <a:solidFill>
                  <a:srgbClr val="000000"/>
                </a:solidFill>
                <a:latin typeface="Inter"/>
                <a:ea typeface="Inter"/>
                <a:cs typeface="Inter"/>
                <a:sym typeface="Inter"/>
              </a:rPr>
              <a:t>Proposed System — Data Flow</a:t>
            </a:r>
            <a:endParaRPr sz="2450">
              <a:solidFill>
                <a:schemeClr val="dk1"/>
              </a:solidFill>
              <a:latin typeface="Calibri"/>
              <a:ea typeface="Calibri"/>
              <a:cs typeface="Calibri"/>
              <a:sym typeface="Calibri"/>
            </a:endParaRPr>
          </a:p>
        </p:txBody>
      </p:sp>
      <p:pic>
        <p:nvPicPr>
          <p:cNvPr descr="preencoded.png" id="419" name="Google Shape;419;p32"/>
          <p:cNvPicPr preferRelativeResize="0"/>
          <p:nvPr/>
        </p:nvPicPr>
        <p:blipFill rotWithShape="1">
          <a:blip r:embed="rId3">
            <a:alphaModFix/>
          </a:blip>
          <a:srcRect b="0" l="0" r="0" t="0"/>
          <a:stretch/>
        </p:blipFill>
        <p:spPr>
          <a:xfrm>
            <a:off x="623739" y="983977"/>
            <a:ext cx="7896448" cy="3095625"/>
          </a:xfrm>
          <a:prstGeom prst="rect">
            <a:avLst/>
          </a:prstGeom>
          <a:noFill/>
          <a:ln>
            <a:noFill/>
          </a:ln>
        </p:spPr>
      </p:pic>
      <p:sp>
        <p:nvSpPr>
          <p:cNvPr id="420" name="Google Shape;420;p32"/>
          <p:cNvSpPr/>
          <p:nvPr/>
        </p:nvSpPr>
        <p:spPr>
          <a:xfrm>
            <a:off x="812764" y="1135793"/>
            <a:ext cx="1445520" cy="464632"/>
          </a:xfrm>
          <a:prstGeom prst="rect">
            <a:avLst/>
          </a:prstGeom>
          <a:noFill/>
          <a:ln>
            <a:noFill/>
          </a:ln>
        </p:spPr>
        <p:txBody>
          <a:bodyPr anchorCtr="0" anchor="t" bIns="0" lIns="0" spcFirstLastPara="1" rIns="0" wrap="square" tIns="0">
            <a:noAutofit/>
          </a:bodyPr>
          <a:lstStyle/>
          <a:p>
            <a:pPr indent="0" lvl="0" marL="0" marR="0" rtl="0" algn="r">
              <a:lnSpc>
                <a:spcPct val="104000"/>
              </a:lnSpc>
              <a:spcBef>
                <a:spcPts val="0"/>
              </a:spcBef>
              <a:spcAft>
                <a:spcPts val="0"/>
              </a:spcAft>
              <a:buClr>
                <a:srgbClr val="000000"/>
              </a:buClr>
              <a:buSzPts val="1450"/>
              <a:buFont typeface="Inter"/>
              <a:buNone/>
            </a:pPr>
            <a:r>
              <a:rPr b="1" lang="en" sz="1450">
                <a:solidFill>
                  <a:srgbClr val="000000"/>
                </a:solidFill>
                <a:latin typeface="Inter"/>
                <a:ea typeface="Inter"/>
                <a:cs typeface="Inter"/>
                <a:sym typeface="Inter"/>
              </a:rPr>
              <a:t>Vehicle Density Sensors</a:t>
            </a:r>
            <a:endParaRPr sz="1450">
              <a:solidFill>
                <a:schemeClr val="dk1"/>
              </a:solidFill>
              <a:latin typeface="Calibri"/>
              <a:ea typeface="Calibri"/>
              <a:cs typeface="Calibri"/>
              <a:sym typeface="Calibri"/>
            </a:endParaRPr>
          </a:p>
        </p:txBody>
      </p:sp>
      <p:sp>
        <p:nvSpPr>
          <p:cNvPr id="421" name="Google Shape;421;p32"/>
          <p:cNvSpPr/>
          <p:nvPr/>
        </p:nvSpPr>
        <p:spPr>
          <a:xfrm>
            <a:off x="6885498" y="1135793"/>
            <a:ext cx="1445520" cy="46463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450"/>
              <a:buFont typeface="Inter"/>
              <a:buNone/>
            </a:pPr>
            <a:r>
              <a:rPr b="1" lang="en" sz="1450">
                <a:solidFill>
                  <a:srgbClr val="000000"/>
                </a:solidFill>
                <a:latin typeface="Inter"/>
                <a:ea typeface="Inter"/>
                <a:cs typeface="Inter"/>
                <a:sym typeface="Inter"/>
              </a:rPr>
              <a:t>Real-Time Aggregator</a:t>
            </a:r>
            <a:endParaRPr sz="1450">
              <a:solidFill>
                <a:schemeClr val="dk1"/>
              </a:solidFill>
              <a:latin typeface="Calibri"/>
              <a:ea typeface="Calibri"/>
              <a:cs typeface="Calibri"/>
              <a:sym typeface="Calibri"/>
            </a:endParaRPr>
          </a:p>
        </p:txBody>
      </p:sp>
      <p:sp>
        <p:nvSpPr>
          <p:cNvPr id="422" name="Google Shape;422;p32"/>
          <p:cNvSpPr/>
          <p:nvPr/>
        </p:nvSpPr>
        <p:spPr>
          <a:xfrm>
            <a:off x="6885498" y="3230765"/>
            <a:ext cx="1445520" cy="6969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450"/>
              <a:buFont typeface="Inter"/>
              <a:buNone/>
            </a:pPr>
            <a:r>
              <a:rPr b="1" lang="en" sz="1450">
                <a:solidFill>
                  <a:srgbClr val="000000"/>
                </a:solidFill>
                <a:latin typeface="Inter"/>
                <a:ea typeface="Inter"/>
                <a:cs typeface="Inter"/>
                <a:sym typeface="Inter"/>
              </a:rPr>
              <a:t>Heuristic Decision Engine</a:t>
            </a:r>
            <a:endParaRPr sz="1450">
              <a:solidFill>
                <a:schemeClr val="dk1"/>
              </a:solidFill>
              <a:latin typeface="Calibri"/>
              <a:ea typeface="Calibri"/>
              <a:cs typeface="Calibri"/>
              <a:sym typeface="Calibri"/>
            </a:endParaRPr>
          </a:p>
        </p:txBody>
      </p:sp>
      <p:sp>
        <p:nvSpPr>
          <p:cNvPr id="423" name="Google Shape;423;p32"/>
          <p:cNvSpPr/>
          <p:nvPr/>
        </p:nvSpPr>
        <p:spPr>
          <a:xfrm>
            <a:off x="812764" y="3463081"/>
            <a:ext cx="1445520" cy="464632"/>
          </a:xfrm>
          <a:prstGeom prst="rect">
            <a:avLst/>
          </a:prstGeom>
          <a:noFill/>
          <a:ln>
            <a:noFill/>
          </a:ln>
        </p:spPr>
        <p:txBody>
          <a:bodyPr anchorCtr="0" anchor="t" bIns="0" lIns="0" spcFirstLastPara="1" rIns="0" wrap="square" tIns="0">
            <a:noAutofit/>
          </a:bodyPr>
          <a:lstStyle/>
          <a:p>
            <a:pPr indent="0" lvl="0" marL="0" marR="0" rtl="0" algn="r">
              <a:lnSpc>
                <a:spcPct val="104000"/>
              </a:lnSpc>
              <a:spcBef>
                <a:spcPts val="0"/>
              </a:spcBef>
              <a:spcAft>
                <a:spcPts val="0"/>
              </a:spcAft>
              <a:buClr>
                <a:srgbClr val="000000"/>
              </a:buClr>
              <a:buSzPts val="1450"/>
              <a:buFont typeface="Inter"/>
              <a:buNone/>
            </a:pPr>
            <a:r>
              <a:rPr b="1" lang="en" sz="1450">
                <a:solidFill>
                  <a:srgbClr val="000000"/>
                </a:solidFill>
                <a:latin typeface="Inter"/>
                <a:ea typeface="Inter"/>
                <a:cs typeface="Inter"/>
                <a:sym typeface="Inter"/>
              </a:rPr>
              <a:t>Dynamic Signal Controller</a:t>
            </a:r>
            <a:endParaRPr sz="1450">
              <a:solidFill>
                <a:schemeClr val="dk1"/>
              </a:solidFill>
              <a:latin typeface="Calibri"/>
              <a:ea typeface="Calibri"/>
              <a:cs typeface="Calibri"/>
              <a:sym typeface="Calibri"/>
            </a:endParaRPr>
          </a:p>
        </p:txBody>
      </p:sp>
      <p:sp>
        <p:nvSpPr>
          <p:cNvPr id="424" name="Google Shape;424;p32"/>
          <p:cNvSpPr/>
          <p:nvPr/>
        </p:nvSpPr>
        <p:spPr>
          <a:xfrm>
            <a:off x="441871" y="4206106"/>
            <a:ext cx="8260259" cy="572839"/>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272525"/>
              </a:buClr>
              <a:buSzPts val="950"/>
              <a:buFont typeface="Inter"/>
              <a:buNone/>
            </a:pPr>
            <a:r>
              <a:rPr lang="en" sz="950">
                <a:solidFill>
                  <a:srgbClr val="272525"/>
                </a:solidFill>
                <a:latin typeface="Inter"/>
                <a:ea typeface="Inter"/>
                <a:cs typeface="Inter"/>
                <a:sym typeface="Inter"/>
              </a:rPr>
              <a:t>Unlike the existing system, the proposed architecture maintains a </a:t>
            </a:r>
            <a:r>
              <a:rPr b="1" lang="en" sz="950">
                <a:solidFill>
                  <a:srgbClr val="272525"/>
                </a:solidFill>
                <a:latin typeface="Inter"/>
                <a:ea typeface="Inter"/>
                <a:cs typeface="Inter"/>
                <a:sym typeface="Inter"/>
              </a:rPr>
              <a:t>continuous feedback loop</a:t>
            </a:r>
            <a:r>
              <a:rPr lang="en" sz="950">
                <a:solidFill>
                  <a:srgbClr val="272525"/>
                </a:solidFill>
                <a:latin typeface="Inter"/>
                <a:ea typeface="Inter"/>
                <a:cs typeface="Inter"/>
                <a:sym typeface="Inter"/>
              </a:rPr>
              <a:t> — sensor readings are processed after every signal cycle, enabling the heuristic engine to refine timing decisions dynamically and respond to sudden congestion spikes or emergency events in real time.</a:t>
            </a:r>
            <a:endParaRPr sz="950">
              <a:solidFill>
                <a:schemeClr val="dk1"/>
              </a:solidFill>
              <a:latin typeface="Calibri"/>
              <a:ea typeface="Calibri"/>
              <a:cs typeface="Calibri"/>
              <a:sym typeface="Calibri"/>
            </a:endParaRPr>
          </a:p>
        </p:txBody>
      </p:sp>
      <p:pic>
        <p:nvPicPr>
          <p:cNvPr id="425" name="Google Shape;425;p32"/>
          <p:cNvPicPr preferRelativeResize="0"/>
          <p:nvPr/>
        </p:nvPicPr>
        <p:blipFill rotWithShape="1">
          <a:blip r:embed="rId4">
            <a:alphaModFix/>
          </a:blip>
          <a:srcRect b="0" l="0" r="0" t="0"/>
          <a:stretch/>
        </p:blipFill>
        <p:spPr>
          <a:xfrm>
            <a:off x="5381100" y="4714815"/>
            <a:ext cx="3762900" cy="42868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3"/>
          <p:cNvSpPr/>
          <p:nvPr/>
        </p:nvSpPr>
        <p:spPr>
          <a:xfrm>
            <a:off x="496119" y="556245"/>
            <a:ext cx="5526732"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750"/>
              <a:buFont typeface="Inter"/>
              <a:buNone/>
            </a:pPr>
            <a:r>
              <a:rPr b="1" lang="en" sz="2750">
                <a:solidFill>
                  <a:srgbClr val="000000"/>
                </a:solidFill>
                <a:latin typeface="Inter"/>
                <a:ea typeface="Inter"/>
                <a:cs typeface="Inter"/>
                <a:sym typeface="Inter"/>
              </a:rPr>
              <a:t>Projected Performance Gains</a:t>
            </a:r>
            <a:endParaRPr sz="2750">
              <a:solidFill>
                <a:schemeClr val="dk1"/>
              </a:solidFill>
              <a:latin typeface="Calibri"/>
              <a:ea typeface="Calibri"/>
              <a:cs typeface="Calibri"/>
              <a:sym typeface="Calibri"/>
            </a:endParaRPr>
          </a:p>
        </p:txBody>
      </p:sp>
      <p:sp>
        <p:nvSpPr>
          <p:cNvPr id="432" name="Google Shape;432;p33"/>
          <p:cNvSpPr/>
          <p:nvPr/>
        </p:nvSpPr>
        <p:spPr>
          <a:xfrm>
            <a:off x="496119" y="1282750"/>
            <a:ext cx="8151763"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1100"/>
              <a:buFont typeface="Inter"/>
              <a:buNone/>
            </a:pPr>
            <a:r>
              <a:rPr lang="en" sz="1100">
                <a:solidFill>
                  <a:srgbClr val="272525"/>
                </a:solidFill>
                <a:latin typeface="Inter"/>
                <a:ea typeface="Inter"/>
                <a:cs typeface="Inter"/>
                <a:sym typeface="Inter"/>
              </a:rPr>
              <a:t>Simulation results from SUMO-based testing demonstrate significant improvements over fixed-cycle baselines across all key traffic metrics.</a:t>
            </a:r>
            <a:endParaRPr sz="1100">
              <a:solidFill>
                <a:schemeClr val="dk1"/>
              </a:solidFill>
              <a:latin typeface="Calibri"/>
              <a:ea typeface="Calibri"/>
              <a:cs typeface="Calibri"/>
              <a:sym typeface="Calibri"/>
            </a:endParaRPr>
          </a:p>
        </p:txBody>
      </p:sp>
      <p:sp>
        <p:nvSpPr>
          <p:cNvPr id="433" name="Google Shape;433;p33"/>
          <p:cNvSpPr/>
          <p:nvPr/>
        </p:nvSpPr>
        <p:spPr>
          <a:xfrm>
            <a:off x="496119" y="1966689"/>
            <a:ext cx="2599134" cy="467841"/>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272525"/>
              </a:buClr>
              <a:buSzPts val="3650"/>
              <a:buFont typeface="Inter"/>
              <a:buNone/>
            </a:pPr>
            <a:r>
              <a:rPr b="1" lang="en" sz="3650">
                <a:solidFill>
                  <a:srgbClr val="272525"/>
                </a:solidFill>
                <a:latin typeface="Inter"/>
                <a:ea typeface="Inter"/>
                <a:cs typeface="Inter"/>
                <a:sym typeface="Inter"/>
              </a:rPr>
              <a:t>30%</a:t>
            </a:r>
            <a:endParaRPr sz="3650">
              <a:solidFill>
                <a:schemeClr val="dk1"/>
              </a:solidFill>
              <a:latin typeface="Calibri"/>
              <a:ea typeface="Calibri"/>
              <a:cs typeface="Calibri"/>
              <a:sym typeface="Calibri"/>
            </a:endParaRPr>
          </a:p>
        </p:txBody>
      </p:sp>
      <p:sp>
        <p:nvSpPr>
          <p:cNvPr id="434" name="Google Shape;434;p33"/>
          <p:cNvSpPr/>
          <p:nvPr/>
        </p:nvSpPr>
        <p:spPr>
          <a:xfrm>
            <a:off x="909637" y="2611636"/>
            <a:ext cx="1772022" cy="221456"/>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272525"/>
              </a:buClr>
              <a:buSzPts val="1350"/>
              <a:buFont typeface="Inter"/>
              <a:buNone/>
            </a:pPr>
            <a:r>
              <a:rPr b="1" lang="en" sz="1350">
                <a:solidFill>
                  <a:srgbClr val="272525"/>
                </a:solidFill>
                <a:latin typeface="Inter"/>
                <a:ea typeface="Inter"/>
                <a:cs typeface="Inter"/>
                <a:sym typeface="Inter"/>
              </a:rPr>
              <a:t>Reduced Wait Time</a:t>
            </a:r>
            <a:endParaRPr sz="1350">
              <a:solidFill>
                <a:schemeClr val="dk1"/>
              </a:solidFill>
              <a:latin typeface="Calibri"/>
              <a:ea typeface="Calibri"/>
              <a:cs typeface="Calibri"/>
              <a:sym typeface="Calibri"/>
            </a:endParaRPr>
          </a:p>
        </p:txBody>
      </p:sp>
      <p:sp>
        <p:nvSpPr>
          <p:cNvPr id="435" name="Google Shape;435;p33"/>
          <p:cNvSpPr/>
          <p:nvPr/>
        </p:nvSpPr>
        <p:spPr>
          <a:xfrm>
            <a:off x="496119" y="2918147"/>
            <a:ext cx="2599134" cy="453628"/>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272525"/>
              </a:buClr>
              <a:buSzPts val="1100"/>
              <a:buFont typeface="Inter"/>
              <a:buNone/>
            </a:pPr>
            <a:r>
              <a:rPr lang="en" sz="1100">
                <a:solidFill>
                  <a:srgbClr val="272525"/>
                </a:solidFill>
                <a:latin typeface="Inter"/>
                <a:ea typeface="Inter"/>
                <a:cs typeface="Inter"/>
                <a:sym typeface="Inter"/>
              </a:rPr>
              <a:t>Average intersection wait time cut by nearly a third during peak hours.</a:t>
            </a:r>
            <a:endParaRPr sz="1100">
              <a:solidFill>
                <a:schemeClr val="dk1"/>
              </a:solidFill>
              <a:latin typeface="Calibri"/>
              <a:ea typeface="Calibri"/>
              <a:cs typeface="Calibri"/>
              <a:sym typeface="Calibri"/>
            </a:endParaRPr>
          </a:p>
        </p:txBody>
      </p:sp>
      <p:sp>
        <p:nvSpPr>
          <p:cNvPr id="436" name="Google Shape;436;p33"/>
          <p:cNvSpPr/>
          <p:nvPr/>
        </p:nvSpPr>
        <p:spPr>
          <a:xfrm>
            <a:off x="3272433" y="1966689"/>
            <a:ext cx="2599134" cy="467841"/>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272525"/>
              </a:buClr>
              <a:buSzPts val="3650"/>
              <a:buFont typeface="Inter"/>
              <a:buNone/>
            </a:pPr>
            <a:r>
              <a:rPr b="1" lang="en" sz="3650">
                <a:solidFill>
                  <a:srgbClr val="272525"/>
                </a:solidFill>
                <a:latin typeface="Inter"/>
                <a:ea typeface="Inter"/>
                <a:cs typeface="Inter"/>
                <a:sym typeface="Inter"/>
              </a:rPr>
              <a:t>25%</a:t>
            </a:r>
            <a:endParaRPr sz="3650">
              <a:solidFill>
                <a:schemeClr val="dk1"/>
              </a:solidFill>
              <a:latin typeface="Calibri"/>
              <a:ea typeface="Calibri"/>
              <a:cs typeface="Calibri"/>
              <a:sym typeface="Calibri"/>
            </a:endParaRPr>
          </a:p>
        </p:txBody>
      </p:sp>
      <p:sp>
        <p:nvSpPr>
          <p:cNvPr id="437" name="Google Shape;437;p33"/>
          <p:cNvSpPr/>
          <p:nvPr/>
        </p:nvSpPr>
        <p:spPr>
          <a:xfrm>
            <a:off x="3685952" y="2611636"/>
            <a:ext cx="1772022" cy="221456"/>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272525"/>
              </a:buClr>
              <a:buSzPts val="1350"/>
              <a:buFont typeface="Inter"/>
              <a:buNone/>
            </a:pPr>
            <a:r>
              <a:rPr b="1" lang="en" sz="1350">
                <a:solidFill>
                  <a:srgbClr val="272525"/>
                </a:solidFill>
                <a:latin typeface="Inter"/>
                <a:ea typeface="Inter"/>
                <a:cs typeface="Inter"/>
                <a:sym typeface="Inter"/>
              </a:rPr>
              <a:t>Less Congestion</a:t>
            </a:r>
            <a:endParaRPr sz="1350">
              <a:solidFill>
                <a:schemeClr val="dk1"/>
              </a:solidFill>
              <a:latin typeface="Calibri"/>
              <a:ea typeface="Calibri"/>
              <a:cs typeface="Calibri"/>
              <a:sym typeface="Calibri"/>
            </a:endParaRPr>
          </a:p>
        </p:txBody>
      </p:sp>
      <p:sp>
        <p:nvSpPr>
          <p:cNvPr id="438" name="Google Shape;438;p33"/>
          <p:cNvSpPr/>
          <p:nvPr/>
        </p:nvSpPr>
        <p:spPr>
          <a:xfrm>
            <a:off x="3272433" y="2918147"/>
            <a:ext cx="2599134" cy="453628"/>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272525"/>
              </a:buClr>
              <a:buSzPts val="1100"/>
              <a:buFont typeface="Inter"/>
              <a:buNone/>
            </a:pPr>
            <a:r>
              <a:rPr lang="en" sz="1100">
                <a:solidFill>
                  <a:srgbClr val="272525"/>
                </a:solidFill>
                <a:latin typeface="Inter"/>
                <a:ea typeface="Inter"/>
                <a:cs typeface="Inter"/>
                <a:sym typeface="Inter"/>
              </a:rPr>
              <a:t>Network-wide congestion index drops due to dynamic phase balancing.</a:t>
            </a:r>
            <a:endParaRPr sz="1100">
              <a:solidFill>
                <a:schemeClr val="dk1"/>
              </a:solidFill>
              <a:latin typeface="Calibri"/>
              <a:ea typeface="Calibri"/>
              <a:cs typeface="Calibri"/>
              <a:sym typeface="Calibri"/>
            </a:endParaRPr>
          </a:p>
        </p:txBody>
      </p:sp>
      <p:sp>
        <p:nvSpPr>
          <p:cNvPr id="439" name="Google Shape;439;p33"/>
          <p:cNvSpPr/>
          <p:nvPr/>
        </p:nvSpPr>
        <p:spPr>
          <a:xfrm>
            <a:off x="6048747" y="1966689"/>
            <a:ext cx="2599134" cy="467841"/>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272525"/>
              </a:buClr>
              <a:buSzPts val="3650"/>
              <a:buFont typeface="Inter"/>
              <a:buNone/>
            </a:pPr>
            <a:r>
              <a:rPr b="1" lang="en" sz="3650">
                <a:solidFill>
                  <a:srgbClr val="272525"/>
                </a:solidFill>
                <a:latin typeface="Inter"/>
                <a:ea typeface="Inter"/>
                <a:cs typeface="Inter"/>
                <a:sym typeface="Inter"/>
              </a:rPr>
              <a:t>40%</a:t>
            </a:r>
            <a:endParaRPr sz="3650">
              <a:solidFill>
                <a:schemeClr val="dk1"/>
              </a:solidFill>
              <a:latin typeface="Calibri"/>
              <a:ea typeface="Calibri"/>
              <a:cs typeface="Calibri"/>
              <a:sym typeface="Calibri"/>
            </a:endParaRPr>
          </a:p>
        </p:txBody>
      </p:sp>
      <p:sp>
        <p:nvSpPr>
          <p:cNvPr id="440" name="Google Shape;440;p33"/>
          <p:cNvSpPr/>
          <p:nvPr/>
        </p:nvSpPr>
        <p:spPr>
          <a:xfrm>
            <a:off x="6407125" y="2611636"/>
            <a:ext cx="1882378" cy="221456"/>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272525"/>
              </a:buClr>
              <a:buSzPts val="1350"/>
              <a:buFont typeface="Inter"/>
              <a:buNone/>
            </a:pPr>
            <a:r>
              <a:rPr b="1" lang="en" sz="1350">
                <a:solidFill>
                  <a:srgbClr val="272525"/>
                </a:solidFill>
                <a:latin typeface="Inter"/>
                <a:ea typeface="Inter"/>
                <a:cs typeface="Inter"/>
                <a:sym typeface="Inter"/>
              </a:rPr>
              <a:t>Improved Throughput</a:t>
            </a:r>
            <a:endParaRPr sz="1350">
              <a:solidFill>
                <a:schemeClr val="dk1"/>
              </a:solidFill>
              <a:latin typeface="Calibri"/>
              <a:ea typeface="Calibri"/>
              <a:cs typeface="Calibri"/>
              <a:sym typeface="Calibri"/>
            </a:endParaRPr>
          </a:p>
        </p:txBody>
      </p:sp>
      <p:sp>
        <p:nvSpPr>
          <p:cNvPr id="441" name="Google Shape;441;p33"/>
          <p:cNvSpPr/>
          <p:nvPr/>
        </p:nvSpPr>
        <p:spPr>
          <a:xfrm>
            <a:off x="6048747" y="2918147"/>
            <a:ext cx="2599134" cy="680442"/>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272525"/>
              </a:buClr>
              <a:buSzPts val="1100"/>
              <a:buFont typeface="Inter"/>
              <a:buNone/>
            </a:pPr>
            <a:r>
              <a:rPr lang="en" sz="1100">
                <a:solidFill>
                  <a:srgbClr val="272525"/>
                </a:solidFill>
                <a:latin typeface="Inter"/>
                <a:ea typeface="Inter"/>
                <a:cs typeface="Inter"/>
                <a:sym typeface="Inter"/>
              </a:rPr>
              <a:t>Vehicles cleared per cycle improves substantially with adaptive green extension.</a:t>
            </a:r>
            <a:endParaRPr sz="1100">
              <a:solidFill>
                <a:schemeClr val="dk1"/>
              </a:solidFill>
              <a:latin typeface="Calibri"/>
              <a:ea typeface="Calibri"/>
              <a:cs typeface="Calibri"/>
              <a:sym typeface="Calibri"/>
            </a:endParaRPr>
          </a:p>
        </p:txBody>
      </p:sp>
      <p:sp>
        <p:nvSpPr>
          <p:cNvPr id="442" name="Google Shape;442;p33"/>
          <p:cNvSpPr/>
          <p:nvPr/>
        </p:nvSpPr>
        <p:spPr>
          <a:xfrm>
            <a:off x="496119" y="3758059"/>
            <a:ext cx="8151763" cy="829196"/>
          </a:xfrm>
          <a:prstGeom prst="roundRect">
            <a:avLst>
              <a:gd fmla="val 7181" name="adj"/>
            </a:avLst>
          </a:prstGeom>
          <a:solidFill>
            <a:srgbClr val="B6D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43" name="Google Shape;443;p33"/>
          <p:cNvPicPr preferRelativeResize="0"/>
          <p:nvPr/>
        </p:nvPicPr>
        <p:blipFill rotWithShape="1">
          <a:blip r:embed="rId3">
            <a:alphaModFix/>
          </a:blip>
          <a:srcRect b="0" l="0" r="0" t="0"/>
          <a:stretch/>
        </p:blipFill>
        <p:spPr>
          <a:xfrm>
            <a:off x="637877" y="3973116"/>
            <a:ext cx="177180" cy="141759"/>
          </a:xfrm>
          <a:prstGeom prst="rect">
            <a:avLst/>
          </a:prstGeom>
          <a:noFill/>
          <a:ln>
            <a:noFill/>
          </a:ln>
        </p:spPr>
      </p:pic>
      <p:sp>
        <p:nvSpPr>
          <p:cNvPr id="444" name="Google Shape;444;p33"/>
          <p:cNvSpPr/>
          <p:nvPr/>
        </p:nvSpPr>
        <p:spPr>
          <a:xfrm>
            <a:off x="956816" y="3935239"/>
            <a:ext cx="7549307"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1100"/>
              <a:buFont typeface="Inter"/>
              <a:buNone/>
            </a:pPr>
            <a:r>
              <a:rPr lang="en" sz="1100">
                <a:solidFill>
                  <a:srgbClr val="000000"/>
                </a:solidFill>
                <a:latin typeface="Inter"/>
                <a:ea typeface="Inter"/>
                <a:cs typeface="Inter"/>
                <a:sym typeface="Inter"/>
              </a:rPr>
              <a:t>All results based on SUMO simulation benchmarks comparing heuristic adaptive control vs. fixed-cycle baseline under equivalent traffic load conditions.</a:t>
            </a:r>
            <a:endParaRPr sz="1100">
              <a:solidFill>
                <a:schemeClr val="dk1"/>
              </a:solidFill>
              <a:latin typeface="Calibri"/>
              <a:ea typeface="Calibri"/>
              <a:cs typeface="Calibri"/>
              <a:sym typeface="Calibri"/>
            </a:endParaRPr>
          </a:p>
        </p:txBody>
      </p:sp>
      <p:pic>
        <p:nvPicPr>
          <p:cNvPr id="445" name="Google Shape;445;p33"/>
          <p:cNvPicPr preferRelativeResize="0"/>
          <p:nvPr/>
        </p:nvPicPr>
        <p:blipFill rotWithShape="1">
          <a:blip r:embed="rId4">
            <a:alphaModFix/>
          </a:blip>
          <a:srcRect b="0" l="0" r="0" t="0"/>
          <a:stretch/>
        </p:blipFill>
        <p:spPr>
          <a:xfrm>
            <a:off x="5381100" y="4695304"/>
            <a:ext cx="3762900" cy="42868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4"/>
          <p:cNvSpPr/>
          <p:nvPr/>
        </p:nvSpPr>
        <p:spPr>
          <a:xfrm>
            <a:off x="1362298" y="328687"/>
            <a:ext cx="546348" cy="154409"/>
          </a:xfrm>
          <a:prstGeom prst="roundRect">
            <a:avLst>
              <a:gd fmla="val 20245" name="adj"/>
            </a:avLst>
          </a:prstGeom>
          <a:solidFill>
            <a:srgbClr val="DAD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4"/>
          <p:cNvSpPr/>
          <p:nvPr/>
        </p:nvSpPr>
        <p:spPr>
          <a:xfrm>
            <a:off x="1418109" y="356592"/>
            <a:ext cx="891927" cy="9859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550"/>
              <a:buFont typeface="Inter"/>
              <a:buNone/>
            </a:pPr>
            <a:r>
              <a:rPr lang="en" sz="550">
                <a:solidFill>
                  <a:srgbClr val="272525"/>
                </a:solidFill>
                <a:latin typeface="Inter"/>
                <a:ea typeface="Inter"/>
                <a:cs typeface="Inter"/>
                <a:sym typeface="Inter"/>
              </a:rPr>
              <a:t>SLIDE 19–20</a:t>
            </a:r>
            <a:endParaRPr sz="550">
              <a:solidFill>
                <a:schemeClr val="dk1"/>
              </a:solidFill>
              <a:latin typeface="Calibri"/>
              <a:ea typeface="Calibri"/>
              <a:cs typeface="Calibri"/>
              <a:sym typeface="Calibri"/>
            </a:endParaRPr>
          </a:p>
        </p:txBody>
      </p:sp>
      <p:sp>
        <p:nvSpPr>
          <p:cNvPr id="453" name="Google Shape;453;p34"/>
          <p:cNvSpPr/>
          <p:nvPr/>
        </p:nvSpPr>
        <p:spPr>
          <a:xfrm>
            <a:off x="1362298" y="507504"/>
            <a:ext cx="3300710" cy="2907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800"/>
              <a:buFont typeface="Inter"/>
              <a:buNone/>
            </a:pPr>
            <a:r>
              <a:rPr b="1" lang="en" sz="1800">
                <a:solidFill>
                  <a:srgbClr val="000000"/>
                </a:solidFill>
                <a:latin typeface="Inter"/>
                <a:ea typeface="Inter"/>
                <a:cs typeface="Inter"/>
                <a:sym typeface="Inter"/>
              </a:rPr>
              <a:t>Conclusion &amp; References</a:t>
            </a:r>
            <a:endParaRPr sz="1800">
              <a:solidFill>
                <a:schemeClr val="dk1"/>
              </a:solidFill>
              <a:latin typeface="Calibri"/>
              <a:ea typeface="Calibri"/>
              <a:cs typeface="Calibri"/>
              <a:sym typeface="Calibri"/>
            </a:endParaRPr>
          </a:p>
        </p:txBody>
      </p:sp>
      <p:sp>
        <p:nvSpPr>
          <p:cNvPr id="454" name="Google Shape;454;p34"/>
          <p:cNvSpPr/>
          <p:nvPr/>
        </p:nvSpPr>
        <p:spPr>
          <a:xfrm>
            <a:off x="1362298" y="950788"/>
            <a:ext cx="1620069" cy="14533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900"/>
              <a:buFont typeface="Inter"/>
              <a:buNone/>
            </a:pPr>
            <a:r>
              <a:rPr b="1" lang="en" sz="900">
                <a:solidFill>
                  <a:srgbClr val="000000"/>
                </a:solidFill>
                <a:latin typeface="Inter"/>
                <a:ea typeface="Inter"/>
                <a:cs typeface="Inter"/>
                <a:sym typeface="Inter"/>
              </a:rPr>
              <a:t>Summary</a:t>
            </a:r>
            <a:endParaRPr sz="900">
              <a:solidFill>
                <a:schemeClr val="dk1"/>
              </a:solidFill>
              <a:latin typeface="Calibri"/>
              <a:ea typeface="Calibri"/>
              <a:cs typeface="Calibri"/>
              <a:sym typeface="Calibri"/>
            </a:endParaRPr>
          </a:p>
        </p:txBody>
      </p:sp>
      <p:sp>
        <p:nvSpPr>
          <p:cNvPr id="455" name="Google Shape;455;p34"/>
          <p:cNvSpPr/>
          <p:nvPr/>
        </p:nvSpPr>
        <p:spPr>
          <a:xfrm>
            <a:off x="1362298" y="1157139"/>
            <a:ext cx="3096220" cy="61614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lang="en" sz="700">
                <a:solidFill>
                  <a:srgbClr val="272525"/>
                </a:solidFill>
                <a:latin typeface="Inter"/>
                <a:ea typeface="Inter"/>
                <a:cs typeface="Inter"/>
                <a:sym typeface="Inter"/>
              </a:rPr>
              <a:t>This project presents a cost-effective, lightweight, and practical approach to urban traffic congestion through heuristic rule-based signal optimization. By analyzing SCOOT and SCATS, their critical limitations were identified — high cost, centralized architecture, and absent emergency priority — and each was directly addressed.</a:t>
            </a:r>
            <a:endParaRPr sz="700">
              <a:solidFill>
                <a:schemeClr val="dk1"/>
              </a:solidFill>
              <a:latin typeface="Calibri"/>
              <a:ea typeface="Calibri"/>
              <a:cs typeface="Calibri"/>
              <a:sym typeface="Calibri"/>
            </a:endParaRPr>
          </a:p>
        </p:txBody>
      </p:sp>
      <p:sp>
        <p:nvSpPr>
          <p:cNvPr id="456" name="Google Shape;456;p34"/>
          <p:cNvSpPr/>
          <p:nvPr/>
        </p:nvSpPr>
        <p:spPr>
          <a:xfrm>
            <a:off x="1362298" y="1893131"/>
            <a:ext cx="46509" cy="46509"/>
          </a:xfrm>
          <a:prstGeom prst="roundRect">
            <a:avLst>
              <a:gd fmla="val 614397"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4"/>
          <p:cNvSpPr/>
          <p:nvPr/>
        </p:nvSpPr>
        <p:spPr>
          <a:xfrm>
            <a:off x="1469827" y="1841971"/>
            <a:ext cx="2988692" cy="1232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lang="en" sz="700">
                <a:solidFill>
                  <a:srgbClr val="272525"/>
                </a:solidFill>
                <a:latin typeface="Inter"/>
                <a:ea typeface="Inter"/>
                <a:cs typeface="Inter"/>
                <a:sym typeface="Inter"/>
              </a:rPr>
              <a:t>Low-cost IR/ultrasonic sensors replace expensive inductive loops</a:t>
            </a:r>
            <a:endParaRPr sz="700">
              <a:solidFill>
                <a:schemeClr val="dk1"/>
              </a:solidFill>
              <a:latin typeface="Calibri"/>
              <a:ea typeface="Calibri"/>
              <a:cs typeface="Calibri"/>
              <a:sym typeface="Calibri"/>
            </a:endParaRPr>
          </a:p>
        </p:txBody>
      </p:sp>
      <p:sp>
        <p:nvSpPr>
          <p:cNvPr id="458" name="Google Shape;458;p34"/>
          <p:cNvSpPr/>
          <p:nvPr/>
        </p:nvSpPr>
        <p:spPr>
          <a:xfrm>
            <a:off x="1362298" y="2138400"/>
            <a:ext cx="46509" cy="46509"/>
          </a:xfrm>
          <a:prstGeom prst="roundRect">
            <a:avLst>
              <a:gd fmla="val 614397"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4"/>
          <p:cNvSpPr/>
          <p:nvPr/>
        </p:nvSpPr>
        <p:spPr>
          <a:xfrm>
            <a:off x="1469827" y="2087240"/>
            <a:ext cx="2988692" cy="1232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lang="en" sz="700">
                <a:solidFill>
                  <a:srgbClr val="272525"/>
                </a:solidFill>
                <a:latin typeface="Inter"/>
                <a:ea typeface="Inter"/>
                <a:cs typeface="Inter"/>
                <a:sym typeface="Inter"/>
              </a:rPr>
              <a:t>Raspberry Pi + Arduino replaces central servers</a:t>
            </a:r>
            <a:endParaRPr sz="700">
              <a:solidFill>
                <a:schemeClr val="dk1"/>
              </a:solidFill>
              <a:latin typeface="Calibri"/>
              <a:ea typeface="Calibri"/>
              <a:cs typeface="Calibri"/>
              <a:sym typeface="Calibri"/>
            </a:endParaRPr>
          </a:p>
        </p:txBody>
      </p:sp>
      <p:sp>
        <p:nvSpPr>
          <p:cNvPr id="460" name="Google Shape;460;p34"/>
          <p:cNvSpPr/>
          <p:nvPr/>
        </p:nvSpPr>
        <p:spPr>
          <a:xfrm>
            <a:off x="1362298" y="2383668"/>
            <a:ext cx="46509" cy="46509"/>
          </a:xfrm>
          <a:prstGeom prst="roundRect">
            <a:avLst>
              <a:gd fmla="val 614397"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4"/>
          <p:cNvSpPr/>
          <p:nvPr/>
        </p:nvSpPr>
        <p:spPr>
          <a:xfrm>
            <a:off x="1469827" y="2332509"/>
            <a:ext cx="2988692" cy="1232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lang="en" sz="700">
                <a:solidFill>
                  <a:srgbClr val="272525"/>
                </a:solidFill>
                <a:latin typeface="Inter"/>
                <a:ea typeface="Inter"/>
                <a:cs typeface="Inter"/>
                <a:sym typeface="Inter"/>
              </a:rPr>
              <a:t>Built-in emergency priority as a core heuristic rule</a:t>
            </a:r>
            <a:endParaRPr sz="700">
              <a:solidFill>
                <a:schemeClr val="dk1"/>
              </a:solidFill>
              <a:latin typeface="Calibri"/>
              <a:ea typeface="Calibri"/>
              <a:cs typeface="Calibri"/>
              <a:sym typeface="Calibri"/>
            </a:endParaRPr>
          </a:p>
        </p:txBody>
      </p:sp>
      <p:sp>
        <p:nvSpPr>
          <p:cNvPr id="462" name="Google Shape;462;p34"/>
          <p:cNvSpPr/>
          <p:nvPr/>
        </p:nvSpPr>
        <p:spPr>
          <a:xfrm>
            <a:off x="1362298" y="2628937"/>
            <a:ext cx="46509" cy="46509"/>
          </a:xfrm>
          <a:prstGeom prst="roundRect">
            <a:avLst>
              <a:gd fmla="val 614397"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4"/>
          <p:cNvSpPr/>
          <p:nvPr/>
        </p:nvSpPr>
        <p:spPr>
          <a:xfrm>
            <a:off x="1469827" y="2577778"/>
            <a:ext cx="2988692" cy="1232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lang="en" sz="700">
                <a:solidFill>
                  <a:srgbClr val="272525"/>
                </a:solidFill>
                <a:latin typeface="Inter"/>
                <a:ea typeface="Inter"/>
                <a:cs typeface="Inter"/>
                <a:sym typeface="Inter"/>
              </a:rPr>
              <a:t>Decentralized — each intersection fully independent</a:t>
            </a:r>
            <a:endParaRPr sz="700">
              <a:solidFill>
                <a:schemeClr val="dk1"/>
              </a:solidFill>
              <a:latin typeface="Calibri"/>
              <a:ea typeface="Calibri"/>
              <a:cs typeface="Calibri"/>
              <a:sym typeface="Calibri"/>
            </a:endParaRPr>
          </a:p>
        </p:txBody>
      </p:sp>
      <p:sp>
        <p:nvSpPr>
          <p:cNvPr id="464" name="Google Shape;464;p34"/>
          <p:cNvSpPr/>
          <p:nvPr/>
        </p:nvSpPr>
        <p:spPr>
          <a:xfrm>
            <a:off x="1362298" y="2874206"/>
            <a:ext cx="46509" cy="46509"/>
          </a:xfrm>
          <a:prstGeom prst="roundRect">
            <a:avLst>
              <a:gd fmla="val 614397"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4"/>
          <p:cNvSpPr/>
          <p:nvPr/>
        </p:nvSpPr>
        <p:spPr>
          <a:xfrm>
            <a:off x="1469827" y="2823046"/>
            <a:ext cx="2988692" cy="1232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lang="en" sz="700">
                <a:solidFill>
                  <a:srgbClr val="272525"/>
                </a:solidFill>
                <a:latin typeface="Inter"/>
                <a:ea typeface="Inter"/>
                <a:cs typeface="Inter"/>
                <a:sym typeface="Inter"/>
              </a:rPr>
              <a:t>Validated through SUMO simulation before hardware deployment</a:t>
            </a:r>
            <a:endParaRPr sz="700">
              <a:solidFill>
                <a:schemeClr val="dk1"/>
              </a:solidFill>
              <a:latin typeface="Calibri"/>
              <a:ea typeface="Calibri"/>
              <a:cs typeface="Calibri"/>
              <a:sym typeface="Calibri"/>
            </a:endParaRPr>
          </a:p>
        </p:txBody>
      </p:sp>
      <p:sp>
        <p:nvSpPr>
          <p:cNvPr id="466" name="Google Shape;466;p34"/>
          <p:cNvSpPr/>
          <p:nvPr/>
        </p:nvSpPr>
        <p:spPr>
          <a:xfrm>
            <a:off x="1362298" y="3014960"/>
            <a:ext cx="3096220" cy="555352"/>
          </a:xfrm>
          <a:prstGeom prst="roundRect">
            <a:avLst>
              <a:gd fmla="val 7036" name="adj"/>
            </a:avLst>
          </a:prstGeom>
          <a:solidFill>
            <a:srgbClr val="B6FC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7" name="Google Shape;467;p34"/>
          <p:cNvPicPr preferRelativeResize="0"/>
          <p:nvPr/>
        </p:nvPicPr>
        <p:blipFill rotWithShape="1">
          <a:blip r:embed="rId3">
            <a:alphaModFix/>
          </a:blip>
          <a:srcRect b="0" l="0" r="0" t="0"/>
          <a:stretch/>
        </p:blipFill>
        <p:spPr>
          <a:xfrm>
            <a:off x="1455316" y="3140273"/>
            <a:ext cx="116235" cy="93018"/>
          </a:xfrm>
          <a:prstGeom prst="rect">
            <a:avLst/>
          </a:prstGeom>
          <a:noFill/>
          <a:ln>
            <a:noFill/>
          </a:ln>
        </p:spPr>
      </p:pic>
      <p:sp>
        <p:nvSpPr>
          <p:cNvPr id="468" name="Google Shape;468;p34"/>
          <p:cNvSpPr/>
          <p:nvPr/>
        </p:nvSpPr>
        <p:spPr>
          <a:xfrm>
            <a:off x="1664568" y="3099197"/>
            <a:ext cx="2700933" cy="36968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700"/>
              <a:buFont typeface="Inter"/>
              <a:buNone/>
            </a:pPr>
            <a:r>
              <a:rPr lang="en" sz="700">
                <a:solidFill>
                  <a:srgbClr val="000000"/>
                </a:solidFill>
                <a:latin typeface="Inter"/>
                <a:ea typeface="Inter"/>
                <a:cs typeface="Inter"/>
                <a:sym typeface="Inter"/>
              </a:rPr>
              <a:t>Designed for tier-2 and tier-3 Indian cities — making adaptive signal control accessible and affordable where it is needed most.</a:t>
            </a:r>
            <a:endParaRPr sz="700">
              <a:solidFill>
                <a:schemeClr val="dk1"/>
              </a:solidFill>
              <a:latin typeface="Calibri"/>
              <a:ea typeface="Calibri"/>
              <a:cs typeface="Calibri"/>
              <a:sym typeface="Calibri"/>
            </a:endParaRPr>
          </a:p>
        </p:txBody>
      </p:sp>
      <p:sp>
        <p:nvSpPr>
          <p:cNvPr id="469" name="Google Shape;469;p34"/>
          <p:cNvSpPr/>
          <p:nvPr/>
        </p:nvSpPr>
        <p:spPr>
          <a:xfrm>
            <a:off x="1362298" y="3638996"/>
            <a:ext cx="1620069" cy="14533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900"/>
              <a:buFont typeface="Inter"/>
              <a:buNone/>
            </a:pPr>
            <a:r>
              <a:rPr b="1" lang="en" sz="900">
                <a:solidFill>
                  <a:srgbClr val="000000"/>
                </a:solidFill>
                <a:latin typeface="Inter"/>
                <a:ea typeface="Inter"/>
                <a:cs typeface="Inter"/>
                <a:sym typeface="Inter"/>
              </a:rPr>
              <a:t>Future Scope</a:t>
            </a:r>
            <a:endParaRPr sz="900">
              <a:solidFill>
                <a:schemeClr val="dk1"/>
              </a:solidFill>
              <a:latin typeface="Calibri"/>
              <a:ea typeface="Calibri"/>
              <a:cs typeface="Calibri"/>
              <a:sym typeface="Calibri"/>
            </a:endParaRPr>
          </a:p>
        </p:txBody>
      </p:sp>
      <p:sp>
        <p:nvSpPr>
          <p:cNvPr id="470" name="Google Shape;470;p34"/>
          <p:cNvSpPr/>
          <p:nvPr/>
        </p:nvSpPr>
        <p:spPr>
          <a:xfrm>
            <a:off x="1362298" y="3845347"/>
            <a:ext cx="3096220" cy="948035"/>
          </a:xfrm>
          <a:prstGeom prst="rect">
            <a:avLst/>
          </a:prstGeom>
          <a:noFill/>
          <a:ln>
            <a:noFill/>
          </a:ln>
        </p:spPr>
        <p:txBody>
          <a:bodyPr anchorCtr="0" anchor="t" bIns="0" lIns="0" spcFirstLastPara="1" rIns="0" wrap="square" tIns="0">
            <a:noAutofit/>
          </a:bodyPr>
          <a:lstStyle/>
          <a:p>
            <a:pPr indent="-342900" lvl="0" marL="342900" marR="0" rtl="0" algn="l">
              <a:lnSpc>
                <a:spcPct val="110000"/>
              </a:lnSpc>
              <a:spcBef>
                <a:spcPts val="0"/>
              </a:spcBef>
              <a:spcAft>
                <a:spcPts val="0"/>
              </a:spcAft>
              <a:buClr>
                <a:srgbClr val="272525"/>
              </a:buClr>
              <a:buSzPts val="700"/>
              <a:buFont typeface="Inter"/>
              <a:buChar char="•"/>
            </a:pPr>
            <a:r>
              <a:rPr lang="en" sz="700">
                <a:solidFill>
                  <a:srgbClr val="272525"/>
                </a:solidFill>
                <a:latin typeface="Inter"/>
                <a:ea typeface="Inter"/>
                <a:cs typeface="Inter"/>
                <a:sym typeface="Inter"/>
              </a:rPr>
              <a:t>IoT cloud integration (AWS IoT / Google Cloud IoT) for city-wide deployment</a:t>
            </a:r>
            <a:endParaRPr sz="700">
              <a:solidFill>
                <a:schemeClr val="dk1"/>
              </a:solidFill>
              <a:latin typeface="Calibri"/>
              <a:ea typeface="Calibri"/>
              <a:cs typeface="Calibri"/>
              <a:sym typeface="Calibri"/>
            </a:endParaRPr>
          </a:p>
          <a:p>
            <a:pPr indent="-342900" lvl="0" marL="342900" marR="0" rtl="0" algn="l">
              <a:lnSpc>
                <a:spcPct val="110000"/>
              </a:lnSpc>
              <a:spcBef>
                <a:spcPts val="0"/>
              </a:spcBef>
              <a:spcAft>
                <a:spcPts val="0"/>
              </a:spcAft>
              <a:buClr>
                <a:srgbClr val="272525"/>
              </a:buClr>
              <a:buSzPts val="700"/>
              <a:buFont typeface="Inter"/>
              <a:buChar char="•"/>
            </a:pPr>
            <a:r>
              <a:rPr lang="en" sz="700">
                <a:solidFill>
                  <a:srgbClr val="272525"/>
                </a:solidFill>
                <a:latin typeface="Inter"/>
                <a:ea typeface="Inter"/>
                <a:cs typeface="Inter"/>
                <a:sym typeface="Inter"/>
              </a:rPr>
              <a:t>Computer vision via USB camera + OpenCV for vehicle counting and type classification</a:t>
            </a:r>
            <a:endParaRPr sz="700">
              <a:solidFill>
                <a:schemeClr val="dk1"/>
              </a:solidFill>
              <a:latin typeface="Calibri"/>
              <a:ea typeface="Calibri"/>
              <a:cs typeface="Calibri"/>
              <a:sym typeface="Calibri"/>
            </a:endParaRPr>
          </a:p>
          <a:p>
            <a:pPr indent="-342900" lvl="0" marL="342900" marR="0" rtl="0" algn="l">
              <a:lnSpc>
                <a:spcPct val="110000"/>
              </a:lnSpc>
              <a:spcBef>
                <a:spcPts val="0"/>
              </a:spcBef>
              <a:spcAft>
                <a:spcPts val="0"/>
              </a:spcAft>
              <a:buClr>
                <a:srgbClr val="272525"/>
              </a:buClr>
              <a:buSzPts val="700"/>
              <a:buFont typeface="Inter"/>
              <a:buChar char="•"/>
            </a:pPr>
            <a:r>
              <a:rPr lang="en" sz="700">
                <a:solidFill>
                  <a:srgbClr val="272525"/>
                </a:solidFill>
                <a:latin typeface="Inter"/>
                <a:ea typeface="Inter"/>
                <a:cs typeface="Inter"/>
                <a:sym typeface="Inter"/>
              </a:rPr>
              <a:t>Multi-intersection coordination using MQTT mesh networking</a:t>
            </a:r>
            <a:endParaRPr sz="700">
              <a:solidFill>
                <a:schemeClr val="dk1"/>
              </a:solidFill>
              <a:latin typeface="Calibri"/>
              <a:ea typeface="Calibri"/>
              <a:cs typeface="Calibri"/>
              <a:sym typeface="Calibri"/>
            </a:endParaRPr>
          </a:p>
          <a:p>
            <a:pPr indent="-342900" lvl="0" marL="342900" marR="0" rtl="0" algn="l">
              <a:lnSpc>
                <a:spcPct val="110000"/>
              </a:lnSpc>
              <a:spcBef>
                <a:spcPts val="0"/>
              </a:spcBef>
              <a:spcAft>
                <a:spcPts val="0"/>
              </a:spcAft>
              <a:buClr>
                <a:srgbClr val="272525"/>
              </a:buClr>
              <a:buSzPts val="700"/>
              <a:buFont typeface="Inter"/>
              <a:buChar char="•"/>
            </a:pPr>
            <a:r>
              <a:rPr lang="en" sz="700">
                <a:solidFill>
                  <a:srgbClr val="272525"/>
                </a:solidFill>
                <a:latin typeface="Inter"/>
                <a:ea typeface="Inter"/>
                <a:cs typeface="Inter"/>
                <a:sym typeface="Inter"/>
              </a:rPr>
              <a:t>Weather and time-of-day factors added to the heuristic rule set</a:t>
            </a:r>
            <a:endParaRPr sz="700">
              <a:solidFill>
                <a:schemeClr val="dk1"/>
              </a:solidFill>
              <a:latin typeface="Calibri"/>
              <a:ea typeface="Calibri"/>
              <a:cs typeface="Calibri"/>
              <a:sym typeface="Calibri"/>
            </a:endParaRPr>
          </a:p>
          <a:p>
            <a:pPr indent="-342900" lvl="0" marL="342900" marR="0" rtl="0" algn="l">
              <a:lnSpc>
                <a:spcPct val="110000"/>
              </a:lnSpc>
              <a:spcBef>
                <a:spcPts val="0"/>
              </a:spcBef>
              <a:spcAft>
                <a:spcPts val="0"/>
              </a:spcAft>
              <a:buClr>
                <a:srgbClr val="272525"/>
              </a:buClr>
              <a:buSzPts val="700"/>
              <a:buFont typeface="Inter"/>
              <a:buChar char="•"/>
            </a:pPr>
            <a:r>
              <a:rPr lang="en" sz="700">
                <a:solidFill>
                  <a:srgbClr val="272525"/>
                </a:solidFill>
                <a:latin typeface="Inter"/>
                <a:ea typeface="Inter"/>
                <a:cs typeface="Inter"/>
                <a:sym typeface="Inter"/>
              </a:rPr>
              <a:t>Research paper publication based on SUMO simulation results</a:t>
            </a:r>
            <a:endParaRPr sz="700">
              <a:solidFill>
                <a:schemeClr val="dk1"/>
              </a:solidFill>
              <a:latin typeface="Calibri"/>
              <a:ea typeface="Calibri"/>
              <a:cs typeface="Calibri"/>
              <a:sym typeface="Calibri"/>
            </a:endParaRPr>
          </a:p>
        </p:txBody>
      </p:sp>
      <p:sp>
        <p:nvSpPr>
          <p:cNvPr id="471" name="Google Shape;471;p34"/>
          <p:cNvSpPr/>
          <p:nvPr/>
        </p:nvSpPr>
        <p:spPr>
          <a:xfrm>
            <a:off x="4690244" y="950788"/>
            <a:ext cx="1620069" cy="14533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900"/>
              <a:buFont typeface="Inter"/>
              <a:buNone/>
            </a:pPr>
            <a:r>
              <a:rPr b="1" lang="en" sz="900">
                <a:solidFill>
                  <a:srgbClr val="000000"/>
                </a:solidFill>
                <a:latin typeface="Inter"/>
                <a:ea typeface="Inter"/>
                <a:cs typeface="Inter"/>
                <a:sym typeface="Inter"/>
              </a:rPr>
              <a:t>References</a:t>
            </a:r>
            <a:endParaRPr sz="900">
              <a:solidFill>
                <a:schemeClr val="dk1"/>
              </a:solidFill>
              <a:latin typeface="Calibri"/>
              <a:ea typeface="Calibri"/>
              <a:cs typeface="Calibri"/>
              <a:sym typeface="Calibri"/>
            </a:endParaRPr>
          </a:p>
        </p:txBody>
      </p:sp>
      <p:sp>
        <p:nvSpPr>
          <p:cNvPr id="472" name="Google Shape;472;p34"/>
          <p:cNvSpPr/>
          <p:nvPr/>
        </p:nvSpPr>
        <p:spPr>
          <a:xfrm>
            <a:off x="4680719" y="1155278"/>
            <a:ext cx="19050" cy="265509"/>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4"/>
          <p:cNvSpPr/>
          <p:nvPr/>
        </p:nvSpPr>
        <p:spPr>
          <a:xfrm>
            <a:off x="4802312" y="1164803"/>
            <a:ext cx="2984153" cy="24645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b="1" lang="en" sz="700">
                <a:solidFill>
                  <a:srgbClr val="272525"/>
                </a:solidFill>
                <a:latin typeface="Inter"/>
                <a:ea typeface="Inter"/>
                <a:cs typeface="Inter"/>
                <a:sym typeface="Inter"/>
              </a:rPr>
              <a:t>[1]</a:t>
            </a:r>
            <a:r>
              <a:rPr lang="en" sz="700">
                <a:solidFill>
                  <a:srgbClr val="272525"/>
                </a:solidFill>
                <a:latin typeface="Inter"/>
                <a:ea typeface="Inter"/>
                <a:cs typeface="Inter"/>
                <a:sym typeface="Inter"/>
              </a:rPr>
              <a:t> Robertson, D.I. (1979). "SCOOT — A Traffic Responsive Method of Coordinating Signals." TRRL Lab Report 1014, UK.</a:t>
            </a:r>
            <a:endParaRPr sz="700">
              <a:solidFill>
                <a:schemeClr val="dk1"/>
              </a:solidFill>
              <a:latin typeface="Calibri"/>
              <a:ea typeface="Calibri"/>
              <a:cs typeface="Calibri"/>
              <a:sym typeface="Calibri"/>
            </a:endParaRPr>
          </a:p>
        </p:txBody>
      </p:sp>
      <p:sp>
        <p:nvSpPr>
          <p:cNvPr id="474" name="Google Shape;474;p34"/>
          <p:cNvSpPr/>
          <p:nvPr/>
        </p:nvSpPr>
        <p:spPr>
          <a:xfrm>
            <a:off x="4680719" y="1523777"/>
            <a:ext cx="19050" cy="265509"/>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4"/>
          <p:cNvSpPr/>
          <p:nvPr/>
        </p:nvSpPr>
        <p:spPr>
          <a:xfrm>
            <a:off x="4802312" y="1533302"/>
            <a:ext cx="2984153" cy="24645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b="1" lang="en" sz="700">
                <a:solidFill>
                  <a:srgbClr val="272525"/>
                </a:solidFill>
                <a:latin typeface="Inter"/>
                <a:ea typeface="Inter"/>
                <a:cs typeface="Inter"/>
                <a:sym typeface="Inter"/>
              </a:rPr>
              <a:t>[2]</a:t>
            </a:r>
            <a:r>
              <a:rPr lang="en" sz="700">
                <a:solidFill>
                  <a:srgbClr val="272525"/>
                </a:solidFill>
                <a:latin typeface="Inter"/>
                <a:ea typeface="Inter"/>
                <a:cs typeface="Inter"/>
                <a:sym typeface="Inter"/>
              </a:rPr>
              <a:t> Lowrie, P.R. (1982). "SCATS — Sydney Co-ordinated Adaptive Traffic System." Roads and Traffic Authority of NSW, Australia.</a:t>
            </a:r>
            <a:endParaRPr sz="700">
              <a:solidFill>
                <a:schemeClr val="dk1"/>
              </a:solidFill>
              <a:latin typeface="Calibri"/>
              <a:ea typeface="Calibri"/>
              <a:cs typeface="Calibri"/>
              <a:sym typeface="Calibri"/>
            </a:endParaRPr>
          </a:p>
        </p:txBody>
      </p:sp>
      <p:sp>
        <p:nvSpPr>
          <p:cNvPr id="476" name="Google Shape;476;p34"/>
          <p:cNvSpPr/>
          <p:nvPr/>
        </p:nvSpPr>
        <p:spPr>
          <a:xfrm>
            <a:off x="4680719" y="1892275"/>
            <a:ext cx="19050" cy="265509"/>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4"/>
          <p:cNvSpPr/>
          <p:nvPr/>
        </p:nvSpPr>
        <p:spPr>
          <a:xfrm>
            <a:off x="4802312" y="1901800"/>
            <a:ext cx="2984153" cy="24645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b="1" lang="en" sz="700">
                <a:solidFill>
                  <a:srgbClr val="272525"/>
                </a:solidFill>
                <a:latin typeface="Inter"/>
                <a:ea typeface="Inter"/>
                <a:cs typeface="Inter"/>
                <a:sym typeface="Inter"/>
              </a:rPr>
              <a:t>[3]</a:t>
            </a:r>
            <a:r>
              <a:rPr lang="en" sz="700">
                <a:solidFill>
                  <a:srgbClr val="272525"/>
                </a:solidFill>
                <a:latin typeface="Inter"/>
                <a:ea typeface="Inter"/>
                <a:cs typeface="Inter"/>
                <a:sym typeface="Inter"/>
              </a:rPr>
              <a:t> Wikipedia. "Split Cycle Offset Optimisation Technique (SCOOT)." en.wikipedia.org</a:t>
            </a:r>
            <a:endParaRPr sz="700">
              <a:solidFill>
                <a:schemeClr val="dk1"/>
              </a:solidFill>
              <a:latin typeface="Calibri"/>
              <a:ea typeface="Calibri"/>
              <a:cs typeface="Calibri"/>
              <a:sym typeface="Calibri"/>
            </a:endParaRPr>
          </a:p>
        </p:txBody>
      </p:sp>
      <p:sp>
        <p:nvSpPr>
          <p:cNvPr id="478" name="Google Shape;478;p34"/>
          <p:cNvSpPr/>
          <p:nvPr/>
        </p:nvSpPr>
        <p:spPr>
          <a:xfrm>
            <a:off x="4680719" y="2260774"/>
            <a:ext cx="19050" cy="265509"/>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4"/>
          <p:cNvSpPr/>
          <p:nvPr/>
        </p:nvSpPr>
        <p:spPr>
          <a:xfrm>
            <a:off x="4802312" y="2270299"/>
            <a:ext cx="2984153" cy="24645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b="1" lang="en" sz="700">
                <a:solidFill>
                  <a:srgbClr val="272525"/>
                </a:solidFill>
                <a:latin typeface="Inter"/>
                <a:ea typeface="Inter"/>
                <a:cs typeface="Inter"/>
                <a:sym typeface="Inter"/>
              </a:rPr>
              <a:t>[4]</a:t>
            </a:r>
            <a:r>
              <a:rPr lang="en" sz="700">
                <a:solidFill>
                  <a:srgbClr val="272525"/>
                </a:solidFill>
                <a:latin typeface="Inter"/>
                <a:ea typeface="Inter"/>
                <a:cs typeface="Inter"/>
                <a:sym typeface="Inter"/>
              </a:rPr>
              <a:t> Wikipedia. "Sydney Coordinated Adaptive Traffic System (SCATS)." en.wikipedia.org</a:t>
            </a:r>
            <a:endParaRPr sz="700">
              <a:solidFill>
                <a:schemeClr val="dk1"/>
              </a:solidFill>
              <a:latin typeface="Calibri"/>
              <a:ea typeface="Calibri"/>
              <a:cs typeface="Calibri"/>
              <a:sym typeface="Calibri"/>
            </a:endParaRPr>
          </a:p>
        </p:txBody>
      </p:sp>
      <p:sp>
        <p:nvSpPr>
          <p:cNvPr id="480" name="Google Shape;480;p34"/>
          <p:cNvSpPr/>
          <p:nvPr/>
        </p:nvSpPr>
        <p:spPr>
          <a:xfrm>
            <a:off x="4680719" y="2629272"/>
            <a:ext cx="19050" cy="265509"/>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4"/>
          <p:cNvSpPr/>
          <p:nvPr/>
        </p:nvSpPr>
        <p:spPr>
          <a:xfrm>
            <a:off x="4802312" y="2638797"/>
            <a:ext cx="2984153" cy="24645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b="1" lang="en" sz="700">
                <a:solidFill>
                  <a:srgbClr val="272525"/>
                </a:solidFill>
                <a:latin typeface="Inter"/>
                <a:ea typeface="Inter"/>
                <a:cs typeface="Inter"/>
                <a:sym typeface="Inter"/>
              </a:rPr>
              <a:t>[5]</a:t>
            </a:r>
            <a:r>
              <a:rPr lang="en" sz="700">
                <a:solidFill>
                  <a:srgbClr val="272525"/>
                </a:solidFill>
                <a:latin typeface="Inter"/>
                <a:ea typeface="Inter"/>
                <a:cs typeface="Inter"/>
                <a:sym typeface="Inter"/>
              </a:rPr>
              <a:t> McCann, B. "A Review of SCATS Operation and Deployment in Dublin." JCT Consultancy, 2014.</a:t>
            </a:r>
            <a:endParaRPr sz="700">
              <a:solidFill>
                <a:schemeClr val="dk1"/>
              </a:solidFill>
              <a:latin typeface="Calibri"/>
              <a:ea typeface="Calibri"/>
              <a:cs typeface="Calibri"/>
              <a:sym typeface="Calibri"/>
            </a:endParaRPr>
          </a:p>
        </p:txBody>
      </p:sp>
      <p:sp>
        <p:nvSpPr>
          <p:cNvPr id="482" name="Google Shape;482;p34"/>
          <p:cNvSpPr/>
          <p:nvPr/>
        </p:nvSpPr>
        <p:spPr>
          <a:xfrm>
            <a:off x="4680719" y="2997771"/>
            <a:ext cx="19050" cy="265509"/>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4"/>
          <p:cNvSpPr/>
          <p:nvPr/>
        </p:nvSpPr>
        <p:spPr>
          <a:xfrm>
            <a:off x="4802312" y="3007296"/>
            <a:ext cx="2984153" cy="24645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b="1" lang="en" sz="700">
                <a:solidFill>
                  <a:srgbClr val="272525"/>
                </a:solidFill>
                <a:latin typeface="Inter"/>
                <a:ea typeface="Inter"/>
                <a:cs typeface="Inter"/>
                <a:sym typeface="Inter"/>
              </a:rPr>
              <a:t>[6]</a:t>
            </a:r>
            <a:r>
              <a:rPr lang="en" sz="700">
                <a:solidFill>
                  <a:srgbClr val="272525"/>
                </a:solidFill>
                <a:latin typeface="Inter"/>
                <a:ea typeface="Inter"/>
                <a:cs typeface="Inter"/>
                <a:sym typeface="Inter"/>
              </a:rPr>
              <a:t> SUMO Documentation. "Simulation of Urban MObility." sumo.dlr.de/docs/</a:t>
            </a:r>
            <a:endParaRPr sz="700">
              <a:solidFill>
                <a:schemeClr val="dk1"/>
              </a:solidFill>
              <a:latin typeface="Calibri"/>
              <a:ea typeface="Calibri"/>
              <a:cs typeface="Calibri"/>
              <a:sym typeface="Calibri"/>
            </a:endParaRPr>
          </a:p>
        </p:txBody>
      </p:sp>
      <p:sp>
        <p:nvSpPr>
          <p:cNvPr id="484" name="Google Shape;484;p34"/>
          <p:cNvSpPr/>
          <p:nvPr/>
        </p:nvSpPr>
        <p:spPr>
          <a:xfrm>
            <a:off x="4680719" y="3366269"/>
            <a:ext cx="19050" cy="265509"/>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4"/>
          <p:cNvSpPr/>
          <p:nvPr/>
        </p:nvSpPr>
        <p:spPr>
          <a:xfrm>
            <a:off x="4802312" y="3375794"/>
            <a:ext cx="2984153" cy="24645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b="1" lang="en" sz="700">
                <a:solidFill>
                  <a:srgbClr val="272525"/>
                </a:solidFill>
                <a:latin typeface="Inter"/>
                <a:ea typeface="Inter"/>
                <a:cs typeface="Inter"/>
                <a:sym typeface="Inter"/>
              </a:rPr>
              <a:t>[7]</a:t>
            </a:r>
            <a:r>
              <a:rPr lang="en" sz="700">
                <a:solidFill>
                  <a:srgbClr val="272525"/>
                </a:solidFill>
                <a:latin typeface="Inter"/>
                <a:ea typeface="Inter"/>
                <a:cs typeface="Inter"/>
                <a:sym typeface="Inter"/>
              </a:rPr>
              <a:t> FHWA. "Adaptive Signal Control Technology (ASCT)." US DOT, 2017.</a:t>
            </a:r>
            <a:endParaRPr sz="700">
              <a:solidFill>
                <a:schemeClr val="dk1"/>
              </a:solidFill>
              <a:latin typeface="Calibri"/>
              <a:ea typeface="Calibri"/>
              <a:cs typeface="Calibri"/>
              <a:sym typeface="Calibri"/>
            </a:endParaRPr>
          </a:p>
        </p:txBody>
      </p:sp>
      <p:sp>
        <p:nvSpPr>
          <p:cNvPr id="486" name="Google Shape;486;p34"/>
          <p:cNvSpPr/>
          <p:nvPr/>
        </p:nvSpPr>
        <p:spPr>
          <a:xfrm>
            <a:off x="4680719" y="3734767"/>
            <a:ext cx="19050" cy="265509"/>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4"/>
          <p:cNvSpPr/>
          <p:nvPr/>
        </p:nvSpPr>
        <p:spPr>
          <a:xfrm>
            <a:off x="4802312" y="3744292"/>
            <a:ext cx="2984153" cy="24645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b="1" lang="en" sz="700">
                <a:solidFill>
                  <a:srgbClr val="272525"/>
                </a:solidFill>
                <a:latin typeface="Inter"/>
                <a:ea typeface="Inter"/>
                <a:cs typeface="Inter"/>
                <a:sym typeface="Inter"/>
              </a:rPr>
              <a:t>[8]</a:t>
            </a:r>
            <a:r>
              <a:rPr lang="en" sz="700">
                <a:solidFill>
                  <a:srgbClr val="272525"/>
                </a:solidFill>
                <a:latin typeface="Inter"/>
                <a:ea typeface="Inter"/>
                <a:cs typeface="Inter"/>
                <a:sym typeface="Inter"/>
              </a:rPr>
              <a:t> Stevanovic &amp; Martin (2008). "SCOOT and Coordinated Actuated Control via Microsimulation." Transportation Research Record.</a:t>
            </a:r>
            <a:endParaRPr sz="700">
              <a:solidFill>
                <a:schemeClr val="dk1"/>
              </a:solidFill>
              <a:latin typeface="Calibri"/>
              <a:ea typeface="Calibri"/>
              <a:cs typeface="Calibri"/>
              <a:sym typeface="Calibri"/>
            </a:endParaRPr>
          </a:p>
        </p:txBody>
      </p:sp>
      <p:sp>
        <p:nvSpPr>
          <p:cNvPr id="488" name="Google Shape;488;p34"/>
          <p:cNvSpPr/>
          <p:nvPr/>
        </p:nvSpPr>
        <p:spPr>
          <a:xfrm>
            <a:off x="4680719" y="4103266"/>
            <a:ext cx="19050" cy="265509"/>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4"/>
          <p:cNvSpPr/>
          <p:nvPr/>
        </p:nvSpPr>
        <p:spPr>
          <a:xfrm>
            <a:off x="4802312" y="4112791"/>
            <a:ext cx="2984153" cy="24645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b="1" lang="en" sz="700">
                <a:solidFill>
                  <a:srgbClr val="272525"/>
                </a:solidFill>
                <a:latin typeface="Inter"/>
                <a:ea typeface="Inter"/>
                <a:cs typeface="Inter"/>
                <a:sym typeface="Inter"/>
              </a:rPr>
              <a:t>[9]</a:t>
            </a:r>
            <a:r>
              <a:rPr lang="en" sz="700">
                <a:solidFill>
                  <a:srgbClr val="272525"/>
                </a:solidFill>
                <a:latin typeface="Inter"/>
                <a:ea typeface="Inter"/>
                <a:cs typeface="Inter"/>
                <a:sym typeface="Inter"/>
              </a:rPr>
              <a:t> Raspberry Pi Foundation. "Raspberry Pi 4 Model B Documentation." raspberrypi.com</a:t>
            </a:r>
            <a:endParaRPr sz="700">
              <a:solidFill>
                <a:schemeClr val="dk1"/>
              </a:solidFill>
              <a:latin typeface="Calibri"/>
              <a:ea typeface="Calibri"/>
              <a:cs typeface="Calibri"/>
              <a:sym typeface="Calibri"/>
            </a:endParaRPr>
          </a:p>
        </p:txBody>
      </p:sp>
      <p:sp>
        <p:nvSpPr>
          <p:cNvPr id="490" name="Google Shape;490;p34"/>
          <p:cNvSpPr/>
          <p:nvPr/>
        </p:nvSpPr>
        <p:spPr>
          <a:xfrm>
            <a:off x="4680719" y="4471764"/>
            <a:ext cx="19050" cy="14228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4"/>
          <p:cNvSpPr/>
          <p:nvPr/>
        </p:nvSpPr>
        <p:spPr>
          <a:xfrm>
            <a:off x="4802312" y="4481289"/>
            <a:ext cx="2984153" cy="1232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72525"/>
              </a:buClr>
              <a:buSzPts val="700"/>
              <a:buFont typeface="Inter"/>
              <a:buNone/>
            </a:pPr>
            <a:r>
              <a:rPr b="1" lang="en" sz="700">
                <a:solidFill>
                  <a:srgbClr val="272525"/>
                </a:solidFill>
                <a:latin typeface="Inter"/>
                <a:ea typeface="Inter"/>
                <a:cs typeface="Inter"/>
                <a:sym typeface="Inter"/>
              </a:rPr>
              <a:t>[10]</a:t>
            </a:r>
            <a:r>
              <a:rPr lang="en" sz="700">
                <a:solidFill>
                  <a:srgbClr val="272525"/>
                </a:solidFill>
                <a:latin typeface="Inter"/>
                <a:ea typeface="Inter"/>
                <a:cs typeface="Inter"/>
                <a:sym typeface="Inter"/>
              </a:rPr>
              <a:t> Arduino. "Arduino Mega 2560 Reference." docs.arduino.cc</a:t>
            </a:r>
            <a:endParaRPr sz="700">
              <a:solidFill>
                <a:schemeClr val="dk1"/>
              </a:solidFill>
              <a:latin typeface="Calibri"/>
              <a:ea typeface="Calibri"/>
              <a:cs typeface="Calibri"/>
              <a:sym typeface="Calibri"/>
            </a:endParaRPr>
          </a:p>
        </p:txBody>
      </p:sp>
      <p:pic>
        <p:nvPicPr>
          <p:cNvPr id="492" name="Google Shape;492;p34"/>
          <p:cNvPicPr preferRelativeResize="0"/>
          <p:nvPr/>
        </p:nvPicPr>
        <p:blipFill rotWithShape="1">
          <a:blip r:embed="rId4">
            <a:alphaModFix/>
          </a:blip>
          <a:srcRect b="0" l="0" r="0" t="0"/>
          <a:stretch/>
        </p:blipFill>
        <p:spPr>
          <a:xfrm>
            <a:off x="5866943" y="4708708"/>
            <a:ext cx="3277057" cy="42868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descr="Black Thank You PNG Transparent Images Free Download | Vector Files |  Pngtree" id="497" name="Google Shape;497;p35"/>
          <p:cNvPicPr preferRelativeResize="0"/>
          <p:nvPr/>
        </p:nvPicPr>
        <p:blipFill rotWithShape="1">
          <a:blip r:embed="rId3">
            <a:alphaModFix/>
          </a:blip>
          <a:srcRect b="0" l="0" r="0" t="0"/>
          <a:stretch/>
        </p:blipFill>
        <p:spPr>
          <a:xfrm>
            <a:off x="2643846" y="642717"/>
            <a:ext cx="3856308" cy="3856308"/>
          </a:xfrm>
          <a:prstGeom prst="rect">
            <a:avLst/>
          </a:prstGeom>
          <a:noFill/>
          <a:ln>
            <a:noFill/>
          </a:ln>
        </p:spPr>
      </p:pic>
      <p:pic>
        <p:nvPicPr>
          <p:cNvPr id="498" name="Google Shape;498;p35"/>
          <p:cNvPicPr preferRelativeResize="0"/>
          <p:nvPr/>
        </p:nvPicPr>
        <p:blipFill rotWithShape="1">
          <a:blip r:embed="rId4">
            <a:alphaModFix/>
          </a:blip>
          <a:srcRect b="0" l="0" r="0" t="0"/>
          <a:stretch/>
        </p:blipFill>
        <p:spPr>
          <a:xfrm>
            <a:off x="4276046" y="4693569"/>
            <a:ext cx="4867954" cy="41915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